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3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mIoU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9-425F-9E88-4A1F9B0E259C}"/>
              </c:ext>
            </c:extLst>
          </c:dPt>
          <c:dPt>
            <c:idx val="1"/>
            <c:invertIfNegative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9-425F-9E88-4A1F9B0E259C}"/>
              </c:ext>
            </c:extLst>
          </c:dPt>
          <c:dPt>
            <c:idx val="2"/>
            <c:invertIfNegative val="0"/>
            <c:bubble3D val="0"/>
            <c:spPr>
              <a:solidFill>
                <a:srgbClr val="C930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9-425F-9E88-4A1F9B0E259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论文 linear probe</c:v>
                </c:pt>
                <c:pt idx="1">
                  <c:v>Single-layer</c:v>
                </c:pt>
                <c:pt idx="2">
                  <c:v>Multi-layer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39.200000000000003</c:v>
                </c:pt>
                <c:pt idx="1">
                  <c:v>45.78</c:v>
                </c:pt>
                <c:pt idx="2">
                  <c:v>46.32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B9-425F-9E88-4A1F9B0E25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最高 val mIoU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Single-layer</c:v>
                </c:pt>
                <c:pt idx="1">
                  <c:v>Multi-layer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47.15</c:v>
                </c:pt>
                <c:pt idx="1">
                  <c:v>49.34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0A-43E9-9447-B63F3F5118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epoch 100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Single-layer</c:v>
                </c:pt>
                <c:pt idx="1">
                  <c:v>Multi-layer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44.16</c:v>
                </c:pt>
                <c:pt idx="1">
                  <c:v>42.54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0A-43E9-9447-B63F3F5118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96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475488"/>
            <a:ext cx="0" cy="4005072"/>
          </a:xfrm>
          <a:prstGeom prst="line">
            <a:avLst/>
          </a:prstGeom>
          <a:noFill/>
          <a:ln w="6350">
            <a:solidFill>
              <a:srgbClr val="D1D5DB">
                <a:alpha val="8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16168" y="475488"/>
            <a:ext cx="0" cy="4005072"/>
          </a:xfrm>
          <a:prstGeom prst="line">
            <a:avLst/>
          </a:prstGeom>
          <a:noFill/>
          <a:ln w="6350">
            <a:solidFill>
              <a:srgbClr val="D1D5DB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0216" y="475488"/>
            <a:ext cx="0" cy="4005072"/>
          </a:xfrm>
          <a:prstGeom prst="line">
            <a:avLst/>
          </a:prstGeom>
          <a:noFill/>
          <a:ln w="6350">
            <a:solidFill>
              <a:srgbClr val="D1D5DB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84264" y="475488"/>
            <a:ext cx="0" cy="4005072"/>
          </a:xfrm>
          <a:prstGeom prst="line">
            <a:avLst/>
          </a:prstGeom>
          <a:noFill/>
          <a:ln w="6350">
            <a:solidFill>
              <a:srgbClr val="D1D5DB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8312" y="475488"/>
            <a:ext cx="0" cy="4005072"/>
          </a:xfrm>
          <a:prstGeom prst="line">
            <a:avLst/>
          </a:prstGeom>
          <a:noFill/>
          <a:ln w="6350">
            <a:solidFill>
              <a:srgbClr val="D1D5DB">
                <a:alpha val="8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75488"/>
            <a:ext cx="0" cy="4005072"/>
          </a:xfrm>
          <a:prstGeom prst="line">
            <a:avLst/>
          </a:prstGeom>
          <a:noFill/>
          <a:ln w="6350">
            <a:solidFill>
              <a:srgbClr val="D1D5DB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36408" y="475488"/>
            <a:ext cx="0" cy="4005072"/>
          </a:xfrm>
          <a:prstGeom prst="line">
            <a:avLst/>
          </a:prstGeom>
          <a:noFill/>
          <a:ln w="6350">
            <a:solidFill>
              <a:srgbClr val="D1D5DB">
                <a:alpha val="8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2084832"/>
            <a:ext cx="768096" cy="768096"/>
          </a:xfrm>
          <a:prstGeom prst="ellipse">
            <a:avLst/>
          </a:prstGeom>
          <a:solidFill>
            <a:srgbClr val="0B2545">
              <a:alpha val="0"/>
            </a:srgbClr>
          </a:solidFill>
          <a:ln w="11430">
            <a:solidFill>
              <a:srgbClr val="0B2545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1773936"/>
            <a:ext cx="1389888" cy="1389888"/>
          </a:xfrm>
          <a:prstGeom prst="ellipse">
            <a:avLst/>
          </a:prstGeom>
          <a:solidFill>
            <a:srgbClr val="0B2545">
              <a:alpha val="0"/>
            </a:srgbClr>
          </a:solidFill>
          <a:ln w="11430">
            <a:solidFill>
              <a:srgbClr val="C9302C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71032" y="1444752"/>
            <a:ext cx="2048256" cy="2048256"/>
          </a:xfrm>
          <a:prstGeom prst="ellipse">
            <a:avLst/>
          </a:prstGeom>
          <a:solidFill>
            <a:srgbClr val="0B2545">
              <a:alpha val="0"/>
            </a:srgbClr>
          </a:solidFill>
          <a:ln w="11430">
            <a:solidFill>
              <a:srgbClr val="0B2545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583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kern="0" spc="18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MIDTERM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05840"/>
            <a:ext cx="676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冻结 Galileo 表征上的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作物语义分割解码器研究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868680" cy="548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88950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PASTIS 中期汇报｜固定遥感预训练编码器，比较像素级解码方式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研究问题：表征已有，如何有效读出？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从“跑通模型”转向可检验的 decoder 假设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42111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44368" y="1053084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63980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现实瓶颈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50364"/>
            <a:ext cx="3954780" cy="150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像素级标注昂贵，遥感预训练具有现实价值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token 不能直接等同于分割图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最终层语义强，但局部边界可能不足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1363980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核心假设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732020" y="2150364"/>
            <a:ext cx="3954780" cy="150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冻结表征包含可迁移的作物信息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空间细化 decoder 可改善线性读取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跨层融合可能补充局部细节与深层语义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53712" y="1418844"/>
            <a:ext cx="36576" cy="22524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09060"/>
            <a:ext cx="731520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909060"/>
            <a:ext cx="73152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3945636"/>
            <a:ext cx="6967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RQ1：空间 decoder 是否改善 linear probe？　RQ2：多层特征是否优于最终层？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任务基础：PASTIS 多时相作物语义分割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种作物 + 背景；void 像素不参与训练与评价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42111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44368" y="1053084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92580"/>
            <a:ext cx="1865376" cy="2865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92580"/>
            <a:ext cx="73152" cy="286512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03476"/>
            <a:ext cx="1499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2,433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08732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原始空间 patch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9511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128×128，10 m/px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78608" y="1592580"/>
            <a:ext cx="1865376" cy="2865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592580"/>
            <a:ext cx="73152" cy="286512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07208" y="1903476"/>
            <a:ext cx="1499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2807208" y="2808732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Sentinel-2 波段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07208" y="35951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多光谱时间序列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0016" y="1592580"/>
            <a:ext cx="1865376" cy="2865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1592580"/>
            <a:ext cx="73152" cy="286512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28616" y="1903476"/>
            <a:ext cx="1499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4928616" y="2808732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有效语义类别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28616" y="35951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 + 18 种作物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21424" y="1592580"/>
            <a:ext cx="1865376" cy="2865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21424" y="1592580"/>
            <a:ext cx="73152" cy="286512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50024" y="1903476"/>
            <a:ext cx="1499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7050024" y="2808732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官方 folds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050024" y="359511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当前使用 1/2/3 → 4 → 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[PASTIS21]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理论依据：四篇论文构成研究链条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4796"/>
          <a:ext cx="8229600" cy="1554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文献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关键结论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对本项目的作用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PASTIS / U-TAE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多时相显著优于单时相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定义任务与时间建模需求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Contrast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遥感域内 SSL 更适合迁移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支持预训练表征路线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全局 + 局部目标学习遥感表征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提供冻结多层 token 特征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DPT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多层 token 重组并渐进融合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指导 decoder 与跨层实验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744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文献给出研究动机；本项目仍需通过受控实验检验具体假设。</a:t>
            </a:r>
            <a:endParaRPr lang="en-US" sz="900" dirty="0"/>
          </a:p>
        </p:txBody>
      </p:sp>
      <p:sp>
        <p:nvSpPr>
          <p:cNvPr id="3" name="Shape 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[PASTIS21] [SeCo21] [Galileo25] [DPT21]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总体技术路线：固定 encoder，只比较 decoder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共享输入与缓存，避免把协议变化误认为结构收益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91996"/>
            <a:ext cx="8229600" cy="63855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91996"/>
            <a:ext cx="73152" cy="6385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383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755648" y="15834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PASTIS 输入</a:t>
            </a:r>
            <a:endParaRPr lang="en-US" sz="1140" dirty="0"/>
          </a:p>
        </p:txBody>
      </p:sp>
      <p:sp>
        <p:nvSpPr>
          <p:cNvPr id="8" name="Text 6"/>
          <p:cNvSpPr txBox="1"/>
          <p:nvPr/>
        </p:nvSpPr>
        <p:spPr>
          <a:xfrm>
            <a:off x="3950208" y="1601724"/>
            <a:ext cx="45902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月 × 10 波段 × 64×64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8229600" cy="63855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76856"/>
            <a:ext cx="73152" cy="63855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4231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755648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冻结 Galileo</a:t>
            </a:r>
            <a:endParaRPr lang="en-US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2386584"/>
            <a:ext cx="45902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ViT-Base；patch size 4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7200" y="3061716"/>
            <a:ext cx="8229600" cy="63855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61716"/>
            <a:ext cx="73152" cy="6385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2080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755648" y="31531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共享缓存</a:t>
            </a:r>
            <a:endParaRPr lang="en-US" sz="114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3171444"/>
            <a:ext cx="45902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+ layers 3/6/9/12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7200" y="3846576"/>
            <a:ext cx="8229600" cy="63855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46576"/>
            <a:ext cx="73152" cy="63855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9928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755648" y="393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Decoder 对比</a:t>
            </a:r>
            <a:endParaRPr lang="en-US" sz="1140" dirty="0"/>
          </a:p>
        </p:txBody>
      </p:sp>
      <p:sp>
        <p:nvSpPr>
          <p:cNvPr id="23" name="Text 21"/>
          <p:cNvSpPr txBox="1"/>
          <p:nvPr/>
        </p:nvSpPr>
        <p:spPr>
          <a:xfrm>
            <a:off x="3950208" y="3956304"/>
            <a:ext cx="45902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DPT / UPerNet → 19 类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[ProjectProtocol]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输入协议与关键工程修正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从原始不规则时序到 Galileo 可复现空间特征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42111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44368" y="1053084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91996"/>
            <a:ext cx="8229600" cy="63855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91996"/>
            <a:ext cx="73152" cy="6385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6383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T×10×128²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15834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 PASTIS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1601724"/>
            <a:ext cx="45902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保留原生 10 波段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276856"/>
            <a:ext cx="8229600" cy="63855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76856"/>
            <a:ext cx="73152" cy="63855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4231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12×10×128²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月度聚合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386584"/>
            <a:ext cx="45902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2018-10 至 2019-09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3061716"/>
            <a:ext cx="8229600" cy="63855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1716"/>
            <a:ext cx="73152" cy="6385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2080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12×10×64²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31531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空间切块</a:t>
            </a:r>
            <a:endParaRPr lang="en-US" sz="114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171444"/>
            <a:ext cx="45902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patch 生成 4 个 tile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846576"/>
            <a:ext cx="8229600" cy="63855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46576"/>
            <a:ext cx="73152" cy="63855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9928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768×16²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55648" y="393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结构化 token 聚合</a:t>
            </a:r>
            <a:endParaRPr lang="en-US" sz="1140" dirty="0"/>
          </a:p>
        </p:txBody>
      </p:sp>
      <p:sp>
        <p:nvSpPr>
          <p:cNvPr id="25" name="Text 23"/>
          <p:cNvSpPr txBox="1"/>
          <p:nvPr/>
        </p:nvSpPr>
        <p:spPr>
          <a:xfrm>
            <a:off x="3950208" y="3956304"/>
            <a:ext cx="45902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H/W/T/group 恢复空间网格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[Galileo25] [ProjectProtocol]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三条 decoder 路线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4796"/>
          <a:ext cx="8229600" cy="1243584"/>
        </p:xfrm>
        <a:graphic>
          <a:graphicData uri="http://schemas.openxmlformats.org/drawingml/2006/table">
            <a:tbl>
              <a:tblPr/>
              <a:tblGrid>
                <a:gridCol w="1991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5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路线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Galileo 特征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核心问题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状态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Single-layer DPT-style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最终层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最终语义特征能否被有效读出？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Multi-layer DPT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6 / 9 / 12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跨层信息是否互补？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首轮完成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UPerNet-style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6 / 9 / 12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PPM + FPN 是否更适合融合？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b="1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已实现，待训练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8635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所有路线读取同一批 Galileo 共享缓存。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[DPT21] [ProjectProtocol]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2024"/>
            <a:ext cx="50292" cy="49530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3736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实验设置：公平比较与本地可复现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23900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54990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1650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共同训练设置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9972"/>
          <a:ext cx="4005072" cy="1536192"/>
        </p:xfrm>
        <a:graphic>
          <a:graphicData uri="http://schemas.openxmlformats.org/drawingml/2006/table">
            <a:tbl>
              <a:tblPr/>
              <a:tblGrid>
                <a:gridCol w="2002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项目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设置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 ViT-Base，完全冻结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+ 0.5 × Dice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Prodigy，lr=1，wd=0.1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Seed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最低 val loss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681728" y="101650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资源与模型规模</a:t>
            </a:r>
            <a:endParaRPr lang="en-US" sz="10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1299972"/>
          <a:ext cx="4005072" cy="1024128"/>
        </p:xfrm>
        <a:graphic>
          <a:graphicData uri="http://schemas.openxmlformats.org/drawingml/2006/table">
            <a:tbl>
              <a:tblPr/>
              <a:tblGrid>
                <a:gridCol w="1335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项目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Single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Multi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可训练参数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训练耗时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 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 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峰值显存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698 MiB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 MiB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37540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66928" y="445770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多层模型参数量约为单层的 1.84 倍；当前结构比较仍混入容量差异。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[Run2026]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阶段结果：方案有效，但绝对性能仍不高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Fold5 test mIoU；论文 39.2% 为 linear probe 参考，不是同容量比较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42111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44368" y="1053084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2268"/>
            <a:ext cx="5971032" cy="315772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21792" y="1510284"/>
          <a:ext cx="5641848" cy="2901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720840" y="1382268"/>
            <a:ext cx="1965960" cy="955040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20840" y="1382268"/>
            <a:ext cx="50292" cy="955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67144" y="148285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6.58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67144" y="1857756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 · Single vs 论文参考</a:t>
            </a:r>
            <a:endParaRPr lang="en-US" sz="820" dirty="0"/>
          </a:p>
        </p:txBody>
      </p:sp>
      <p:sp>
        <p:nvSpPr>
          <p:cNvPr id="12" name="Text 9"/>
          <p:cNvSpPr txBox="1"/>
          <p:nvPr/>
        </p:nvSpPr>
        <p:spPr>
          <a:xfrm>
            <a:off x="6867144" y="2168652"/>
            <a:ext cx="1673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完整下游方案差异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6720840" y="2483612"/>
            <a:ext cx="1965960" cy="955040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0840" y="2483612"/>
            <a:ext cx="50292" cy="95504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67144" y="25841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67144" y="295910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 · Multi vs Single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6867144" y="3269996"/>
            <a:ext cx="1673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 seed 的微弱正向信号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6720840" y="3584956"/>
            <a:ext cx="1965960" cy="955040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20840" y="3584956"/>
            <a:ext cx="50292" cy="955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67144" y="368554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46.32%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867144" y="406044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当前最高 test mIoU</a:t>
            </a:r>
            <a:endParaRPr lang="en-US" sz="820" dirty="0"/>
          </a:p>
        </p:txBody>
      </p:sp>
      <p:sp>
        <p:nvSpPr>
          <p:cNvPr id="22" name="Text 19"/>
          <p:cNvSpPr txBox="1"/>
          <p:nvPr/>
        </p:nvSpPr>
        <p:spPr>
          <a:xfrm>
            <a:off x="6867144" y="4371340"/>
            <a:ext cx="1673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仍有明显提升空间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[Galileo25] [PASTIS21] [Run2026]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训练诊断：过拟合与 checkpoint 规则错位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 validation mIoU 与 epoch 100 对比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82268"/>
            <a:ext cx="5971032" cy="315772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21792" y="1510284"/>
          <a:ext cx="5641848" cy="2901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382268"/>
            <a:ext cx="1965960" cy="955040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1382268"/>
            <a:ext cx="50292" cy="955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67144" y="148285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/ 11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67144" y="1857756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最低 val loss epoch</a:t>
            </a:r>
            <a:endParaRPr lang="en-US" sz="820" dirty="0"/>
          </a:p>
        </p:txBody>
      </p:sp>
      <p:sp>
        <p:nvSpPr>
          <p:cNvPr id="10" name="Text 7"/>
          <p:cNvSpPr txBox="1"/>
          <p:nvPr/>
        </p:nvSpPr>
        <p:spPr>
          <a:xfrm>
            <a:off x="6867144" y="2168652"/>
            <a:ext cx="1673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 Multi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6720840" y="2483612"/>
            <a:ext cx="1965960" cy="955040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20840" y="2483612"/>
            <a:ext cx="50292" cy="95504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67144" y="25841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 / 22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67144" y="295910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最高 val mIoU epoch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6867144" y="3269996"/>
            <a:ext cx="1673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与保存规则不一致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6720840" y="3584956"/>
            <a:ext cx="1965960" cy="955040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20840" y="3584956"/>
            <a:ext cx="50292" cy="955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67144" y="368554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−6.80 pp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67144" y="406044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 后期回落</a:t>
            </a:r>
            <a:endParaRPr lang="en-US" sz="820" dirty="0"/>
          </a:p>
        </p:txBody>
      </p:sp>
      <p:sp>
        <p:nvSpPr>
          <p:cNvPr id="20" name="Text 17"/>
          <p:cNvSpPr txBox="1"/>
          <p:nvPr/>
        </p:nvSpPr>
        <p:spPr>
          <a:xfrm>
            <a:off x="6867144" y="4371340"/>
            <a:ext cx="1673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epochs 明显过长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[Run2026]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阶段成果与当前证据边界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3479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已经建立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1180"/>
            <a:ext cx="3954780" cy="183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官方 PASTIS 输入协议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正确 token 空间聚合与共享缓存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 DPT 的完整 train / val / test 链路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UPerNet、TensorBoard 与定性可视化工具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32020" y="103479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尚不能下结论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732020" y="1821180"/>
            <a:ext cx="3954780" cy="183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46.32% 不是高性能结果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仅一个 seed，缺少均值与方差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参数更多，未做容量控制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当前仅同分辨率投影后等权相加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53712" y="1089660"/>
            <a:ext cx="36576" cy="258165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09060"/>
            <a:ext cx="731520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909060"/>
            <a:ext cx="73152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3945636"/>
            <a:ext cx="6967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当前结果不能代表完善 DPT 的上限；中期价值在于建立可信链路与可检验问题。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[Run2026]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希望与老师讨论：课题下一步走多深？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4796"/>
          <a:ext cx="8229600" cy="1243584"/>
        </p:xfrm>
        <a:graphic>
          <a:graphicData uri="http://schemas.openxmlformats.org/drawingml/2006/table">
            <a:tbl>
              <a:tblPr/>
              <a:tblGrid>
                <a:gridCol w="1622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0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2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候选方向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研究问题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价值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风险 / 代价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DPT 机制深化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简单相加是否限制多层收益？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形成明确方法消融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需要系统调参与容量控制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 × Decoder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表征与解码方式是否存在匹配？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形成受控 benchmark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组合过多易变成模型枚举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PASTIS-R 多模态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雷达能否补充 S2 光学？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提升抗云与多模态深度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 54GB；融合链路更复杂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8635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建议先完成公平 decoder 对比，再由老师确定方法深化或多模态扩展。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[PASTISR22] [ProjectPlan]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下一阶段：先做强证据，再扩展研究边界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6281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62812"/>
            <a:ext cx="73152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0911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近期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755648" y="12542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实验规范</a:t>
            </a:r>
            <a:endParaRPr lang="en-US" sz="1140" dirty="0"/>
          </a:p>
        </p:txBody>
      </p:sp>
      <p:sp>
        <p:nvSpPr>
          <p:cNvPr id="7" name="Text 5"/>
          <p:cNvSpPr txBox="1"/>
          <p:nvPr/>
        </p:nvSpPr>
        <p:spPr>
          <a:xfrm>
            <a:off x="3950208" y="127254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mIoU；early stop；≥3 seeds；UPerNet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57200" y="1949196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49196"/>
            <a:ext cx="73152" cy="64008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0955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中期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755648" y="20406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受控矩阵</a:t>
            </a:r>
            <a:endParaRPr lang="en-US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3950208" y="205892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代表性 SSL × DPT / UPerNet；参数匹配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57200" y="273558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35580"/>
            <a:ext cx="73152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8818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进阶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755648" y="28270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研究深化</a:t>
            </a:r>
            <a:endParaRPr lang="en-US" sz="114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284530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学习式 DPT 或 PASTIS-R 的 S1+S2 融合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[ProjectPlan]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参考文献与项目证据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4796"/>
          <a:ext cx="8229600" cy="2487168"/>
        </p:xfrm>
        <a:graphic>
          <a:graphicData uri="http://schemas.openxmlformats.org/drawingml/2006/table">
            <a:tbl>
              <a:tblPr/>
              <a:tblGrid>
                <a:gridCol w="1240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来源</a:t>
                      </a:r>
                      <a:endParaRPr lang="en-US" sz="102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PASTIS21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Garnot &amp; Landrieu, PASTIS / U-TAE, ICCV 2021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SeCo21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Mañas et al., Seasonal Contrast, ICCV 2021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DPT21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Ranftl et al., DPT, ICCV 2021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Galileo25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Tseng et al., Galileo, ICML 2025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PASTISR22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Garnot et al., multimodal crop mapping, ISPRS JPRS 2022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Run2026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阶段成果报告与 TensorBoard 日志，2026-07-11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ProjectProtocol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 与 Decoder Experiments 文档</a:t>
                      </a:r>
                      <a:endParaRPr lang="en-US" sz="8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071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所有结果数字均来自论文公开表格或项目已保存日志。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[PASTIS21] [SeCo21] [DPT21] [Galileo25] [PASTISR22] [Run2026]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全屏显示(16:9)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冻结 Galileo 表征上的作物语义分割解码器研究</dc:title>
  <dc:subject>PASTIS 中期汇报</dc:subject>
  <dc:creator>PptxGenJS</dc:creator>
  <cp:lastModifiedBy>晨宇 叶</cp:lastModifiedBy>
  <cp:revision>1</cp:revision>
  <dcterms:created xsi:type="dcterms:W3CDTF">2026-07-11T12:57:24Z</dcterms:created>
  <dcterms:modified xsi:type="dcterms:W3CDTF">2026-07-11T13:11:47Z</dcterms:modified>
</cp:coreProperties>
</file>