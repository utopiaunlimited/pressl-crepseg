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_projec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_projec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2950" y="1737360"/>
            <a:ext cx="3398520" cy="1504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5400"/>
              </a:lnSpc>
            </a:pPr>
            <a:r>
              <a:rPr lang="zh-CN" sz="42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时间融合与物候先验建模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3714750"/>
            <a:ext cx="1714500" cy="47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51332" y="3964305"/>
            <a:ext cx="28483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从时间读取到物候先验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4380" y="4552950"/>
            <a:ext cx="404167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基于 Galileo 预训练特征的 PASTIS 作物分割</a:t>
            </a:r>
          </a:p>
        </p:txBody>
      </p:sp>
      <p:sp>
        <p:nvSpPr>
          <p:cNvPr id="7" name="Ellipse 7"/>
          <p:cNvSpPr/>
          <p:nvPr/>
        </p:nvSpPr>
        <p:spPr>
          <a:xfrm>
            <a:off x="790575" y="5172075"/>
            <a:ext cx="95250" cy="95250"/>
          </a:xfrm>
          <a:prstGeom prst="ellipse">
            <a:avLst/>
          </a:prstGeom>
          <a:solidFill>
            <a:srgbClr val="A94A5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55142" y="6045518"/>
            <a:ext cx="28844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2026-07-16 | 科研进度汇报 | ZJU</a:t>
            </a:r>
          </a:p>
        </p:txBody>
      </p:sp>
      <p:sp>
        <p:nvSpPr>
          <p:cNvPr id="9" name="Ellipse 9"/>
          <p:cNvSpPr/>
          <p:nvPr/>
        </p:nvSpPr>
        <p:spPr>
          <a:xfrm>
            <a:off x="10896600" y="1657350"/>
            <a:ext cx="114300" cy="114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896600" y="2609850"/>
            <a:ext cx="114300" cy="114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896600" y="3562350"/>
            <a:ext cx="114300" cy="114300"/>
          </a:xfrm>
          <a:prstGeom prst="ellipse">
            <a:avLst/>
          </a:prstGeom>
          <a:solidFill>
            <a:srgbClr val="A94A52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0896600" y="4514850"/>
            <a:ext cx="114300" cy="114300"/>
          </a:xfrm>
          <a:prstGeom prst="ellipse">
            <a:avLst/>
          </a:prstGeom>
          <a:solidFill>
            <a:srgbClr val="A94A52"/>
          </a:solidFill>
          <a:ln>
            <a:noFill/>
          </a:ln>
        </p:spPr>
      </p:sp>
      <p:sp>
        <p:nvSpPr>
          <p:cNvPr id="13" name="Line 13"/>
          <p:cNvSpPr/>
          <p:nvPr/>
        </p:nvSpPr>
        <p:spPr>
          <a:xfrm>
            <a:off x="10953750" y="180975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14288">
            <a:solidFill>
              <a:schemeClr val="accent6"/>
            </a:solidFill>
          </a:ln>
        </p:spPr>
      </p:sp>
      <p:sp>
        <p:nvSpPr>
          <p:cNvPr id="14" name="Line 14"/>
          <p:cNvSpPr/>
          <p:nvPr/>
        </p:nvSpPr>
        <p:spPr>
          <a:xfrm>
            <a:off x="10953750" y="276225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14288">
            <a:solidFill>
              <a:schemeClr val="accent6"/>
            </a:solidFill>
          </a:ln>
        </p:spPr>
      </p:sp>
      <p:sp>
        <p:nvSpPr>
          <p:cNvPr id="15" name="Line 15"/>
          <p:cNvSpPr/>
          <p:nvPr/>
        </p:nvSpPr>
        <p:spPr>
          <a:xfrm>
            <a:off x="10953750" y="371475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14288">
            <a:solidFill>
              <a:srgbClr val="A94A52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0" y="6429375"/>
            <a:ext cx="12192000" cy="428625"/>
          </a:xfrm>
          <a:custGeom>
            <a:avLst/>
            <a:gdLst/>
            <a:ahLst/>
            <a:cxnLst/>
            <a:rect l="l" t="t" r="r" b="b"/>
            <a:pathLst>
              <a:path w="12192000" h="428625">
                <a:moveTo>
                  <a:pt x="0" y="428625"/>
                </a:moveTo>
                <a:lnTo>
                  <a:pt x="0" y="238125"/>
                </a:lnTo>
                <a:cubicBezTo>
                  <a:pt x="1016000" y="111125"/>
                  <a:pt x="2032000" y="95250"/>
                  <a:pt x="3048000" y="190500"/>
                </a:cubicBezTo>
                <a:cubicBezTo>
                  <a:pt x="4064000" y="285750"/>
                  <a:pt x="5080000" y="269875"/>
                  <a:pt x="6096000" y="142875"/>
                </a:cubicBezTo>
                <a:cubicBezTo>
                  <a:pt x="7112000" y="15875"/>
                  <a:pt x="8128000" y="0"/>
                  <a:pt x="9144000" y="95250"/>
                </a:cubicBezTo>
                <a:cubicBezTo>
                  <a:pt x="10160000" y="190500"/>
                  <a:pt x="11176000" y="206375"/>
                  <a:pt x="12192000" y="142875"/>
                </a:cubicBezTo>
                <a:lnTo>
                  <a:pt x="12192000" y="4286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33450" y="2266950"/>
            <a:ext cx="1437475" cy="1733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0" b="1" dirty="0">
                <a:solidFill>
                  <a:schemeClr val="accent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4212" y="3992880"/>
            <a:ext cx="461634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结果补充与问题收敛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3356" y="4853940"/>
            <a:ext cx="46155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从总体 mIoU 进一步观察 19 个类别的差异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7166" y="6363652"/>
            <a:ext cx="26892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dk2"/>
                </a:solidFill>
                <a:latin typeface="Aptos"/>
                <a:ea typeface="Aptos"/>
                <a:cs typeface="Aptos"/>
              </a:rPr>
              <a:t>overall → per class → research question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7784" y="280035"/>
            <a:ext cx="602923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19 类 IoU：三种空间 decoder 对比</a:t>
            </a:r>
          </a:p>
        </p:txBody>
      </p:sp>
      <p:grpSp>
        <p:nvGrpSpPr>
          <p:cNvPr id="184" name="Group 184"/>
          <p:cNvGrpSpPr/>
          <p:nvPr/>
        </p:nvGrpSpPr>
        <p:grpSpPr>
          <a:xfrm>
            <a:off x="571500" y="952500"/>
            <a:ext cx="7524750" cy="4248150"/>
            <a:chOff x="571500" y="952500"/>
            <a:chExt cx="7524750" cy="4248150"/>
          </a:xfrm>
        </p:grpSpPr>
        <p:sp>
          <p:nvSpPr>
            <p:cNvPr id="3" name="Rectangle 3"/>
            <p:cNvSpPr/>
            <p:nvPr/>
          </p:nvSpPr>
          <p:spPr>
            <a:xfrm>
              <a:off x="571500" y="952500"/>
              <a:ext cx="47625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2813" y="1044416"/>
              <a:ext cx="1136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Aptos"/>
                  <a:ea typeface="Aptos"/>
                  <a:cs typeface="Aptos"/>
                </a:rPr>
                <a:t>ID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47750" y="952500"/>
              <a:ext cx="24765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38238" y="1044416"/>
              <a:ext cx="2413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524250" y="952500"/>
              <a:ext cx="15240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345292" y="1044416"/>
              <a:ext cx="6600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Linear Head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048250" y="952500"/>
              <a:ext cx="15240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40323" y="1044416"/>
              <a:ext cx="5890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最终层卷积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572250" y="952500"/>
              <a:ext cx="15240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232508" y="1044416"/>
              <a:ext cx="8208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多层同尺度融合</a:t>
              </a:r>
            </a:p>
          </p:txBody>
        </p:sp>
        <p:grpSp>
          <p:nvGrpSpPr>
            <p:cNvPr id="183" name="Group 183"/>
            <p:cNvGrpSpPr/>
            <p:nvPr/>
          </p:nvGrpSpPr>
          <p:grpSpPr>
            <a:xfrm>
              <a:off x="571500" y="1219200"/>
              <a:ext cx="7524750" cy="3981450"/>
              <a:chOff x="571500" y="1219200"/>
              <a:chExt cx="7524750" cy="3981450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571500" y="1219200"/>
                <a:ext cx="7524750" cy="209550"/>
                <a:chOff x="571500" y="1219200"/>
                <a:chExt cx="7524750" cy="209550"/>
              </a:xfrm>
            </p:grpSpPr>
            <p:sp>
              <p:nvSpPr>
                <p:cNvPr id="13" name="Rectangle 13"/>
                <p:cNvSpPr/>
                <p:nvPr/>
              </p:nvSpPr>
              <p:spPr>
                <a:xfrm>
                  <a:off x="571500" y="1219200"/>
                  <a:ext cx="7524750" cy="2095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77097" y="1281112"/>
                  <a:ext cx="6505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0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138238" y="1281112"/>
                  <a:ext cx="56797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Background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4718209" y="128111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68.92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242209" y="128111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72.42</a:t>
                  </a:r>
                </a:p>
              </p:txBody>
            </p:sp>
            <p:sp>
              <p:nvSpPr>
                <p:cNvPr id="18" name="Rectangle 18"/>
                <p:cNvSpPr/>
                <p:nvPr/>
              </p:nvSpPr>
              <p:spPr>
                <a:xfrm>
                  <a:off x="6572250" y="121920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7752326" y="128111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72.69</a:t>
                  </a:r>
                </a:p>
              </p:txBody>
            </p:sp>
          </p:grpSp>
          <p:grpSp>
            <p:nvGrpSpPr>
              <p:cNvPr id="28" name="Group 28"/>
              <p:cNvGrpSpPr/>
              <p:nvPr/>
            </p:nvGrpSpPr>
            <p:grpSpPr>
              <a:xfrm>
                <a:off x="571500" y="1428750"/>
                <a:ext cx="7524750" cy="209550"/>
                <a:chOff x="571500" y="1428750"/>
                <a:chExt cx="7524750" cy="209550"/>
              </a:xfrm>
            </p:grpSpPr>
            <p:sp>
              <p:nvSpPr>
                <p:cNvPr id="21" name="Rectangle 21"/>
                <p:cNvSpPr/>
                <p:nvPr/>
              </p:nvSpPr>
              <p:spPr>
                <a:xfrm>
                  <a:off x="571500" y="1428750"/>
                  <a:ext cx="7524750" cy="209550"/>
                </a:xfrm>
                <a:prstGeom prst="rect">
                  <a:avLst/>
                </a:prstGeom>
                <a:solidFill>
                  <a:srgbClr val="EDEEEC"/>
                </a:solidFill>
                <a:ln>
                  <a:noFill/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777097" y="1490662"/>
                  <a:ext cx="6505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1138238" y="1490662"/>
                  <a:ext cx="386620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Meadow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718209" y="149066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56.43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6242209" y="149066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60.11</a:t>
                  </a:r>
                </a:p>
              </p:txBody>
            </p:sp>
            <p:sp>
              <p:nvSpPr>
                <p:cNvPr id="26" name="Rectangle 26"/>
                <p:cNvSpPr/>
                <p:nvPr/>
              </p:nvSpPr>
              <p:spPr>
                <a:xfrm>
                  <a:off x="6572250" y="142875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7752326" y="149066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60.49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571500" y="1638300"/>
                <a:ext cx="7524750" cy="209550"/>
                <a:chOff x="571500" y="1638300"/>
                <a:chExt cx="7524750" cy="209550"/>
              </a:xfrm>
            </p:grpSpPr>
            <p:sp>
              <p:nvSpPr>
                <p:cNvPr id="29" name="Rectangle 29"/>
                <p:cNvSpPr/>
                <p:nvPr/>
              </p:nvSpPr>
              <p:spPr>
                <a:xfrm>
                  <a:off x="571500" y="1638300"/>
                  <a:ext cx="7524750" cy="2095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777097" y="1700212"/>
                  <a:ext cx="6505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2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138238" y="1700212"/>
                  <a:ext cx="92163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Soft winter wheat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4718209" y="170021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62.40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242209" y="170021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73.82</a:t>
                  </a:r>
                </a:p>
              </p:txBody>
            </p:sp>
            <p:sp>
              <p:nvSpPr>
                <p:cNvPr id="34" name="Rectangle 34"/>
                <p:cNvSpPr/>
                <p:nvPr/>
              </p:nvSpPr>
              <p:spPr>
                <a:xfrm>
                  <a:off x="6572250" y="163830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7752326" y="170021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75.32</a:t>
                  </a:r>
                </a:p>
              </p:txBody>
            </p:sp>
          </p:grpSp>
          <p:grpSp>
            <p:nvGrpSpPr>
              <p:cNvPr id="44" name="Group 44"/>
              <p:cNvGrpSpPr/>
              <p:nvPr/>
            </p:nvGrpSpPr>
            <p:grpSpPr>
              <a:xfrm>
                <a:off x="571500" y="1847850"/>
                <a:ext cx="7524750" cy="209550"/>
                <a:chOff x="571500" y="1847850"/>
                <a:chExt cx="7524750" cy="209550"/>
              </a:xfrm>
            </p:grpSpPr>
            <p:sp>
              <p:nvSpPr>
                <p:cNvPr id="37" name="Rectangle 37"/>
                <p:cNvSpPr/>
                <p:nvPr/>
              </p:nvSpPr>
              <p:spPr>
                <a:xfrm>
                  <a:off x="571500" y="1847850"/>
                  <a:ext cx="7524750" cy="209550"/>
                </a:xfrm>
                <a:prstGeom prst="rect">
                  <a:avLst/>
                </a:prstGeom>
                <a:solidFill>
                  <a:srgbClr val="EDEEEC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77097" y="1909762"/>
                  <a:ext cx="6505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3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1138238" y="1909762"/>
                  <a:ext cx="23479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Corn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4718209" y="190976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62.35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6242209" y="190976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75.38</a:t>
                  </a:r>
                </a:p>
              </p:txBody>
            </p:sp>
            <p:sp>
              <p:nvSpPr>
                <p:cNvPr id="42" name="Rectangle 42"/>
                <p:cNvSpPr/>
                <p:nvPr/>
              </p:nvSpPr>
              <p:spPr>
                <a:xfrm>
                  <a:off x="6572250" y="184785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7752326" y="190976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75.77</a:t>
                  </a:r>
                </a:p>
              </p:txBody>
            </p:sp>
          </p:grpSp>
          <p:grpSp>
            <p:nvGrpSpPr>
              <p:cNvPr id="53" name="Group 53"/>
              <p:cNvGrpSpPr/>
              <p:nvPr/>
            </p:nvGrpSpPr>
            <p:grpSpPr>
              <a:xfrm>
                <a:off x="571500" y="2057400"/>
                <a:ext cx="7524750" cy="209550"/>
                <a:chOff x="571500" y="2057400"/>
                <a:chExt cx="7524750" cy="209550"/>
              </a:xfrm>
            </p:grpSpPr>
            <p:sp>
              <p:nvSpPr>
                <p:cNvPr id="45" name="Rectangle 45"/>
                <p:cNvSpPr/>
                <p:nvPr/>
              </p:nvSpPr>
              <p:spPr>
                <a:xfrm>
                  <a:off x="571500" y="2057400"/>
                  <a:ext cx="7524750" cy="2095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777097" y="2119312"/>
                  <a:ext cx="6505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4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1138238" y="2119312"/>
                  <a:ext cx="679037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Winter barley</a:t>
                  </a:r>
                </a:p>
              </p:txBody>
            </p:sp>
            <p:sp>
              <p:nvSpPr>
                <p:cNvPr id="48" name="Rectangle 48"/>
                <p:cNvSpPr/>
                <p:nvPr/>
              </p:nvSpPr>
              <p:spPr>
                <a:xfrm>
                  <a:off x="3524250" y="2057400"/>
                  <a:ext cx="1524000" cy="209550"/>
                </a:xfrm>
                <a:prstGeom prst="rect">
                  <a:avLst/>
                </a:prstGeom>
                <a:solidFill>
                  <a:srgbClr val="F5D9DC"/>
                </a:solidFill>
                <a:ln>
                  <a:noFill/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4718209" y="211931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17.29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6242209" y="211931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46.28</a:t>
                  </a:r>
                </a:p>
              </p:txBody>
            </p:sp>
            <p:sp>
              <p:nvSpPr>
                <p:cNvPr id="51" name="Rectangle 51"/>
                <p:cNvSpPr/>
                <p:nvPr/>
              </p:nvSpPr>
              <p:spPr>
                <a:xfrm>
                  <a:off x="6572250" y="205740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7752326" y="211931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50.23</a:t>
                  </a:r>
                </a:p>
              </p:txBody>
            </p:sp>
          </p:grpSp>
          <p:grpSp>
            <p:nvGrpSpPr>
              <p:cNvPr id="62" name="Group 62"/>
              <p:cNvGrpSpPr/>
              <p:nvPr/>
            </p:nvGrpSpPr>
            <p:grpSpPr>
              <a:xfrm>
                <a:off x="571500" y="2266950"/>
                <a:ext cx="7524750" cy="209550"/>
                <a:chOff x="571500" y="2266950"/>
                <a:chExt cx="7524750" cy="209550"/>
              </a:xfrm>
            </p:grpSpPr>
            <p:sp>
              <p:nvSpPr>
                <p:cNvPr id="54" name="Rectangle 54"/>
                <p:cNvSpPr/>
                <p:nvPr/>
              </p:nvSpPr>
              <p:spPr>
                <a:xfrm>
                  <a:off x="571500" y="2266950"/>
                  <a:ext cx="7524750" cy="209550"/>
                </a:xfrm>
                <a:prstGeom prst="rect">
                  <a:avLst/>
                </a:prstGeom>
                <a:solidFill>
                  <a:srgbClr val="EDEEEC"/>
                </a:solidFill>
                <a:ln>
                  <a:noFill/>
                </a:ln>
              </p:spPr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777097" y="2328862"/>
                  <a:ext cx="6505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5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1138238" y="2328862"/>
                  <a:ext cx="815442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Winter rapeseed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4718209" y="232886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69.12</a:t>
                  </a:r>
                </a:p>
              </p:txBody>
            </p:sp>
            <p:sp>
              <p:nvSpPr>
                <p:cNvPr id="58" name="Rectangle 58"/>
                <p:cNvSpPr/>
                <p:nvPr/>
              </p:nvSpPr>
              <p:spPr>
                <a:xfrm>
                  <a:off x="5048250" y="226695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6242209" y="232886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81.39</a:t>
                  </a:r>
                </a:p>
              </p:txBody>
            </p:sp>
            <p:sp>
              <p:nvSpPr>
                <p:cNvPr id="60" name="Rectangle 60"/>
                <p:cNvSpPr/>
                <p:nvPr/>
              </p:nvSpPr>
              <p:spPr>
                <a:xfrm>
                  <a:off x="6572250" y="226695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7752326" y="232886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81.48</a:t>
                  </a:r>
                </a:p>
              </p:txBody>
            </p:sp>
          </p:grpSp>
          <p:grpSp>
            <p:nvGrpSpPr>
              <p:cNvPr id="71" name="Group 71"/>
              <p:cNvGrpSpPr/>
              <p:nvPr/>
            </p:nvGrpSpPr>
            <p:grpSpPr>
              <a:xfrm>
                <a:off x="571500" y="2476500"/>
                <a:ext cx="7524750" cy="209550"/>
                <a:chOff x="571500" y="2476500"/>
                <a:chExt cx="7524750" cy="209550"/>
              </a:xfrm>
            </p:grpSpPr>
            <p:sp>
              <p:nvSpPr>
                <p:cNvPr id="63" name="Rectangle 63"/>
                <p:cNvSpPr/>
                <p:nvPr/>
              </p:nvSpPr>
              <p:spPr>
                <a:xfrm>
                  <a:off x="571500" y="2476500"/>
                  <a:ext cx="7524750" cy="2095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777097" y="2538412"/>
                  <a:ext cx="6505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6</a:t>
                  </a:r>
                </a:p>
              </p:txBody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1138238" y="2538412"/>
                  <a:ext cx="65874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Spring barley</a:t>
                  </a:r>
                </a:p>
              </p:txBody>
            </p:sp>
            <p:sp>
              <p:nvSpPr>
                <p:cNvPr id="66" name="Rectangle 66"/>
                <p:cNvSpPr/>
                <p:nvPr/>
              </p:nvSpPr>
              <p:spPr>
                <a:xfrm>
                  <a:off x="3524250" y="2476500"/>
                  <a:ext cx="1524000" cy="209550"/>
                </a:xfrm>
                <a:prstGeom prst="rect">
                  <a:avLst/>
                </a:prstGeom>
                <a:solidFill>
                  <a:srgbClr val="F5D9DC"/>
                </a:solidFill>
                <a:ln>
                  <a:noFill/>
                </a:ln>
              </p:spPr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4718209" y="253841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13.34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6242209" y="253841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32.31</a:t>
                  </a:r>
                </a:p>
              </p:txBody>
            </p:sp>
            <p:sp>
              <p:nvSpPr>
                <p:cNvPr id="69" name="Rectangle 69"/>
                <p:cNvSpPr/>
                <p:nvPr/>
              </p:nvSpPr>
              <p:spPr>
                <a:xfrm>
                  <a:off x="6572250" y="247650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7752326" y="253841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35.87</a:t>
                  </a:r>
                </a:p>
              </p:txBody>
            </p:sp>
          </p:grpSp>
          <p:grpSp>
            <p:nvGrpSpPr>
              <p:cNvPr id="80" name="Group 80"/>
              <p:cNvGrpSpPr/>
              <p:nvPr/>
            </p:nvGrpSpPr>
            <p:grpSpPr>
              <a:xfrm>
                <a:off x="571500" y="2686050"/>
                <a:ext cx="7524750" cy="209550"/>
                <a:chOff x="571500" y="2686050"/>
                <a:chExt cx="7524750" cy="209550"/>
              </a:xfrm>
            </p:grpSpPr>
            <p:sp>
              <p:nvSpPr>
                <p:cNvPr id="72" name="Rectangle 72"/>
                <p:cNvSpPr/>
                <p:nvPr/>
              </p:nvSpPr>
              <p:spPr>
                <a:xfrm>
                  <a:off x="571500" y="2686050"/>
                  <a:ext cx="7524750" cy="209550"/>
                </a:xfrm>
                <a:prstGeom prst="rect">
                  <a:avLst/>
                </a:prstGeom>
                <a:solidFill>
                  <a:srgbClr val="EDEEEC"/>
                </a:solidFill>
                <a:ln>
                  <a:noFill/>
                </a:ln>
              </p:spPr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777097" y="2747962"/>
                  <a:ext cx="6505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7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1138238" y="2747962"/>
                  <a:ext cx="507365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Sunflower</a:t>
                  </a:r>
                </a:p>
              </p:txBody>
            </p:sp>
            <p:sp>
              <p:nvSpPr>
                <p:cNvPr id="75" name="Rectangle 75"/>
                <p:cNvSpPr/>
                <p:nvPr/>
              </p:nvSpPr>
              <p:spPr>
                <a:xfrm>
                  <a:off x="3524250" y="2686050"/>
                  <a:ext cx="1524000" cy="209550"/>
                </a:xfrm>
                <a:prstGeom prst="rect">
                  <a:avLst/>
                </a:prstGeom>
                <a:solidFill>
                  <a:srgbClr val="F5D9DC"/>
                </a:solidFill>
                <a:ln>
                  <a:noFill/>
                </a:ln>
              </p:spPr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4773740" y="2747962"/>
                  <a:ext cx="231648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9.77</a:t>
                  </a:r>
                </a:p>
              </p:txBody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6242209" y="274796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38.42</a:t>
                  </a:r>
                </a:p>
              </p:txBody>
            </p:sp>
            <p:sp>
              <p:nvSpPr>
                <p:cNvPr id="78" name="Rectangle 78"/>
                <p:cNvSpPr/>
                <p:nvPr/>
              </p:nvSpPr>
              <p:spPr>
                <a:xfrm>
                  <a:off x="6572250" y="268605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7752326" y="274796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41.32</a:t>
                  </a:r>
                </a:p>
              </p:txBody>
            </p:sp>
          </p:grpSp>
          <p:grpSp>
            <p:nvGrpSpPr>
              <p:cNvPr id="88" name="Group 88"/>
              <p:cNvGrpSpPr/>
              <p:nvPr/>
            </p:nvGrpSpPr>
            <p:grpSpPr>
              <a:xfrm>
                <a:off x="571500" y="2895600"/>
                <a:ext cx="7524750" cy="209550"/>
                <a:chOff x="571500" y="2895600"/>
                <a:chExt cx="7524750" cy="209550"/>
              </a:xfrm>
            </p:grpSpPr>
            <p:sp>
              <p:nvSpPr>
                <p:cNvPr id="81" name="Rectangle 81"/>
                <p:cNvSpPr/>
                <p:nvPr/>
              </p:nvSpPr>
              <p:spPr>
                <a:xfrm>
                  <a:off x="571500" y="2895600"/>
                  <a:ext cx="7524750" cy="2095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82" name="TextBox 82"/>
                <p:cNvSpPr txBox="1"/>
                <p:nvPr/>
              </p:nvSpPr>
              <p:spPr>
                <a:xfrm>
                  <a:off x="777097" y="2957512"/>
                  <a:ext cx="6505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8</a:t>
                  </a:r>
                </a:p>
              </p:txBody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1138238" y="2957512"/>
                  <a:ext cx="487045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Grapevine</a:t>
                  </a:r>
                </a:p>
              </p:txBody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4718209" y="295751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43.54</a:t>
                  </a:r>
                </a:p>
              </p:txBody>
            </p:sp>
            <p:sp>
              <p:nvSpPr>
                <p:cNvPr id="85" name="TextBox 85"/>
                <p:cNvSpPr txBox="1"/>
                <p:nvPr/>
              </p:nvSpPr>
              <p:spPr>
                <a:xfrm>
                  <a:off x="6242209" y="295751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51.27</a:t>
                  </a:r>
                </a:p>
              </p:txBody>
            </p:sp>
            <p:sp>
              <p:nvSpPr>
                <p:cNvPr id="86" name="Rectangle 86"/>
                <p:cNvSpPr/>
                <p:nvPr/>
              </p:nvSpPr>
              <p:spPr>
                <a:xfrm>
                  <a:off x="6572250" y="289560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7752326" y="295751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52.90</a:t>
                  </a:r>
                </a:p>
              </p:txBody>
            </p:sp>
          </p:grpSp>
          <p:grpSp>
            <p:nvGrpSpPr>
              <p:cNvPr id="97" name="Group 97"/>
              <p:cNvGrpSpPr/>
              <p:nvPr/>
            </p:nvGrpSpPr>
            <p:grpSpPr>
              <a:xfrm>
                <a:off x="571500" y="3105150"/>
                <a:ext cx="7524750" cy="209550"/>
                <a:chOff x="571500" y="3105150"/>
                <a:chExt cx="7524750" cy="209550"/>
              </a:xfrm>
            </p:grpSpPr>
            <p:sp>
              <p:nvSpPr>
                <p:cNvPr id="89" name="Rectangle 89"/>
                <p:cNvSpPr/>
                <p:nvPr/>
              </p:nvSpPr>
              <p:spPr>
                <a:xfrm>
                  <a:off x="571500" y="3105150"/>
                  <a:ext cx="7524750" cy="209550"/>
                </a:xfrm>
                <a:prstGeom prst="rect">
                  <a:avLst/>
                </a:prstGeom>
                <a:solidFill>
                  <a:srgbClr val="EDEEEC"/>
                </a:solidFill>
                <a:ln>
                  <a:noFill/>
                </a:ln>
              </p:spPr>
            </p:sp>
            <p:sp>
              <p:nvSpPr>
                <p:cNvPr id="90" name="TextBox 90"/>
                <p:cNvSpPr txBox="1"/>
                <p:nvPr/>
              </p:nvSpPr>
              <p:spPr>
                <a:xfrm>
                  <a:off x="777097" y="3167062"/>
                  <a:ext cx="6505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9</a:t>
                  </a:r>
                </a:p>
              </p:txBody>
            </p:sp>
            <p:sp>
              <p:nvSpPr>
                <p:cNvPr id="91" name="TextBox 91"/>
                <p:cNvSpPr txBox="1"/>
                <p:nvPr/>
              </p:nvSpPr>
              <p:spPr>
                <a:xfrm>
                  <a:off x="1138238" y="3167062"/>
                  <a:ext cx="23479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Beet</a:t>
                  </a:r>
                </a:p>
              </p:txBody>
            </p:sp>
            <p:sp>
              <p:nvSpPr>
                <p:cNvPr id="92" name="TextBox 92"/>
                <p:cNvSpPr txBox="1"/>
                <p:nvPr/>
              </p:nvSpPr>
              <p:spPr>
                <a:xfrm>
                  <a:off x="4718209" y="316706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51.71</a:t>
                  </a:r>
                </a:p>
              </p:txBody>
            </p:sp>
            <p:sp>
              <p:nvSpPr>
                <p:cNvPr id="93" name="Rectangle 93"/>
                <p:cNvSpPr/>
                <p:nvPr/>
              </p:nvSpPr>
              <p:spPr>
                <a:xfrm>
                  <a:off x="5048250" y="310515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94" name="TextBox 94"/>
                <p:cNvSpPr txBox="1"/>
                <p:nvPr/>
              </p:nvSpPr>
              <p:spPr>
                <a:xfrm>
                  <a:off x="6242209" y="316706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71.24</a:t>
                  </a:r>
                </a:p>
              </p:txBody>
            </p:sp>
            <p:sp>
              <p:nvSpPr>
                <p:cNvPr id="95" name="Rectangle 95"/>
                <p:cNvSpPr/>
                <p:nvPr/>
              </p:nvSpPr>
              <p:spPr>
                <a:xfrm>
                  <a:off x="6572250" y="310515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96" name="TextBox 96"/>
                <p:cNvSpPr txBox="1"/>
                <p:nvPr/>
              </p:nvSpPr>
              <p:spPr>
                <a:xfrm>
                  <a:off x="7752326" y="316706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74.83</a:t>
                  </a:r>
                </a:p>
              </p:txBody>
            </p:sp>
          </p:grpSp>
          <p:grpSp>
            <p:nvGrpSpPr>
              <p:cNvPr id="107" name="Group 107"/>
              <p:cNvGrpSpPr/>
              <p:nvPr/>
            </p:nvGrpSpPr>
            <p:grpSpPr>
              <a:xfrm>
                <a:off x="571500" y="3314700"/>
                <a:ext cx="7524750" cy="209550"/>
                <a:chOff x="571500" y="3314700"/>
                <a:chExt cx="7524750" cy="209550"/>
              </a:xfrm>
            </p:grpSpPr>
            <p:sp>
              <p:nvSpPr>
                <p:cNvPr id="98" name="Rectangle 98"/>
                <p:cNvSpPr/>
                <p:nvPr/>
              </p:nvSpPr>
              <p:spPr>
                <a:xfrm>
                  <a:off x="571500" y="3314700"/>
                  <a:ext cx="7524750" cy="2095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99" name="TextBox 99"/>
                <p:cNvSpPr txBox="1"/>
                <p:nvPr/>
              </p:nvSpPr>
              <p:spPr>
                <a:xfrm>
                  <a:off x="749332" y="3376612"/>
                  <a:ext cx="12058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10</a:t>
                  </a:r>
                </a:p>
              </p:txBody>
            </p:sp>
            <p:sp>
              <p:nvSpPr>
                <p:cNvPr id="100" name="TextBox 100"/>
                <p:cNvSpPr txBox="1"/>
                <p:nvPr/>
              </p:nvSpPr>
              <p:spPr>
                <a:xfrm>
                  <a:off x="1138238" y="3376612"/>
                  <a:ext cx="794957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Winter triticale</a:t>
                  </a:r>
                </a:p>
              </p:txBody>
            </p:sp>
            <p:sp>
              <p:nvSpPr>
                <p:cNvPr id="101" name="Rectangle 101"/>
                <p:cNvSpPr/>
                <p:nvPr/>
              </p:nvSpPr>
              <p:spPr>
                <a:xfrm>
                  <a:off x="3524250" y="3314700"/>
                  <a:ext cx="1524000" cy="209550"/>
                </a:xfrm>
                <a:prstGeom prst="rect">
                  <a:avLst/>
                </a:prstGeom>
                <a:solidFill>
                  <a:srgbClr val="F5D9DC"/>
                </a:solidFill>
                <a:ln>
                  <a:noFill/>
                </a:ln>
              </p:spPr>
            </p:sp>
            <p:sp>
              <p:nvSpPr>
                <p:cNvPr id="102" name="TextBox 102"/>
                <p:cNvSpPr txBox="1"/>
                <p:nvPr/>
              </p:nvSpPr>
              <p:spPr>
                <a:xfrm>
                  <a:off x="4773740" y="3376612"/>
                  <a:ext cx="231648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7.95</a:t>
                  </a:r>
                </a:p>
              </p:txBody>
            </p:sp>
            <p:sp>
              <p:nvSpPr>
                <p:cNvPr id="103" name="Rectangle 103"/>
                <p:cNvSpPr/>
                <p:nvPr/>
              </p:nvSpPr>
              <p:spPr>
                <a:xfrm>
                  <a:off x="5048250" y="3314700"/>
                  <a:ext cx="1524000" cy="209550"/>
                </a:xfrm>
                <a:prstGeom prst="rect">
                  <a:avLst/>
                </a:prstGeom>
                <a:solidFill>
                  <a:srgbClr val="F5D9DC"/>
                </a:solidFill>
                <a:ln>
                  <a:noFill/>
                </a:ln>
              </p:spPr>
            </p:sp>
            <p:sp>
              <p:nvSpPr>
                <p:cNvPr id="104" name="TextBox 104"/>
                <p:cNvSpPr txBox="1"/>
                <p:nvPr/>
              </p:nvSpPr>
              <p:spPr>
                <a:xfrm>
                  <a:off x="6242209" y="337661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12.28</a:t>
                  </a:r>
                </a:p>
              </p:txBody>
            </p:sp>
            <p:sp>
              <p:nvSpPr>
                <p:cNvPr id="105" name="Rectangle 105"/>
                <p:cNvSpPr/>
                <p:nvPr/>
              </p:nvSpPr>
              <p:spPr>
                <a:xfrm>
                  <a:off x="6572250" y="331470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106" name="TextBox 106"/>
                <p:cNvSpPr txBox="1"/>
                <p:nvPr/>
              </p:nvSpPr>
              <p:spPr>
                <a:xfrm>
                  <a:off x="7752326" y="337661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21.11</a:t>
                  </a:r>
                </a:p>
              </p:txBody>
            </p:sp>
          </p:grpSp>
          <p:grpSp>
            <p:nvGrpSpPr>
              <p:cNvPr id="115" name="Group 115"/>
              <p:cNvGrpSpPr/>
              <p:nvPr/>
            </p:nvGrpSpPr>
            <p:grpSpPr>
              <a:xfrm>
                <a:off x="571500" y="3524250"/>
                <a:ext cx="7524750" cy="209550"/>
                <a:chOff x="571500" y="3524250"/>
                <a:chExt cx="7524750" cy="209550"/>
              </a:xfrm>
            </p:grpSpPr>
            <p:sp>
              <p:nvSpPr>
                <p:cNvPr id="108" name="Rectangle 108"/>
                <p:cNvSpPr/>
                <p:nvPr/>
              </p:nvSpPr>
              <p:spPr>
                <a:xfrm>
                  <a:off x="571500" y="3524250"/>
                  <a:ext cx="7524750" cy="209550"/>
                </a:xfrm>
                <a:prstGeom prst="rect">
                  <a:avLst/>
                </a:prstGeom>
                <a:solidFill>
                  <a:srgbClr val="EDEEEC"/>
                </a:solidFill>
                <a:ln>
                  <a:noFill/>
                </a:ln>
              </p:spPr>
            </p:sp>
            <p:sp>
              <p:nvSpPr>
                <p:cNvPr id="109" name="TextBox 109"/>
                <p:cNvSpPr txBox="1"/>
                <p:nvPr/>
              </p:nvSpPr>
              <p:spPr>
                <a:xfrm>
                  <a:off x="749332" y="3586162"/>
                  <a:ext cx="12058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11</a:t>
                  </a:r>
                </a:p>
              </p:txBody>
            </p:sp>
            <p:sp>
              <p:nvSpPr>
                <p:cNvPr id="110" name="TextBox 110"/>
                <p:cNvSpPr txBox="1"/>
                <p:nvPr/>
              </p:nvSpPr>
              <p:spPr>
                <a:xfrm>
                  <a:off x="1138238" y="3586162"/>
                  <a:ext cx="99741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Winter durum wheat</a:t>
                  </a:r>
                </a:p>
              </p:txBody>
            </p:sp>
            <p:sp>
              <p:nvSpPr>
                <p:cNvPr id="111" name="TextBox 111"/>
                <p:cNvSpPr txBox="1"/>
                <p:nvPr/>
              </p:nvSpPr>
              <p:spPr>
                <a:xfrm>
                  <a:off x="4718209" y="358616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41.89</a:t>
                  </a:r>
                </a:p>
              </p:txBody>
            </p:sp>
            <p:sp>
              <p:nvSpPr>
                <p:cNvPr id="112" name="TextBox 112"/>
                <p:cNvSpPr txBox="1"/>
                <p:nvPr/>
              </p:nvSpPr>
              <p:spPr>
                <a:xfrm>
                  <a:off x="6242209" y="358616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49.09</a:t>
                  </a:r>
                </a:p>
              </p:txBody>
            </p:sp>
            <p:sp>
              <p:nvSpPr>
                <p:cNvPr id="113" name="Rectangle 113"/>
                <p:cNvSpPr/>
                <p:nvPr/>
              </p:nvSpPr>
              <p:spPr>
                <a:xfrm>
                  <a:off x="6572250" y="352425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114" name="TextBox 114"/>
                <p:cNvSpPr txBox="1"/>
                <p:nvPr/>
              </p:nvSpPr>
              <p:spPr>
                <a:xfrm>
                  <a:off x="7752326" y="358616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50.64</a:t>
                  </a:r>
                </a:p>
              </p:txBody>
            </p:sp>
          </p:grpSp>
          <p:grpSp>
            <p:nvGrpSpPr>
              <p:cNvPr id="125" name="Group 125"/>
              <p:cNvGrpSpPr/>
              <p:nvPr/>
            </p:nvGrpSpPr>
            <p:grpSpPr>
              <a:xfrm>
                <a:off x="571500" y="3733800"/>
                <a:ext cx="7524750" cy="209550"/>
                <a:chOff x="571500" y="3733800"/>
                <a:chExt cx="7524750" cy="209550"/>
              </a:xfrm>
            </p:grpSpPr>
            <p:sp>
              <p:nvSpPr>
                <p:cNvPr id="116" name="Rectangle 116"/>
                <p:cNvSpPr/>
                <p:nvPr/>
              </p:nvSpPr>
              <p:spPr>
                <a:xfrm>
                  <a:off x="571500" y="3733800"/>
                  <a:ext cx="7524750" cy="2095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17" name="TextBox 117"/>
                <p:cNvSpPr txBox="1"/>
                <p:nvPr/>
              </p:nvSpPr>
              <p:spPr>
                <a:xfrm>
                  <a:off x="749332" y="3795712"/>
                  <a:ext cx="12058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12</a:t>
                  </a:r>
                </a:p>
              </p:txBody>
            </p:sp>
            <p:sp>
              <p:nvSpPr>
                <p:cNvPr id="118" name="TextBox 118"/>
                <p:cNvSpPr txBox="1"/>
                <p:nvPr/>
              </p:nvSpPr>
              <p:spPr>
                <a:xfrm>
                  <a:off x="1138238" y="3795712"/>
                  <a:ext cx="140627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Fruits, vegetables, flowers</a:t>
                  </a:r>
                </a:p>
              </p:txBody>
            </p:sp>
            <p:sp>
              <p:nvSpPr>
                <p:cNvPr id="119" name="Rectangle 119"/>
                <p:cNvSpPr/>
                <p:nvPr/>
              </p:nvSpPr>
              <p:spPr>
                <a:xfrm>
                  <a:off x="3524250" y="3733800"/>
                  <a:ext cx="1524000" cy="209550"/>
                </a:xfrm>
                <a:prstGeom prst="rect">
                  <a:avLst/>
                </a:prstGeom>
                <a:solidFill>
                  <a:srgbClr val="F5D9DC"/>
                </a:solidFill>
                <a:ln>
                  <a:noFill/>
                </a:ln>
              </p:spPr>
            </p:sp>
            <p:sp>
              <p:nvSpPr>
                <p:cNvPr id="120" name="TextBox 120"/>
                <p:cNvSpPr txBox="1"/>
                <p:nvPr/>
              </p:nvSpPr>
              <p:spPr>
                <a:xfrm>
                  <a:off x="4718209" y="379571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18.21</a:t>
                  </a:r>
                </a:p>
              </p:txBody>
            </p:sp>
            <p:sp>
              <p:nvSpPr>
                <p:cNvPr id="121" name="Rectangle 121"/>
                <p:cNvSpPr/>
                <p:nvPr/>
              </p:nvSpPr>
              <p:spPr>
                <a:xfrm>
                  <a:off x="5048250" y="3733800"/>
                  <a:ext cx="1524000" cy="209550"/>
                </a:xfrm>
                <a:prstGeom prst="rect">
                  <a:avLst/>
                </a:prstGeom>
                <a:solidFill>
                  <a:srgbClr val="F5D9DC"/>
                </a:solidFill>
                <a:ln>
                  <a:noFill/>
                </a:ln>
              </p:spPr>
            </p:sp>
            <p:sp>
              <p:nvSpPr>
                <p:cNvPr id="122" name="TextBox 122"/>
                <p:cNvSpPr txBox="1"/>
                <p:nvPr/>
              </p:nvSpPr>
              <p:spPr>
                <a:xfrm>
                  <a:off x="6242209" y="379571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24.77</a:t>
                  </a:r>
                </a:p>
              </p:txBody>
            </p:sp>
            <p:sp>
              <p:nvSpPr>
                <p:cNvPr id="123" name="Rectangle 123"/>
                <p:cNvSpPr/>
                <p:nvPr/>
              </p:nvSpPr>
              <p:spPr>
                <a:xfrm>
                  <a:off x="6572250" y="373380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124" name="TextBox 124"/>
                <p:cNvSpPr txBox="1"/>
                <p:nvPr/>
              </p:nvSpPr>
              <p:spPr>
                <a:xfrm>
                  <a:off x="7752326" y="379571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24.83</a:t>
                  </a:r>
                </a:p>
              </p:txBody>
            </p:sp>
          </p:grpSp>
          <p:grpSp>
            <p:nvGrpSpPr>
              <p:cNvPr id="134" name="Group 134"/>
              <p:cNvGrpSpPr/>
              <p:nvPr/>
            </p:nvGrpSpPr>
            <p:grpSpPr>
              <a:xfrm>
                <a:off x="571500" y="3943350"/>
                <a:ext cx="7524750" cy="209550"/>
                <a:chOff x="571500" y="3943350"/>
                <a:chExt cx="7524750" cy="209550"/>
              </a:xfrm>
            </p:grpSpPr>
            <p:sp>
              <p:nvSpPr>
                <p:cNvPr id="126" name="Rectangle 126"/>
                <p:cNvSpPr/>
                <p:nvPr/>
              </p:nvSpPr>
              <p:spPr>
                <a:xfrm>
                  <a:off x="571500" y="3943350"/>
                  <a:ext cx="7524750" cy="209550"/>
                </a:xfrm>
                <a:prstGeom prst="rect">
                  <a:avLst/>
                </a:prstGeom>
                <a:solidFill>
                  <a:srgbClr val="EDEEEC"/>
                </a:solidFill>
                <a:ln>
                  <a:noFill/>
                </a:ln>
              </p:spPr>
            </p:sp>
            <p:sp>
              <p:nvSpPr>
                <p:cNvPr id="127" name="TextBox 127"/>
                <p:cNvSpPr txBox="1"/>
                <p:nvPr/>
              </p:nvSpPr>
              <p:spPr>
                <a:xfrm>
                  <a:off x="749332" y="4005262"/>
                  <a:ext cx="12058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13</a:t>
                  </a:r>
                </a:p>
              </p:txBody>
            </p:sp>
            <p:sp>
              <p:nvSpPr>
                <p:cNvPr id="128" name="TextBox 128"/>
                <p:cNvSpPr txBox="1"/>
                <p:nvPr/>
              </p:nvSpPr>
              <p:spPr>
                <a:xfrm>
                  <a:off x="1138238" y="4005262"/>
                  <a:ext cx="456914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Potatoes</a:t>
                  </a:r>
                </a:p>
              </p:txBody>
            </p:sp>
            <p:sp>
              <p:nvSpPr>
                <p:cNvPr id="129" name="Rectangle 129"/>
                <p:cNvSpPr/>
                <p:nvPr/>
              </p:nvSpPr>
              <p:spPr>
                <a:xfrm>
                  <a:off x="3524250" y="3943350"/>
                  <a:ext cx="1524000" cy="209550"/>
                </a:xfrm>
                <a:prstGeom prst="rect">
                  <a:avLst/>
                </a:prstGeom>
                <a:solidFill>
                  <a:srgbClr val="F5D9DC"/>
                </a:solidFill>
                <a:ln>
                  <a:noFill/>
                </a:ln>
              </p:spPr>
            </p:sp>
            <p:sp>
              <p:nvSpPr>
                <p:cNvPr id="130" name="TextBox 130"/>
                <p:cNvSpPr txBox="1"/>
                <p:nvPr/>
              </p:nvSpPr>
              <p:spPr>
                <a:xfrm>
                  <a:off x="4718209" y="400526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18.28</a:t>
                  </a:r>
                </a:p>
              </p:txBody>
            </p:sp>
            <p:sp>
              <p:nvSpPr>
                <p:cNvPr id="131" name="Rectangle 131"/>
                <p:cNvSpPr/>
                <p:nvPr/>
              </p:nvSpPr>
              <p:spPr>
                <a:xfrm>
                  <a:off x="5048250" y="394335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132" name="TextBox 132"/>
                <p:cNvSpPr txBox="1"/>
                <p:nvPr/>
              </p:nvSpPr>
              <p:spPr>
                <a:xfrm>
                  <a:off x="6228326" y="400526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34.04</a:t>
                  </a:r>
                </a:p>
              </p:txBody>
            </p:sp>
            <p:sp>
              <p:nvSpPr>
                <p:cNvPr id="133" name="TextBox 133"/>
                <p:cNvSpPr txBox="1"/>
                <p:nvPr/>
              </p:nvSpPr>
              <p:spPr>
                <a:xfrm>
                  <a:off x="7766209" y="400526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34.00</a:t>
                  </a:r>
                </a:p>
              </p:txBody>
            </p:sp>
          </p:grpSp>
          <p:grpSp>
            <p:nvGrpSpPr>
              <p:cNvPr id="144" name="Group 144"/>
              <p:cNvGrpSpPr/>
              <p:nvPr/>
            </p:nvGrpSpPr>
            <p:grpSpPr>
              <a:xfrm>
                <a:off x="571500" y="4152900"/>
                <a:ext cx="7524750" cy="209550"/>
                <a:chOff x="571500" y="4152900"/>
                <a:chExt cx="7524750" cy="209550"/>
              </a:xfrm>
            </p:grpSpPr>
            <p:sp>
              <p:nvSpPr>
                <p:cNvPr id="135" name="Rectangle 135"/>
                <p:cNvSpPr/>
                <p:nvPr/>
              </p:nvSpPr>
              <p:spPr>
                <a:xfrm>
                  <a:off x="571500" y="4152900"/>
                  <a:ext cx="7524750" cy="2095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36" name="TextBox 136"/>
                <p:cNvSpPr txBox="1"/>
                <p:nvPr/>
              </p:nvSpPr>
              <p:spPr>
                <a:xfrm>
                  <a:off x="749332" y="4214812"/>
                  <a:ext cx="12058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14</a:t>
                  </a:r>
                </a:p>
              </p:txBody>
            </p:sp>
            <p:sp>
              <p:nvSpPr>
                <p:cNvPr id="137" name="TextBox 137"/>
                <p:cNvSpPr txBox="1"/>
                <p:nvPr/>
              </p:nvSpPr>
              <p:spPr>
                <a:xfrm>
                  <a:off x="1138238" y="4214812"/>
                  <a:ext cx="92649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Leguminous fodder</a:t>
                  </a:r>
                </a:p>
              </p:txBody>
            </p:sp>
            <p:sp>
              <p:nvSpPr>
                <p:cNvPr id="138" name="Rectangle 138"/>
                <p:cNvSpPr/>
                <p:nvPr/>
              </p:nvSpPr>
              <p:spPr>
                <a:xfrm>
                  <a:off x="3524250" y="4152900"/>
                  <a:ext cx="1524000" cy="209550"/>
                </a:xfrm>
                <a:prstGeom prst="rect">
                  <a:avLst/>
                </a:prstGeom>
                <a:solidFill>
                  <a:srgbClr val="F5D9DC"/>
                </a:solidFill>
                <a:ln>
                  <a:noFill/>
                </a:ln>
              </p:spPr>
            </p:sp>
            <p:sp>
              <p:nvSpPr>
                <p:cNvPr id="139" name="TextBox 139"/>
                <p:cNvSpPr txBox="1"/>
                <p:nvPr/>
              </p:nvSpPr>
              <p:spPr>
                <a:xfrm>
                  <a:off x="4718209" y="421481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16.58</a:t>
                  </a:r>
                </a:p>
              </p:txBody>
            </p:sp>
            <p:sp>
              <p:nvSpPr>
                <p:cNvPr id="140" name="Rectangle 140"/>
                <p:cNvSpPr/>
                <p:nvPr/>
              </p:nvSpPr>
              <p:spPr>
                <a:xfrm>
                  <a:off x="5048250" y="4152900"/>
                  <a:ext cx="1524000" cy="209550"/>
                </a:xfrm>
                <a:prstGeom prst="rect">
                  <a:avLst/>
                </a:prstGeom>
                <a:solidFill>
                  <a:srgbClr val="F5D9DC"/>
                </a:solidFill>
                <a:ln>
                  <a:noFill/>
                </a:ln>
              </p:spPr>
            </p:sp>
            <p:sp>
              <p:nvSpPr>
                <p:cNvPr id="141" name="TextBox 141"/>
                <p:cNvSpPr txBox="1"/>
                <p:nvPr/>
              </p:nvSpPr>
              <p:spPr>
                <a:xfrm>
                  <a:off x="6242209" y="421481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25.78</a:t>
                  </a:r>
                </a:p>
              </p:txBody>
            </p:sp>
            <p:sp>
              <p:nvSpPr>
                <p:cNvPr id="142" name="Rectangle 142"/>
                <p:cNvSpPr/>
                <p:nvPr/>
              </p:nvSpPr>
              <p:spPr>
                <a:xfrm>
                  <a:off x="6572250" y="415290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143" name="TextBox 143"/>
                <p:cNvSpPr txBox="1"/>
                <p:nvPr/>
              </p:nvSpPr>
              <p:spPr>
                <a:xfrm>
                  <a:off x="7752326" y="421481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26.32</a:t>
                  </a:r>
                </a:p>
              </p:txBody>
            </p:sp>
          </p:grpSp>
          <p:grpSp>
            <p:nvGrpSpPr>
              <p:cNvPr id="153" name="Group 153"/>
              <p:cNvGrpSpPr/>
              <p:nvPr/>
            </p:nvGrpSpPr>
            <p:grpSpPr>
              <a:xfrm>
                <a:off x="571500" y="4362450"/>
                <a:ext cx="7524750" cy="209550"/>
                <a:chOff x="571500" y="4362450"/>
                <a:chExt cx="7524750" cy="209550"/>
              </a:xfrm>
            </p:grpSpPr>
            <p:sp>
              <p:nvSpPr>
                <p:cNvPr id="145" name="Rectangle 145"/>
                <p:cNvSpPr/>
                <p:nvPr/>
              </p:nvSpPr>
              <p:spPr>
                <a:xfrm>
                  <a:off x="571500" y="4362450"/>
                  <a:ext cx="7524750" cy="209550"/>
                </a:xfrm>
                <a:prstGeom prst="rect">
                  <a:avLst/>
                </a:prstGeom>
                <a:solidFill>
                  <a:srgbClr val="EDEEEC"/>
                </a:solidFill>
                <a:ln>
                  <a:noFill/>
                </a:ln>
              </p:spPr>
            </p:sp>
            <p:sp>
              <p:nvSpPr>
                <p:cNvPr id="146" name="TextBox 146"/>
                <p:cNvSpPr txBox="1"/>
                <p:nvPr/>
              </p:nvSpPr>
              <p:spPr>
                <a:xfrm>
                  <a:off x="749332" y="4424362"/>
                  <a:ext cx="12058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15</a:t>
                  </a:r>
                </a:p>
              </p:txBody>
            </p:sp>
            <p:sp>
              <p:nvSpPr>
                <p:cNvPr id="147" name="TextBox 147"/>
                <p:cNvSpPr txBox="1"/>
                <p:nvPr/>
              </p:nvSpPr>
              <p:spPr>
                <a:xfrm>
                  <a:off x="1138238" y="4424362"/>
                  <a:ext cx="456914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Soybeans</a:t>
                  </a:r>
                </a:p>
              </p:txBody>
            </p:sp>
            <p:sp>
              <p:nvSpPr>
                <p:cNvPr id="148" name="Rectangle 148"/>
                <p:cNvSpPr/>
                <p:nvPr/>
              </p:nvSpPr>
              <p:spPr>
                <a:xfrm>
                  <a:off x="3524250" y="4362450"/>
                  <a:ext cx="1524000" cy="209550"/>
                </a:xfrm>
                <a:prstGeom prst="rect">
                  <a:avLst/>
                </a:prstGeom>
                <a:solidFill>
                  <a:srgbClr val="F5D9DC"/>
                </a:solidFill>
                <a:ln>
                  <a:noFill/>
                </a:ln>
              </p:spPr>
            </p:sp>
            <p:sp>
              <p:nvSpPr>
                <p:cNvPr id="149" name="TextBox 149"/>
                <p:cNvSpPr txBox="1"/>
                <p:nvPr/>
              </p:nvSpPr>
              <p:spPr>
                <a:xfrm>
                  <a:off x="4718209" y="442436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30.74</a:t>
                  </a:r>
                </a:p>
              </p:txBody>
            </p:sp>
            <p:sp>
              <p:nvSpPr>
                <p:cNvPr id="150" name="Rectangle 150"/>
                <p:cNvSpPr/>
                <p:nvPr/>
              </p:nvSpPr>
              <p:spPr>
                <a:xfrm>
                  <a:off x="5048250" y="436245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151" name="TextBox 151"/>
                <p:cNvSpPr txBox="1"/>
                <p:nvPr/>
              </p:nvSpPr>
              <p:spPr>
                <a:xfrm>
                  <a:off x="6228326" y="442436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53.66</a:t>
                  </a:r>
                </a:p>
              </p:txBody>
            </p:sp>
            <p:sp>
              <p:nvSpPr>
                <p:cNvPr id="152" name="TextBox 152"/>
                <p:cNvSpPr txBox="1"/>
                <p:nvPr/>
              </p:nvSpPr>
              <p:spPr>
                <a:xfrm>
                  <a:off x="7766209" y="442436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52.80</a:t>
                  </a:r>
                </a:p>
              </p:txBody>
            </p:sp>
          </p:grpSp>
          <p:grpSp>
            <p:nvGrpSpPr>
              <p:cNvPr id="162" name="Group 162"/>
              <p:cNvGrpSpPr/>
              <p:nvPr/>
            </p:nvGrpSpPr>
            <p:grpSpPr>
              <a:xfrm>
                <a:off x="571500" y="4572000"/>
                <a:ext cx="7524750" cy="209550"/>
                <a:chOff x="571500" y="4572000"/>
                <a:chExt cx="7524750" cy="209550"/>
              </a:xfrm>
            </p:grpSpPr>
            <p:sp>
              <p:nvSpPr>
                <p:cNvPr id="154" name="Rectangle 154"/>
                <p:cNvSpPr/>
                <p:nvPr/>
              </p:nvSpPr>
              <p:spPr>
                <a:xfrm>
                  <a:off x="571500" y="4572000"/>
                  <a:ext cx="7524750" cy="2095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55" name="TextBox 155"/>
                <p:cNvSpPr txBox="1"/>
                <p:nvPr/>
              </p:nvSpPr>
              <p:spPr>
                <a:xfrm>
                  <a:off x="749332" y="4633912"/>
                  <a:ext cx="12058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16</a:t>
                  </a:r>
                </a:p>
              </p:txBody>
            </p:sp>
            <p:sp>
              <p:nvSpPr>
                <p:cNvPr id="156" name="TextBox 156"/>
                <p:cNvSpPr txBox="1"/>
                <p:nvPr/>
              </p:nvSpPr>
              <p:spPr>
                <a:xfrm>
                  <a:off x="1138238" y="4633912"/>
                  <a:ext cx="421740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Orchard</a:t>
                  </a:r>
                </a:p>
              </p:txBody>
            </p:sp>
            <p:sp>
              <p:nvSpPr>
                <p:cNvPr id="157" name="Rectangle 157"/>
                <p:cNvSpPr/>
                <p:nvPr/>
              </p:nvSpPr>
              <p:spPr>
                <a:xfrm>
                  <a:off x="3524250" y="4572000"/>
                  <a:ext cx="1524000" cy="209550"/>
                </a:xfrm>
                <a:prstGeom prst="rect">
                  <a:avLst/>
                </a:prstGeom>
                <a:solidFill>
                  <a:srgbClr val="F5D9DC"/>
                </a:solidFill>
                <a:ln>
                  <a:noFill/>
                </a:ln>
              </p:spPr>
            </p:sp>
            <p:sp>
              <p:nvSpPr>
                <p:cNvPr id="158" name="TextBox 158"/>
                <p:cNvSpPr txBox="1"/>
                <p:nvPr/>
              </p:nvSpPr>
              <p:spPr>
                <a:xfrm>
                  <a:off x="4718209" y="463391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18.74</a:t>
                  </a:r>
                </a:p>
              </p:txBody>
            </p:sp>
            <p:sp>
              <p:nvSpPr>
                <p:cNvPr id="159" name="TextBox 159"/>
                <p:cNvSpPr txBox="1"/>
                <p:nvPr/>
              </p:nvSpPr>
              <p:spPr>
                <a:xfrm>
                  <a:off x="6242209" y="463391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38.30</a:t>
                  </a:r>
                </a:p>
              </p:txBody>
            </p:sp>
            <p:sp>
              <p:nvSpPr>
                <p:cNvPr id="160" name="Rectangle 160"/>
                <p:cNvSpPr/>
                <p:nvPr/>
              </p:nvSpPr>
              <p:spPr>
                <a:xfrm>
                  <a:off x="6572250" y="457200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161" name="TextBox 161"/>
                <p:cNvSpPr txBox="1"/>
                <p:nvPr/>
              </p:nvSpPr>
              <p:spPr>
                <a:xfrm>
                  <a:off x="7752326" y="463391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40.05</a:t>
                  </a:r>
                </a:p>
              </p:txBody>
            </p:sp>
          </p:grpSp>
          <p:grpSp>
            <p:nvGrpSpPr>
              <p:cNvPr id="172" name="Group 172"/>
              <p:cNvGrpSpPr/>
              <p:nvPr/>
            </p:nvGrpSpPr>
            <p:grpSpPr>
              <a:xfrm>
                <a:off x="571500" y="4781550"/>
                <a:ext cx="7524750" cy="209550"/>
                <a:chOff x="571500" y="4781550"/>
                <a:chExt cx="7524750" cy="209550"/>
              </a:xfrm>
            </p:grpSpPr>
            <p:sp>
              <p:nvSpPr>
                <p:cNvPr id="163" name="Rectangle 163"/>
                <p:cNvSpPr/>
                <p:nvPr/>
              </p:nvSpPr>
              <p:spPr>
                <a:xfrm>
                  <a:off x="571500" y="4781550"/>
                  <a:ext cx="7524750" cy="209550"/>
                </a:xfrm>
                <a:prstGeom prst="rect">
                  <a:avLst/>
                </a:prstGeom>
                <a:solidFill>
                  <a:srgbClr val="EDEEEC"/>
                </a:solidFill>
                <a:ln>
                  <a:noFill/>
                </a:ln>
              </p:spPr>
            </p:sp>
            <p:sp>
              <p:nvSpPr>
                <p:cNvPr id="164" name="TextBox 164"/>
                <p:cNvSpPr txBox="1"/>
                <p:nvPr/>
              </p:nvSpPr>
              <p:spPr>
                <a:xfrm>
                  <a:off x="749332" y="4843462"/>
                  <a:ext cx="12058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17</a:t>
                  </a:r>
                </a:p>
              </p:txBody>
            </p:sp>
            <p:sp>
              <p:nvSpPr>
                <p:cNvPr id="165" name="TextBox 165"/>
                <p:cNvSpPr txBox="1"/>
                <p:nvPr/>
              </p:nvSpPr>
              <p:spPr>
                <a:xfrm>
                  <a:off x="1138238" y="4843462"/>
                  <a:ext cx="62350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Mixed cereal</a:t>
                  </a:r>
                </a:p>
              </p:txBody>
            </p:sp>
            <p:sp>
              <p:nvSpPr>
                <p:cNvPr id="166" name="Rectangle 166"/>
                <p:cNvSpPr/>
                <p:nvPr/>
              </p:nvSpPr>
              <p:spPr>
                <a:xfrm>
                  <a:off x="3524250" y="4781550"/>
                  <a:ext cx="1524000" cy="209550"/>
                </a:xfrm>
                <a:prstGeom prst="rect">
                  <a:avLst/>
                </a:prstGeom>
                <a:solidFill>
                  <a:srgbClr val="F5D9DC"/>
                </a:solidFill>
                <a:ln>
                  <a:noFill/>
                </a:ln>
              </p:spPr>
            </p:sp>
            <p:sp>
              <p:nvSpPr>
                <p:cNvPr id="167" name="TextBox 167"/>
                <p:cNvSpPr txBox="1"/>
                <p:nvPr/>
              </p:nvSpPr>
              <p:spPr>
                <a:xfrm>
                  <a:off x="4773740" y="4843462"/>
                  <a:ext cx="231648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1.18</a:t>
                  </a:r>
                </a:p>
              </p:txBody>
            </p:sp>
            <p:sp>
              <p:nvSpPr>
                <p:cNvPr id="168" name="Rectangle 168"/>
                <p:cNvSpPr/>
                <p:nvPr/>
              </p:nvSpPr>
              <p:spPr>
                <a:xfrm>
                  <a:off x="5048250" y="4781550"/>
                  <a:ext cx="1524000" cy="209550"/>
                </a:xfrm>
                <a:prstGeom prst="rect">
                  <a:avLst/>
                </a:prstGeom>
                <a:solidFill>
                  <a:srgbClr val="F5D9DC"/>
                </a:solidFill>
                <a:ln>
                  <a:noFill/>
                </a:ln>
              </p:spPr>
            </p:sp>
            <p:sp>
              <p:nvSpPr>
                <p:cNvPr id="169" name="TextBox 169"/>
                <p:cNvSpPr txBox="1"/>
                <p:nvPr/>
              </p:nvSpPr>
              <p:spPr>
                <a:xfrm>
                  <a:off x="6242209" y="484346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19.15</a:t>
                  </a:r>
                </a:p>
              </p:txBody>
            </p:sp>
            <p:sp>
              <p:nvSpPr>
                <p:cNvPr id="170" name="Rectangle 170"/>
                <p:cNvSpPr/>
                <p:nvPr/>
              </p:nvSpPr>
              <p:spPr>
                <a:xfrm>
                  <a:off x="6572250" y="478155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171" name="TextBox 171"/>
                <p:cNvSpPr txBox="1"/>
                <p:nvPr/>
              </p:nvSpPr>
              <p:spPr>
                <a:xfrm>
                  <a:off x="7752326" y="484346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26.39</a:t>
                  </a:r>
                </a:p>
              </p:txBody>
            </p:sp>
          </p:grpSp>
          <p:grpSp>
            <p:nvGrpSpPr>
              <p:cNvPr id="182" name="Group 182"/>
              <p:cNvGrpSpPr/>
              <p:nvPr/>
            </p:nvGrpSpPr>
            <p:grpSpPr>
              <a:xfrm>
                <a:off x="571500" y="4991100"/>
                <a:ext cx="7524750" cy="209550"/>
                <a:chOff x="571500" y="4991100"/>
                <a:chExt cx="7524750" cy="209550"/>
              </a:xfrm>
            </p:grpSpPr>
            <p:sp>
              <p:nvSpPr>
                <p:cNvPr id="173" name="Rectangle 173"/>
                <p:cNvSpPr/>
                <p:nvPr/>
              </p:nvSpPr>
              <p:spPr>
                <a:xfrm>
                  <a:off x="571500" y="4991100"/>
                  <a:ext cx="7524750" cy="2095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74" name="TextBox 174"/>
                <p:cNvSpPr txBox="1"/>
                <p:nvPr/>
              </p:nvSpPr>
              <p:spPr>
                <a:xfrm>
                  <a:off x="749332" y="5053012"/>
                  <a:ext cx="12058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18</a:t>
                  </a:r>
                </a:p>
              </p:txBody>
            </p:sp>
            <p:sp>
              <p:nvSpPr>
                <p:cNvPr id="175" name="TextBox 175"/>
                <p:cNvSpPr txBox="1"/>
                <p:nvPr/>
              </p:nvSpPr>
              <p:spPr>
                <a:xfrm>
                  <a:off x="1138238" y="5053012"/>
                  <a:ext cx="421740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Sorghum</a:t>
                  </a:r>
                </a:p>
              </p:txBody>
            </p:sp>
            <p:sp>
              <p:nvSpPr>
                <p:cNvPr id="176" name="Rectangle 176"/>
                <p:cNvSpPr/>
                <p:nvPr/>
              </p:nvSpPr>
              <p:spPr>
                <a:xfrm>
                  <a:off x="3524250" y="4991100"/>
                  <a:ext cx="1524000" cy="209550"/>
                </a:xfrm>
                <a:prstGeom prst="rect">
                  <a:avLst/>
                </a:prstGeom>
                <a:solidFill>
                  <a:srgbClr val="F5D9DC"/>
                </a:solidFill>
                <a:ln>
                  <a:noFill/>
                </a:ln>
              </p:spPr>
            </p:sp>
            <p:sp>
              <p:nvSpPr>
                <p:cNvPr id="177" name="TextBox 177"/>
                <p:cNvSpPr txBox="1"/>
                <p:nvPr/>
              </p:nvSpPr>
              <p:spPr>
                <a:xfrm>
                  <a:off x="4773740" y="5053012"/>
                  <a:ext cx="231648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1.33</a:t>
                  </a:r>
                </a:p>
              </p:txBody>
            </p:sp>
            <p:sp>
              <p:nvSpPr>
                <p:cNvPr id="178" name="Rectangle 178"/>
                <p:cNvSpPr/>
                <p:nvPr/>
              </p:nvSpPr>
              <p:spPr>
                <a:xfrm>
                  <a:off x="5048250" y="4991100"/>
                  <a:ext cx="1524000" cy="209550"/>
                </a:xfrm>
                <a:prstGeom prst="rect">
                  <a:avLst/>
                </a:prstGeom>
                <a:solidFill>
                  <a:srgbClr val="F5D9DC"/>
                </a:solidFill>
                <a:ln>
                  <a:noFill/>
                </a:ln>
              </p:spPr>
            </p:sp>
            <p:sp>
              <p:nvSpPr>
                <p:cNvPr id="179" name="TextBox 179"/>
                <p:cNvSpPr txBox="1"/>
                <p:nvPr/>
              </p:nvSpPr>
              <p:spPr>
                <a:xfrm>
                  <a:off x="6242209" y="5053012"/>
                  <a:ext cx="287179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14.63</a:t>
                  </a:r>
                </a:p>
              </p:txBody>
            </p:sp>
            <p:sp>
              <p:nvSpPr>
                <p:cNvPr id="180" name="Rectangle 180"/>
                <p:cNvSpPr/>
                <p:nvPr/>
              </p:nvSpPr>
              <p:spPr>
                <a:xfrm>
                  <a:off x="6572250" y="4991100"/>
                  <a:ext cx="1524000" cy="209550"/>
                </a:xfrm>
                <a:prstGeom prst="rect">
                  <a:avLst/>
                </a:prstGeom>
                <a:solidFill>
                  <a:srgbClr val="D8E6DF"/>
                </a:solidFill>
                <a:ln>
                  <a:noFill/>
                </a:ln>
              </p:spPr>
            </p:sp>
            <p:sp>
              <p:nvSpPr>
                <p:cNvPr id="181" name="TextBox 181"/>
                <p:cNvSpPr txBox="1"/>
                <p:nvPr/>
              </p:nvSpPr>
              <p:spPr>
                <a:xfrm>
                  <a:off x="7752326" y="5053012"/>
                  <a:ext cx="301061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750" b="1" dirty="0">
                      <a:solidFill>
                        <a:schemeClr val="dk1"/>
                      </a:solidFill>
                      <a:latin typeface="Aptos"/>
                      <a:ea typeface="Aptos"/>
                      <a:cs typeface="Aptos"/>
                    </a:rPr>
                    <a:t>15.06</a:t>
                  </a:r>
                </a:p>
              </p:txBody>
            </p:sp>
          </p:grpSp>
        </p:grpSp>
      </p:grpSp>
      <p:sp>
        <p:nvSpPr>
          <p:cNvPr id="185" name="TextBox 185"/>
          <p:cNvSpPr txBox="1"/>
          <p:nvPr/>
        </p:nvSpPr>
        <p:spPr>
          <a:xfrm>
            <a:off x="566738" y="5387816"/>
            <a:ext cx="28575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同一 fold5、同一训练协议；粗体为三种模型中的最高值。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565404" y="5680710"/>
            <a:ext cx="36505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类别差异显著 · 后续改进需检查 per-class 变化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7784" y="280035"/>
            <a:ext cx="5370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从老师的问题到本阶段研究设计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762000" y="1047750"/>
            <a:ext cx="10668000" cy="3200400"/>
            <a:chOff x="762000" y="1047750"/>
            <a:chExt cx="10668000" cy="3200400"/>
          </a:xfrm>
        </p:grpSpPr>
        <p:sp>
          <p:nvSpPr>
            <p:cNvPr id="3" name="Rectangle 3"/>
            <p:cNvSpPr/>
            <p:nvPr/>
          </p:nvSpPr>
          <p:spPr>
            <a:xfrm>
              <a:off x="762000" y="1047750"/>
              <a:ext cx="47625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0378" y="11791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ptos"/>
                  <a:ea typeface="Aptos"/>
                  <a:cs typeface="Aptos"/>
                </a:rPr>
                <a:t>#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238250" y="1047750"/>
              <a:ext cx="32385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407482" y="1179195"/>
              <a:ext cx="9000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上次提出的问题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476750" y="1047750"/>
              <a:ext cx="36195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36482" y="1179195"/>
              <a:ext cx="9000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本阶段研究问题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096250" y="1047750"/>
              <a:ext cx="333375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503931" y="117919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对应工作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390650"/>
              <a:ext cx="476250" cy="952500"/>
            </a:xfrm>
            <a:prstGeom prst="rect">
              <a:avLst/>
            </a:prstGeom>
            <a:solidFill>
              <a:srgbClr val="FDF6E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8314" y="17592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6"/>
                  </a:solidFill>
                  <a:latin typeface="Aptos"/>
                  <a:ea typeface="Aptos"/>
                  <a:cs typeface="Aptos"/>
                </a:rPr>
                <a:t>01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238250" y="1390650"/>
              <a:ext cx="3238500" cy="952500"/>
            </a:xfrm>
            <a:prstGeom prst="rect">
              <a:avLst/>
            </a:prstGeom>
            <a:solidFill>
              <a:srgbClr val="FDF6E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124456" y="16802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时序数据如何被利用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476750" y="1390650"/>
              <a:ext cx="3619500" cy="952500"/>
            </a:xfrm>
            <a:prstGeom prst="rect">
              <a:avLst/>
            </a:prstGeom>
            <a:solidFill>
              <a:srgbClr val="FDF6E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149596" y="16802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保留逐月特征是否优于固定平均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96250" y="1390650"/>
              <a:ext cx="3333750" cy="952500"/>
            </a:xfrm>
            <a:prstGeom prst="rect">
              <a:avLst/>
            </a:prstGeom>
            <a:solidFill>
              <a:srgbClr val="FDF6E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55050" y="1631156"/>
              <a:ext cx="221615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temporal_v2、Temporal Readout晚期融合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2343150"/>
              <a:ext cx="476250" cy="952500"/>
            </a:xfrm>
            <a:prstGeom prst="rect">
              <a:avLst/>
            </a:prstGeom>
            <a:solidFill>
              <a:srgbClr val="F5EAE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88314" y="27117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A94A52"/>
                  </a:solidFill>
                  <a:latin typeface="Aptos"/>
                  <a:ea typeface="Aptos"/>
                  <a:cs typeface="Aptos"/>
                </a:rPr>
                <a:t>02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238250" y="2343150"/>
              <a:ext cx="3238500" cy="952500"/>
            </a:xfrm>
            <a:prstGeom prst="rect">
              <a:avLst/>
            </a:prstGeom>
            <a:solidFill>
              <a:srgbClr val="F5EAE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205228" y="2632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没有显式描述物候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476750" y="2343150"/>
              <a:ext cx="3619500" cy="952500"/>
            </a:xfrm>
            <a:prstGeom prst="rect">
              <a:avLst/>
            </a:prstGeom>
            <a:solidFill>
              <a:srgbClr val="F5EAE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943627" y="2632710"/>
              <a:ext cx="26857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外部类别-月份知识能否提供额外信息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96250" y="2343150"/>
              <a:ext cx="3333750" cy="952500"/>
            </a:xfrm>
            <a:prstGeom prst="rect">
              <a:avLst/>
            </a:prstGeom>
            <a:solidFill>
              <a:srgbClr val="F5EAE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06230" y="2583656"/>
              <a:ext cx="111379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P_ext、通用旁路P0/P1/P2 消融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295650"/>
              <a:ext cx="476250" cy="952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88314" y="36642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2"/>
                  </a:solidFill>
                  <a:latin typeface="Aptos"/>
                  <a:ea typeface="Aptos"/>
                  <a:cs typeface="Aptos"/>
                </a:rPr>
                <a:t>03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238250" y="3295650"/>
              <a:ext cx="3238500" cy="952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232622" y="3585210"/>
              <a:ext cx="12497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只展示总体 mIoU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76750" y="3295650"/>
              <a:ext cx="3619500" cy="952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149596" y="35852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模型具体改善了哪些类别和区域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096250" y="3295650"/>
              <a:ext cx="3333750" cy="952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95919" y="3536156"/>
              <a:ext cx="25344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per-class IoU、F1、预测图与错误图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755142" y="4902518"/>
            <a:ext cx="76012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本阶段核心收敛：</a:t>
            </a: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不再无序增加 decoder，围绕[时间读取]和[物候先验]两个维度做受控比较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33450" y="2266950"/>
            <a:ext cx="1437475" cy="1733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0" b="1" dirty="0">
                <a:solidFill>
                  <a:schemeClr val="accent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4212" y="3992880"/>
            <a:ext cx="512521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多时相特征的读取方式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3356" y="4853940"/>
            <a:ext cx="38534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从固定 mean(T) 到可学习时间融合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000125" y="5998845"/>
            <a:ext cx="9572625" cy="668655"/>
            <a:chOff x="1000125" y="5998845"/>
            <a:chExt cx="9572625" cy="668655"/>
          </a:xfrm>
        </p:grpSpPr>
        <p:sp>
          <p:nvSpPr>
            <p:cNvPr id="6" name="TextBox 6"/>
            <p:cNvSpPr txBox="1"/>
            <p:nvPr/>
          </p:nvSpPr>
          <p:spPr>
            <a:xfrm>
              <a:off x="1201522" y="5998845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10月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00125" y="6191250"/>
              <a:ext cx="666750" cy="476250"/>
            </a:xfrm>
            <a:prstGeom prst="rect">
              <a:avLst/>
            </a:prstGeom>
            <a:solidFill>
              <a:srgbClr val="E8E9E6"/>
            </a:solidFill>
            <a:ln w="4762">
              <a:solidFill>
                <a:srgbClr val="C8CAC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1147" y="5998845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809750" y="6191250"/>
              <a:ext cx="666750" cy="476250"/>
            </a:xfrm>
            <a:prstGeom prst="rect">
              <a:avLst/>
            </a:prstGeom>
            <a:solidFill>
              <a:srgbClr val="E8E9E6"/>
            </a:solidFill>
            <a:ln w="4762">
              <a:solidFill>
                <a:srgbClr val="C8CAC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820772" y="5998845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619375" y="6191250"/>
              <a:ext cx="666750" cy="476250"/>
            </a:xfrm>
            <a:prstGeom prst="rect">
              <a:avLst/>
            </a:prstGeom>
            <a:solidFill>
              <a:srgbClr val="E8E9E6"/>
            </a:solidFill>
            <a:ln w="4762">
              <a:solidFill>
                <a:srgbClr val="C8CAC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63715" y="5998845"/>
              <a:ext cx="1973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1月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29000" y="6191250"/>
              <a:ext cx="666750" cy="476250"/>
            </a:xfrm>
            <a:prstGeom prst="rect">
              <a:avLst/>
            </a:prstGeom>
            <a:solidFill>
              <a:srgbClr val="E8E9E6"/>
            </a:solidFill>
            <a:ln w="4762">
              <a:solidFill>
                <a:srgbClr val="C8CAC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73340" y="5998845"/>
              <a:ext cx="1973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2月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238625" y="6191250"/>
              <a:ext cx="666750" cy="476250"/>
            </a:xfrm>
            <a:prstGeom prst="rect">
              <a:avLst/>
            </a:prstGeom>
            <a:solidFill>
              <a:srgbClr val="E8E9E6"/>
            </a:solidFill>
            <a:ln w="4762">
              <a:solidFill>
                <a:srgbClr val="C8CAC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82965" y="5998845"/>
              <a:ext cx="1973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3月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048250" y="6191250"/>
              <a:ext cx="666750" cy="476250"/>
            </a:xfrm>
            <a:prstGeom prst="rect">
              <a:avLst/>
            </a:prstGeom>
            <a:solidFill>
              <a:srgbClr val="E8E9E6"/>
            </a:solidFill>
            <a:ln w="4762">
              <a:solidFill>
                <a:srgbClr val="C8CAC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92590" y="5998845"/>
              <a:ext cx="1973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4月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857875" y="6191250"/>
              <a:ext cx="666750" cy="476250"/>
            </a:xfrm>
            <a:prstGeom prst="rect">
              <a:avLst/>
            </a:prstGeom>
            <a:solidFill>
              <a:srgbClr val="E8E9E6"/>
            </a:solidFill>
            <a:ln w="4762">
              <a:solidFill>
                <a:srgbClr val="C8CAC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02215" y="5998845"/>
              <a:ext cx="1973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5月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667500" y="6191250"/>
              <a:ext cx="666750" cy="476250"/>
            </a:xfrm>
            <a:prstGeom prst="rect">
              <a:avLst/>
            </a:prstGeom>
            <a:solidFill>
              <a:srgbClr val="E8E9E6"/>
            </a:solidFill>
            <a:ln w="4762">
              <a:solidFill>
                <a:srgbClr val="C8CAC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11840" y="5998845"/>
              <a:ext cx="1973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6月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477125" y="6191250"/>
              <a:ext cx="666750" cy="476250"/>
            </a:xfrm>
            <a:prstGeom prst="rect">
              <a:avLst/>
            </a:prstGeom>
            <a:solidFill>
              <a:srgbClr val="E8E9E6"/>
            </a:solidFill>
            <a:ln w="4762">
              <a:solidFill>
                <a:srgbClr val="C8CAC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21465" y="5998845"/>
              <a:ext cx="1973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7月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286750" y="6191250"/>
              <a:ext cx="666750" cy="476250"/>
            </a:xfrm>
            <a:prstGeom prst="rect">
              <a:avLst/>
            </a:prstGeom>
            <a:solidFill>
              <a:srgbClr val="E8E9E6"/>
            </a:solidFill>
            <a:ln w="4762">
              <a:solidFill>
                <a:srgbClr val="C8CAC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31090" y="5998845"/>
              <a:ext cx="1973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8月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096375" y="6191250"/>
              <a:ext cx="666750" cy="476250"/>
            </a:xfrm>
            <a:prstGeom prst="rect">
              <a:avLst/>
            </a:prstGeom>
            <a:solidFill>
              <a:srgbClr val="E8E9E6"/>
            </a:solidFill>
            <a:ln w="4762">
              <a:solidFill>
                <a:srgbClr val="C8CAC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140715" y="5998845"/>
              <a:ext cx="1973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9月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906000" y="6191250"/>
              <a:ext cx="666750" cy="476250"/>
            </a:xfrm>
            <a:prstGeom prst="rect">
              <a:avLst/>
            </a:prstGeom>
            <a:solidFill>
              <a:srgbClr val="E8E9E6"/>
            </a:solidFill>
            <a:ln w="4762">
              <a:solidFill>
                <a:srgbClr val="C8CAC5"/>
              </a:solidFill>
            </a:ln>
          </p:spPr>
        </p:sp>
      </p:grpSp>
      <p:sp>
        <p:nvSpPr>
          <p:cNvPr id="31" name="Rectangle 31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9308" y="264795"/>
            <a:ext cx="409529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本阶段工作在项目中的位置</a:t>
            </a:r>
          </a:p>
        </p:txBody>
      </p:sp>
      <p:sp>
        <p:nvSpPr>
          <p:cNvPr id="3" name="Rectangle 3"/>
          <p:cNvSpPr/>
          <p:nvPr/>
        </p:nvSpPr>
        <p:spPr>
          <a:xfrm>
            <a:off x="4381500" y="714375"/>
            <a:ext cx="6477000" cy="209550"/>
          </a:xfrm>
          <a:prstGeom prst="rect">
            <a:avLst/>
          </a:prstGeom>
          <a:solidFill>
            <a:srgbClr val="A94A52">
              <a:alpha val="15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064978" y="776288"/>
            <a:ext cx="111004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A94A52"/>
                </a:solidFill>
                <a:latin typeface="+mn-lt"/>
                <a:ea typeface="+mn-ea"/>
                <a:cs typeface="+mn-cs"/>
              </a:rPr>
              <a:t>可选 phenology overlay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571500" y="1095375"/>
            <a:ext cx="10191750" cy="2286000"/>
            <a:chOff x="571500" y="1095375"/>
            <a:chExt cx="10191750" cy="2286000"/>
          </a:xfrm>
        </p:grpSpPr>
        <p:sp>
          <p:nvSpPr>
            <p:cNvPr id="5" name="Rectangle 5"/>
            <p:cNvSpPr/>
            <p:nvPr/>
          </p:nvSpPr>
          <p:spPr>
            <a:xfrm>
              <a:off x="571500" y="1095375"/>
              <a:ext cx="219075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61988" y="1215866"/>
              <a:ext cx="14178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时间处理 / 空间 decoder →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2762250" y="1095375"/>
              <a:ext cx="16002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267818" y="1215866"/>
              <a:ext cx="5890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最终层卷积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362450" y="1095375"/>
              <a:ext cx="16002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752110" y="1215866"/>
              <a:ext cx="8208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多层同尺度融合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962650" y="1095375"/>
              <a:ext cx="16002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529452" y="1215866"/>
              <a:ext cx="4665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UPerNet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562850" y="1095375"/>
              <a:ext cx="16002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14444" y="1215866"/>
              <a:ext cx="6970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Adapted DPT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163050" y="1095375"/>
              <a:ext cx="16002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566852" y="1215866"/>
              <a:ext cx="7925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3D-Aware DPT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1400175"/>
              <a:ext cx="2190750" cy="495300"/>
            </a:xfrm>
            <a:prstGeom prst="rect">
              <a:avLst/>
            </a:prstGeom>
            <a:solidFill>
              <a:srgbClr val="EDEEE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1797" y="1580674"/>
              <a:ext cx="8994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 mean(T)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62250" y="1400175"/>
              <a:ext cx="1600200" cy="495300"/>
            </a:xfrm>
            <a:prstGeom prst="rect">
              <a:avLst/>
            </a:prstGeom>
            <a:solidFill>
              <a:srgbClr val="D8E6D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436429" y="158877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362450" y="1400175"/>
              <a:ext cx="1600200" cy="495300"/>
            </a:xfrm>
            <a:prstGeom prst="rect">
              <a:avLst/>
            </a:prstGeom>
            <a:solidFill>
              <a:srgbClr val="D8E6D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036630" y="158877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962650" y="1400175"/>
              <a:ext cx="1600200" cy="495300"/>
            </a:xfrm>
            <a:prstGeom prst="rect">
              <a:avLst/>
            </a:prstGeom>
            <a:solidFill>
              <a:srgbClr val="FDF6E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76250" y="158877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1400175"/>
              <a:ext cx="1600200" cy="495300"/>
            </a:xfrm>
            <a:prstGeom prst="rect">
              <a:avLst/>
            </a:prstGeom>
            <a:solidFill>
              <a:srgbClr val="FDF6E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76450" y="158877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63050" y="1400175"/>
              <a:ext cx="1600200" cy="495300"/>
            </a:xfrm>
            <a:prstGeom prst="rect">
              <a:avLst/>
            </a:prstGeom>
            <a:solidFill>
              <a:srgbClr val="E8E9E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925069" y="15887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8CAC5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" y="1895475"/>
              <a:ext cx="219075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1797" y="2075974"/>
              <a:ext cx="16568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可学习 Temporal Readout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762250" y="1895475"/>
              <a:ext cx="1600200" cy="495300"/>
            </a:xfrm>
            <a:prstGeom prst="rect">
              <a:avLst/>
            </a:prstGeom>
            <a:solidFill>
              <a:srgbClr val="FDF6E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375850" y="208407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362450" y="1895475"/>
              <a:ext cx="1600200" cy="495300"/>
            </a:xfrm>
            <a:prstGeom prst="rect">
              <a:avLst/>
            </a:prstGeom>
            <a:solidFill>
              <a:srgbClr val="FDF6E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976050" y="208407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962650" y="1895475"/>
              <a:ext cx="1600200" cy="495300"/>
            </a:xfrm>
            <a:prstGeom prst="rect">
              <a:avLst/>
            </a:prstGeom>
            <a:solidFill>
              <a:srgbClr val="FDF6E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76250" y="208407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562850" y="1895475"/>
              <a:ext cx="1600200" cy="495300"/>
            </a:xfrm>
            <a:prstGeom prst="rect">
              <a:avLst/>
            </a:prstGeom>
            <a:solidFill>
              <a:srgbClr val="FDF6E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76450" y="208407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163050" y="1895475"/>
              <a:ext cx="1600200" cy="495300"/>
            </a:xfrm>
            <a:prstGeom prst="rect">
              <a:avLst/>
            </a:prstGeom>
            <a:solidFill>
              <a:srgbClr val="E8E9E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925069" y="20840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8CAC5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1500" y="2390775"/>
              <a:ext cx="2190750" cy="495300"/>
            </a:xfrm>
            <a:prstGeom prst="rect">
              <a:avLst/>
            </a:prstGeom>
            <a:solidFill>
              <a:srgbClr val="EDEEE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1797" y="2571274"/>
              <a:ext cx="12774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decoder 内晚期融合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762250" y="2390775"/>
              <a:ext cx="1600200" cy="495300"/>
            </a:xfrm>
            <a:prstGeom prst="rect">
              <a:avLst/>
            </a:prstGeom>
            <a:solidFill>
              <a:srgbClr val="E8E9E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524269" y="25793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8CAC5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362450" y="2390775"/>
              <a:ext cx="1600200" cy="495300"/>
            </a:xfrm>
            <a:prstGeom prst="rect">
              <a:avLst/>
            </a:prstGeom>
            <a:solidFill>
              <a:srgbClr val="E8E9E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124469" y="25793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8CAC5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962650" y="2390775"/>
              <a:ext cx="1600200" cy="495300"/>
            </a:xfrm>
            <a:prstGeom prst="rect">
              <a:avLst/>
            </a:prstGeom>
            <a:solidFill>
              <a:srgbClr val="E8E9E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24669" y="25793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8CAC5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562850" y="2390775"/>
              <a:ext cx="1600200" cy="495300"/>
            </a:xfrm>
            <a:prstGeom prst="rect">
              <a:avLst/>
            </a:prstGeom>
            <a:solidFill>
              <a:srgbClr val="E8E9E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324869" y="25793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8CAC5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163050" y="2390775"/>
              <a:ext cx="1600200" cy="495300"/>
            </a:xfrm>
            <a:prstGeom prst="rect">
              <a:avLst/>
            </a:prstGeom>
            <a:solidFill>
              <a:srgbClr val="FDF6E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776650" y="257937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1500" y="2886075"/>
              <a:ext cx="219075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1797" y="306657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A94A52"/>
                  </a:solidFill>
                  <a:latin typeface="+mn-lt"/>
                  <a:ea typeface="+mn-ea"/>
                  <a:cs typeface="+mn-cs"/>
                </a:rPr>
                <a:t>物候旁路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762250" y="2886075"/>
              <a:ext cx="16002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447199" y="308276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A94A52"/>
                  </a:solidFill>
                  <a:latin typeface="+mn-lt"/>
                  <a:ea typeface="+mn-ea"/>
                  <a:cs typeface="+mn-cs"/>
                </a:rPr>
                <a:t>可接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362450" y="2886075"/>
              <a:ext cx="16002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047399" y="308276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A94A52"/>
                  </a:solidFill>
                  <a:latin typeface="+mn-lt"/>
                  <a:ea typeface="+mn-ea"/>
                  <a:cs typeface="+mn-cs"/>
                </a:rPr>
                <a:t>可接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962650" y="2886075"/>
              <a:ext cx="16002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47599" y="308276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A94A52"/>
                  </a:solidFill>
                  <a:latin typeface="+mn-lt"/>
                  <a:ea typeface="+mn-ea"/>
                  <a:cs typeface="+mn-cs"/>
                </a:rPr>
                <a:t>可接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562850" y="2886075"/>
              <a:ext cx="16002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247799" y="308276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A94A52"/>
                  </a:solidFill>
                  <a:latin typeface="+mn-lt"/>
                  <a:ea typeface="+mn-ea"/>
                  <a:cs typeface="+mn-cs"/>
                </a:rPr>
                <a:t>可接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163050" y="2886075"/>
              <a:ext cx="16002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847999" y="308276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A94A52"/>
                  </a:solidFill>
                  <a:latin typeface="+mn-lt"/>
                  <a:ea typeface="+mn-ea"/>
                  <a:cs typeface="+mn-cs"/>
                </a:rPr>
                <a:t>可接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566738" y="3808095"/>
            <a:ext cx="52248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Linear Probe 和同协议 Linear Head 是独立基线。物候先验位于 Galileo 特征和 decoder 之间。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4238625"/>
            <a:ext cx="190500" cy="133350"/>
          </a:xfrm>
          <a:prstGeom prst="rect">
            <a:avLst/>
          </a:prstGeom>
          <a:solidFill>
            <a:srgbClr val="D8E6DF"/>
          </a:solidFill>
          <a:ln w="4762">
            <a:solidFill>
              <a:srgbClr val="C8CAC5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833438" y="4255770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已完成</a:t>
            </a:r>
          </a:p>
        </p:txBody>
      </p:sp>
      <p:sp>
        <p:nvSpPr>
          <p:cNvPr id="69" name="Rectangle 69"/>
          <p:cNvSpPr/>
          <p:nvPr/>
        </p:nvSpPr>
        <p:spPr>
          <a:xfrm>
            <a:off x="1809750" y="4238625"/>
            <a:ext cx="190500" cy="133350"/>
          </a:xfrm>
          <a:prstGeom prst="rect">
            <a:avLst/>
          </a:prstGeom>
          <a:solidFill>
            <a:srgbClr val="FDF6E3"/>
          </a:solidFill>
          <a:ln w="4762">
            <a:solidFill>
              <a:srgbClr val="C8CAC5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2071688" y="42557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已实现待训练</a:t>
            </a:r>
          </a:p>
        </p:txBody>
      </p:sp>
      <p:sp>
        <p:nvSpPr>
          <p:cNvPr id="71" name="Rectangle 71"/>
          <p:cNvSpPr/>
          <p:nvPr/>
        </p:nvSpPr>
        <p:spPr>
          <a:xfrm>
            <a:off x="3238500" y="4238625"/>
            <a:ext cx="190500" cy="133350"/>
          </a:xfrm>
          <a:prstGeom prst="rect">
            <a:avLst/>
          </a:prstGeom>
          <a:solidFill>
            <a:srgbClr val="E8E9E6"/>
          </a:solidFill>
          <a:ln w="4762">
            <a:solidFill>
              <a:srgbClr val="C8CAC5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3500438" y="4255770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不适用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7784" y="232410"/>
            <a:ext cx="384390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统一的数据与实验协议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62000" y="952500"/>
            <a:ext cx="6477000" cy="3524250"/>
            <a:chOff x="762000" y="952500"/>
            <a:chExt cx="6477000" cy="3524250"/>
          </a:xfrm>
        </p:grpSpPr>
        <p:sp>
          <p:nvSpPr>
            <p:cNvPr id="3" name="Rectangle 3"/>
            <p:cNvSpPr/>
            <p:nvPr/>
          </p:nvSpPr>
          <p:spPr>
            <a:xfrm>
              <a:off x="762000" y="952500"/>
              <a:ext cx="6477000" cy="857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8CAC5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45642" y="1073468"/>
              <a:ext cx="1652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PASTIS Sentinel-2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7166" y="1363028"/>
              <a:ext cx="2109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 个自然月 × 10 个波段 × 64×64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62000" y="2000250"/>
              <a:ext cx="6477000" cy="1428750"/>
            </a:xfrm>
            <a:prstGeom prst="rect">
              <a:avLst/>
            </a:prstGeom>
            <a:solidFill>
              <a:srgbClr val="D8E6D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5642" y="2140268"/>
              <a:ext cx="21654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frozen Galileo ViT-Base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7166" y="2458402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layers 3 / 6 / 9 / 12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4880" y="2790825"/>
              <a:ext cx="3308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[B, L=4, T=12, D=768, 16, 16]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7547" y="3180874"/>
              <a:ext cx="3064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核心缓存 — 四层、十二个月、768 通道、16×16 网格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3619500"/>
              <a:ext cx="6477000" cy="857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8CAC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5642" y="3759518"/>
              <a:ext cx="18742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19 类 64×64 语义分割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7166" y="4077652"/>
              <a:ext cx="11308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[B, 19, 64, 64]</a:t>
              </a:r>
            </a:p>
          </p:txBody>
        </p:sp>
      </p:grpSp>
      <p:sp>
        <p:nvSpPr>
          <p:cNvPr id="15" name="Rectangle 15"/>
          <p:cNvSpPr/>
          <p:nvPr/>
        </p:nvSpPr>
        <p:spPr>
          <a:xfrm>
            <a:off x="7810500" y="952500"/>
            <a:ext cx="381000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AC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089392" y="114014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固定实验条件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090154" y="1489710"/>
            <a:ext cx="1853954" cy="1949196"/>
            <a:chOff x="8090154" y="1489710"/>
            <a:chExt cx="1853954" cy="1949196"/>
          </a:xfrm>
        </p:grpSpPr>
        <p:sp>
          <p:nvSpPr>
            <p:cNvPr id="17" name="TextBox 17"/>
            <p:cNvSpPr txBox="1"/>
            <p:nvPr/>
          </p:nvSpPr>
          <p:spPr>
            <a:xfrm>
              <a:off x="8090154" y="1489710"/>
              <a:ext cx="145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Aptos"/>
                  <a:ea typeface="Aptos"/>
                  <a:cs typeface="Aptos"/>
                </a:rPr>
                <a:t>Train: folds 1/2/3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90154" y="1832610"/>
              <a:ext cx="83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Aptos"/>
                  <a:ea typeface="Aptos"/>
                  <a:cs typeface="Aptos"/>
                </a:rPr>
                <a:t>Val: fold 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90154" y="2175510"/>
              <a:ext cx="9639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Aptos"/>
                  <a:ea typeface="Aptos"/>
                  <a:cs typeface="Aptos"/>
                </a:rPr>
                <a:t>Test: fold 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90154" y="2518410"/>
              <a:ext cx="12099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Aptos"/>
                  <a:ea typeface="Aptos"/>
                  <a:cs typeface="Aptos"/>
                </a:rPr>
                <a:t>Loss: CE + Dice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90154" y="2861310"/>
              <a:ext cx="152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Aptos"/>
                  <a:ea typeface="Aptos"/>
                  <a:cs typeface="Aptos"/>
                </a:rPr>
                <a:t>Optimizer: Prodigy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90154" y="3204210"/>
              <a:ext cx="18539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Aptos"/>
                  <a:ea typeface="Aptos"/>
                  <a:cs typeface="Aptos"/>
                </a:rPr>
                <a:t>Selection: max val mIoU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55904" y="4442460"/>
            <a:ext cx="84421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所有新时间路线读取同一套 temporal_v2 缓存。后续实验改变的是怎样读取这些特征，不是重新训练或替换 Galileo。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7784" y="232410"/>
            <a:ext cx="422555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对原时间读取方式的复核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62000" y="1047750"/>
            <a:ext cx="4533900" cy="3060859"/>
            <a:chOff x="762000" y="1047750"/>
            <a:chExt cx="4533900" cy="3060859"/>
          </a:xfrm>
        </p:grpSpPr>
        <p:sp>
          <p:nvSpPr>
            <p:cNvPr id="3" name="Rectangle 3"/>
            <p:cNvSpPr/>
            <p:nvPr/>
          </p:nvSpPr>
          <p:spPr>
            <a:xfrm>
              <a:off x="762000" y="1047750"/>
              <a:ext cx="342900" cy="2857500"/>
            </a:xfrm>
            <a:prstGeom prst="rect">
              <a:avLst/>
            </a:prstGeom>
            <a:solidFill>
              <a:srgbClr val="D8E6DF"/>
            </a:solidFill>
            <a:ln w="4762">
              <a:solidFill>
                <a:schemeClr val="accent1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57743" y="3975259"/>
              <a:ext cx="1514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143000" y="1047750"/>
              <a:ext cx="342900" cy="2857500"/>
            </a:xfrm>
            <a:prstGeom prst="rect">
              <a:avLst/>
            </a:prstGeom>
            <a:solidFill>
              <a:srgbClr val="D8E6DF"/>
            </a:solidFill>
            <a:ln w="4762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38743" y="3975259"/>
              <a:ext cx="1514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2月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524000" y="1047750"/>
              <a:ext cx="342900" cy="2857500"/>
            </a:xfrm>
            <a:prstGeom prst="rect">
              <a:avLst/>
            </a:prstGeom>
            <a:solidFill>
              <a:srgbClr val="D8E6DF"/>
            </a:solidFill>
            <a:ln w="4762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19743" y="3975259"/>
              <a:ext cx="1514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905000" y="1047750"/>
              <a:ext cx="342900" cy="2857500"/>
            </a:xfrm>
            <a:prstGeom prst="rect">
              <a:avLst/>
            </a:prstGeom>
            <a:solidFill>
              <a:srgbClr val="D8E6DF"/>
            </a:solidFill>
            <a:ln w="4762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00743" y="3975259"/>
              <a:ext cx="1514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286000" y="1047750"/>
              <a:ext cx="342900" cy="2857500"/>
            </a:xfrm>
            <a:prstGeom prst="rect">
              <a:avLst/>
            </a:prstGeom>
            <a:solidFill>
              <a:srgbClr val="D8E6DF"/>
            </a:solidFill>
            <a:ln w="4762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381743" y="3975259"/>
              <a:ext cx="1514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5月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667000" y="1047750"/>
              <a:ext cx="342900" cy="2857500"/>
            </a:xfrm>
            <a:prstGeom prst="rect">
              <a:avLst/>
            </a:prstGeom>
            <a:solidFill>
              <a:srgbClr val="D8E6DF"/>
            </a:solidFill>
            <a:ln w="4762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762743" y="3975259"/>
              <a:ext cx="1514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6月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048000" y="1047750"/>
              <a:ext cx="342900" cy="2857500"/>
            </a:xfrm>
            <a:prstGeom prst="rect">
              <a:avLst/>
            </a:prstGeom>
            <a:solidFill>
              <a:srgbClr val="D8E6DF"/>
            </a:solidFill>
            <a:ln w="4762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143743" y="3975259"/>
              <a:ext cx="1514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7月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29000" y="1047750"/>
              <a:ext cx="342900" cy="2857500"/>
            </a:xfrm>
            <a:prstGeom prst="rect">
              <a:avLst/>
            </a:prstGeom>
            <a:solidFill>
              <a:srgbClr val="D8E6DF"/>
            </a:solidFill>
            <a:ln w="4762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24743" y="3975259"/>
              <a:ext cx="1514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8月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810000" y="1047750"/>
              <a:ext cx="342900" cy="2857500"/>
            </a:xfrm>
            <a:prstGeom prst="rect">
              <a:avLst/>
            </a:prstGeom>
            <a:solidFill>
              <a:srgbClr val="D8E6DF"/>
            </a:solidFill>
            <a:ln w="4762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05743" y="3975259"/>
              <a:ext cx="1514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9月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191000" y="1047750"/>
              <a:ext cx="342900" cy="2857500"/>
            </a:xfrm>
            <a:prstGeom prst="rect">
              <a:avLst/>
            </a:prstGeom>
            <a:solidFill>
              <a:srgbClr val="D8E6DF"/>
            </a:solidFill>
            <a:ln w="4762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261569" y="3975259"/>
              <a:ext cx="2017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10月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72000" y="1047750"/>
              <a:ext cx="342900" cy="2857500"/>
            </a:xfrm>
            <a:prstGeom prst="rect">
              <a:avLst/>
            </a:prstGeom>
            <a:solidFill>
              <a:srgbClr val="D8E6DF"/>
            </a:solidFill>
            <a:ln w="4762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42569" y="3975259"/>
              <a:ext cx="2017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11月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953000" y="1047750"/>
              <a:ext cx="342900" cy="2857500"/>
            </a:xfrm>
            <a:prstGeom prst="rect">
              <a:avLst/>
            </a:prstGeom>
            <a:solidFill>
              <a:srgbClr val="D8E6DF"/>
            </a:solidFill>
            <a:ln w="4762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23569" y="3975259"/>
              <a:ext cx="2017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12月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5619750" y="1809750"/>
            <a:ext cx="952500" cy="1047750"/>
          </a:xfrm>
          <a:prstGeom prst="rect">
            <a:avLst/>
          </a:prstGeom>
          <a:solidFill>
            <a:schemeClr val="accent6"/>
          </a:solidFill>
          <a:ln w="19050">
            <a:solidFill>
              <a:srgbClr val="B8962F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860153" y="2140268"/>
            <a:ext cx="4716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mean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942046" y="2423160"/>
            <a:ext cx="3079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(T)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50558" y="2169795"/>
            <a:ext cx="2020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chemeClr val="accent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239000" y="1238250"/>
            <a:ext cx="2286000" cy="2381250"/>
          </a:xfrm>
          <a:prstGeom prst="rect">
            <a:avLst/>
          </a:prstGeom>
          <a:solidFill>
            <a:srgbClr val="D8E6DF"/>
          </a:solidFill>
          <a:ln w="19050">
            <a:solidFill>
              <a:schemeClr val="accent1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543438" y="2235518"/>
            <a:ext cx="167712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[B,L,768,16,16]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059659" y="254555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二维特征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62000" y="4572000"/>
            <a:ext cx="4953000" cy="571500"/>
          </a:xfrm>
          <a:prstGeom prst="rect">
            <a:avLst/>
          </a:prstGeom>
          <a:solidFill>
            <a:srgbClr val="D8E6D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45642" y="4788218"/>
            <a:ext cx="361097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✓ 保留：跨月上下文（Galileo 内部交互）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096000" y="4572000"/>
            <a:ext cx="4953000" cy="571500"/>
          </a:xfrm>
          <a:prstGeom prst="rect">
            <a:avLst/>
          </a:prstGeom>
          <a:solidFill>
            <a:srgbClr val="F5EAE6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279642" y="4788218"/>
            <a:ext cx="27424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A94A52"/>
                </a:solidFill>
                <a:latin typeface="+mn-lt"/>
                <a:ea typeface="+mn-ea"/>
                <a:cs typeface="+mn-cs"/>
              </a:rPr>
              <a:t>✗ 损失：月份身份、差异化权重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55142" y="5569268"/>
            <a:ext cx="66834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关键限制：</a:t>
            </a:r>
            <a:r>
              <a: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</a:t>
            </a: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decoder 看不到月份身份，不能针对不同层和空间位置学习月份权重。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7784" y="232410"/>
            <a:ext cx="498885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从固定平均到可学习时间融合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3880" y="885825"/>
            <a:ext cx="31543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路线 A：独立 Temporal Readout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62000" y="1190625"/>
            <a:ext cx="9191625" cy="857250"/>
            <a:chOff x="762000" y="1190625"/>
            <a:chExt cx="9191625" cy="857250"/>
          </a:xfrm>
        </p:grpSpPr>
        <p:sp>
          <p:nvSpPr>
            <p:cNvPr id="4" name="Rectangle 4"/>
            <p:cNvSpPr/>
            <p:nvPr/>
          </p:nvSpPr>
          <p:spPr>
            <a:xfrm>
              <a:off x="762000" y="1285875"/>
              <a:ext cx="1905000" cy="666750"/>
            </a:xfrm>
            <a:prstGeom prst="rect">
              <a:avLst/>
            </a:prstGeom>
            <a:solidFill>
              <a:srgbClr val="D8E6DF"/>
            </a:solidFill>
            <a:ln w="14288">
              <a:solidFill>
                <a:schemeClr val="accent1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71656" y="1447324"/>
              <a:ext cx="1085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[B,L,T,D,H,W]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97998" y="1692116"/>
              <a:ext cx="8330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Galileo 逐月特征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800731" y="14916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Aptos"/>
                  <a:ea typeface="Aptos"/>
                  <a:cs typeface="Aptos"/>
                </a:rPr>
                <a:t>→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095625" y="1190625"/>
              <a:ext cx="2286000" cy="857250"/>
            </a:xfrm>
            <a:prstGeom prst="rect">
              <a:avLst/>
            </a:prstGeom>
            <a:solidFill>
              <a:srgbClr val="FDF6E3"/>
            </a:solidFill>
            <a:ln w="19050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599925" y="1390174"/>
              <a:ext cx="12774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B6914"/>
                  </a:solidFill>
                  <a:latin typeface="+mn-lt"/>
                  <a:ea typeface="+mn-ea"/>
                  <a:cs typeface="+mn-cs"/>
                </a:rPr>
                <a:t>月份编码 + 特征打分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07305" y="1629728"/>
              <a:ext cx="8626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B6914"/>
                  </a:solidFill>
                  <a:latin typeface="Consolas"/>
                  <a:ea typeface="Consolas"/>
                  <a:cs typeface="Consolas"/>
                </a:rPr>
                <a:t>softmax(T)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15356" y="14916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Aptos"/>
                  <a:ea typeface="Aptos"/>
                  <a:cs typeface="Aptos"/>
                </a:rPr>
                <a:t>→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62625" y="1285875"/>
              <a:ext cx="1524000" cy="666750"/>
            </a:xfrm>
            <a:prstGeom prst="rect">
              <a:avLst/>
            </a:prstGeom>
            <a:solidFill>
              <a:srgbClr val="D8E6DF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62282" y="1447324"/>
              <a:ext cx="9246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[B,L,D,H,W]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43892" y="1692116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时间聚合后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20356" y="14916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Aptos"/>
                  <a:ea typeface="Aptos"/>
                  <a:cs typeface="Aptos"/>
                </a:rPr>
                <a:t>→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67625" y="1285875"/>
              <a:ext cx="2286000" cy="6667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chemeClr val="accent1"/>
              </a:solidFill>
              <a:prstDash val="dash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52067" y="1439228"/>
              <a:ext cx="1517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任意二维空间 decoder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04047" y="1692116"/>
              <a:ext cx="16131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(卷积 / 多层 / UPerNet / DPT)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571500" y="2476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rgbClr val="EDEEE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63880" y="2743200"/>
            <a:ext cx="27910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路线 B：decoder 内晚期融合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762000" y="3048000"/>
            <a:ext cx="8620125" cy="857250"/>
            <a:chOff x="762000" y="3048000"/>
            <a:chExt cx="8620125" cy="857250"/>
          </a:xfrm>
        </p:grpSpPr>
        <p:sp>
          <p:nvSpPr>
            <p:cNvPr id="22" name="Rectangle 22"/>
            <p:cNvSpPr/>
            <p:nvPr/>
          </p:nvSpPr>
          <p:spPr>
            <a:xfrm>
              <a:off x="762000" y="3143250"/>
              <a:ext cx="1905000" cy="666750"/>
            </a:xfrm>
            <a:prstGeom prst="rect">
              <a:avLst/>
            </a:prstGeom>
            <a:solidFill>
              <a:srgbClr val="D8E6DF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71656" y="3304699"/>
              <a:ext cx="1085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[B,L,T,D,H,W]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97998" y="3549491"/>
              <a:ext cx="8330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Galileo 逐月特征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00731" y="33489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Aptos"/>
                  <a:ea typeface="Aptos"/>
                  <a:cs typeface="Aptos"/>
                </a:rPr>
                <a:t>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095625" y="3048000"/>
              <a:ext cx="3619500" cy="857250"/>
            </a:xfrm>
            <a:prstGeom prst="rect">
              <a:avLst/>
            </a:prstGeom>
            <a:solidFill>
              <a:srgbClr val="FDF6E3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277064" y="3247549"/>
              <a:ext cx="12566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B6914"/>
                  </a:solidFill>
                  <a:latin typeface="+mn-lt"/>
                  <a:ea typeface="+mn-ea"/>
                  <a:cs typeface="+mn-cs"/>
                </a:rPr>
                <a:t>时空与跨层联合处理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17947" y="3530441"/>
              <a:ext cx="1974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8B6914"/>
                  </a:solidFill>
                  <a:latin typeface="+mn-lt"/>
                  <a:ea typeface="+mn-ea"/>
                  <a:cs typeface="+mn-cs"/>
                </a:rPr>
                <a:t>高分辨率仍保留 T，最后学习时间聚合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48856" y="33489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Aptos"/>
                  <a:ea typeface="Aptos"/>
                  <a:cs typeface="Aptos"/>
                </a:rPr>
                <a:t>→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096125" y="3143250"/>
              <a:ext cx="2286000" cy="6667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chemeClr val="accent1"/>
              </a:solidFill>
              <a:prstDash val="dash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32435" y="3296602"/>
              <a:ext cx="10133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3D-Aware DPT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13586" y="35494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当前实现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55142" y="4521518"/>
            <a:ext cx="78824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共同目标：</a:t>
            </a: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研究 Galileo 逐月输出的下游读取方式。两条路线采用不同机制，后续分别记录比较。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55904" y="5013960"/>
            <a:ext cx="76233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路线 A 与空间 decoder 解耦 → 便于受控对比 | 路线 B 考察深度时空联合建模 → 以 3D-Aware DPT 为载体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7784" y="232410"/>
            <a:ext cx="384390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已有结果及其解释边界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71500" y="952500"/>
            <a:ext cx="10001250" cy="2400300"/>
            <a:chOff x="571500" y="952500"/>
            <a:chExt cx="10001250" cy="2400300"/>
          </a:xfrm>
        </p:grpSpPr>
        <p:sp>
          <p:nvSpPr>
            <p:cNvPr id="3" name="Rectangle 3"/>
            <p:cNvSpPr/>
            <p:nvPr/>
          </p:nvSpPr>
          <p:spPr>
            <a:xfrm>
              <a:off x="571500" y="952500"/>
              <a:ext cx="22860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81038" y="1064895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2857500" y="952500"/>
              <a:ext cx="19050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550806" y="106489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时间处理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762500" y="952500"/>
              <a:ext cx="142875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820377" y="1064895"/>
              <a:ext cx="6136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FFFFFF"/>
                  </a:solidFill>
                  <a:latin typeface="Aptos"/>
                  <a:ea typeface="Aptos"/>
                  <a:cs typeface="Aptos"/>
                </a:rPr>
                <a:t>Test mIoU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952500"/>
              <a:ext cx="17145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3787" y="1064895"/>
              <a:ext cx="10194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相对 Linear Head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905750" y="952500"/>
              <a:ext cx="26670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80056" y="106489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证据状态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571500" y="1257300"/>
              <a:ext cx="10001250" cy="523875"/>
              <a:chOff x="571500" y="1257300"/>
              <a:chExt cx="10001250" cy="52387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71500" y="1257300"/>
                <a:ext cx="10001250" cy="5238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80466" y="1467802"/>
                <a:ext cx="13390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同协议 Linear Head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381435" y="1475899"/>
                <a:ext cx="85713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固定 mean(T)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829480" y="1451610"/>
                <a:ext cx="6058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dk1"/>
                    </a:solidFill>
                    <a:latin typeface="Aptos"/>
                    <a:ea typeface="Aptos"/>
                    <a:cs typeface="Aptos"/>
                  </a:rPr>
                  <a:t>32.09%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965423" y="146780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chemeClr val="dk1"/>
                    </a:solidFill>
                    <a:latin typeface="Aptos"/>
                    <a:ea typeface="Aptos"/>
                    <a:cs typeface="Aptos"/>
                  </a:rPr>
                  <a:t>—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7905750" y="1257300"/>
                <a:ext cx="2667000" cy="523875"/>
              </a:xfrm>
              <a:prstGeom prst="rect">
                <a:avLst/>
              </a:prstGeom>
              <a:solidFill>
                <a:srgbClr val="D8E6D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887987" y="1475899"/>
                <a:ext cx="70252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已完成审计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71500" y="1781175"/>
              <a:ext cx="10001250" cy="523875"/>
              <a:chOff x="571500" y="1781175"/>
              <a:chExt cx="10001250" cy="52387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71500" y="1781175"/>
                <a:ext cx="10001250" cy="523875"/>
              </a:xfrm>
              <a:prstGeom prst="rect">
                <a:avLst/>
              </a:prstGeom>
              <a:solidFill>
                <a:srgbClr val="EDEEEC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80466" y="1991678"/>
                <a:ext cx="13761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最终层卷积 baseline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381435" y="1999774"/>
                <a:ext cx="85713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固定 mean(T)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829480" y="1975485"/>
                <a:ext cx="6058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dk1"/>
                    </a:solidFill>
                    <a:latin typeface="Aptos"/>
                    <a:ea typeface="Aptos"/>
                    <a:cs typeface="Aptos"/>
                  </a:rPr>
                  <a:t>46.02%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378816" y="1991678"/>
                <a:ext cx="67501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chemeClr val="dk1"/>
                    </a:solidFill>
                    <a:latin typeface="Aptos"/>
                    <a:ea typeface="Aptos"/>
                    <a:cs typeface="Aptos"/>
                  </a:rPr>
                  <a:t>+13.92 pp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7905750" y="1781175"/>
                <a:ext cx="2667000" cy="523875"/>
              </a:xfrm>
              <a:prstGeom prst="rect">
                <a:avLst/>
              </a:prstGeom>
              <a:solidFill>
                <a:srgbClr val="D8E6DF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887987" y="1999774"/>
                <a:ext cx="70252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已完成审计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71500" y="2305050"/>
              <a:ext cx="10001250" cy="523875"/>
              <a:chOff x="571500" y="2305050"/>
              <a:chExt cx="10001250" cy="523875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71500" y="2305050"/>
                <a:ext cx="10001250" cy="5238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80466" y="2515552"/>
                <a:ext cx="167295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多层同尺度融合 baseline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381435" y="2523649"/>
                <a:ext cx="85713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固定 mean(T)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829480" y="2499360"/>
                <a:ext cx="6058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dk1"/>
                    </a:solidFill>
                    <a:latin typeface="Aptos"/>
                    <a:ea typeface="Aptos"/>
                    <a:cs typeface="Aptos"/>
                  </a:rPr>
                  <a:t>48.01%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378816" y="2515552"/>
                <a:ext cx="67501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chemeClr val="dk1"/>
                    </a:solidFill>
                    <a:latin typeface="Aptos"/>
                    <a:ea typeface="Aptos"/>
                    <a:cs typeface="Aptos"/>
                  </a:rPr>
                  <a:t>+15.91 pp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7905750" y="2305050"/>
                <a:ext cx="2667000" cy="523875"/>
              </a:xfrm>
              <a:prstGeom prst="rect">
                <a:avLst/>
              </a:prstGeom>
              <a:solidFill>
                <a:srgbClr val="D8E6DF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887987" y="2523649"/>
                <a:ext cx="70252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已完成审计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571500" y="2828925"/>
              <a:ext cx="10001250" cy="523875"/>
              <a:chOff x="571500" y="2828925"/>
              <a:chExt cx="10001250" cy="523875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71500" y="2828925"/>
                <a:ext cx="10001250" cy="523875"/>
              </a:xfrm>
              <a:prstGeom prst="rect">
                <a:avLst/>
              </a:prstGeom>
              <a:solidFill>
                <a:srgbClr val="E8E9E6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80466" y="3039428"/>
                <a:ext cx="10133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3D-Aware DPT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201478" y="3047524"/>
                <a:ext cx="12170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decoder 内晚期融合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736188" y="3023235"/>
                <a:ext cx="6991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dk1"/>
                    </a:solidFill>
                    <a:latin typeface="Aptos"/>
                    <a:ea typeface="Aptos"/>
                    <a:cs typeface="Aptos"/>
                  </a:rPr>
                  <a:t>59.945%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301073" y="3039428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chemeClr val="dk1"/>
                    </a:solidFill>
                    <a:latin typeface="Aptos"/>
                    <a:ea typeface="Aptos"/>
                    <a:cs typeface="Aptos"/>
                  </a:rPr>
                  <a:t>+27.852 pp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7905750" y="2828925"/>
                <a:ext cx="2667000" cy="523875"/>
              </a:xfrm>
              <a:prstGeom prst="rect">
                <a:avLst/>
              </a:prstGeom>
              <a:solidFill>
                <a:srgbClr val="FDF6E3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472415" y="3047524"/>
                <a:ext cx="153367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A94A52"/>
                    </a:solidFill>
                    <a:latin typeface="+mn-lt"/>
                    <a:ea typeface="+mn-ea"/>
                    <a:cs typeface="+mn-cs"/>
                  </a:rPr>
                  <a:t>阶段性记录，元数据待补</a:t>
                </a:r>
              </a:p>
            </p:txBody>
          </p:sp>
        </p:grpSp>
      </p:grpSp>
      <p:sp>
        <p:nvSpPr>
          <p:cNvPr id="46" name="TextBox 46"/>
          <p:cNvSpPr txBox="1"/>
          <p:nvPr/>
        </p:nvSpPr>
        <p:spPr>
          <a:xfrm>
            <a:off x="565023" y="4053364"/>
            <a:ext cx="83304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解释边界：</a:t>
            </a:r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空间 decoder 设计是必要的。Linear Head 32.09% → 最终层卷积 46.02% → 多层融合 48.01%。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65023" y="4434364"/>
            <a:ext cx="674012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3D-Aware DPT 结构和参数量也变化，目前不能把全部提升严格归因于时间融合。真正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65023" y="4767739"/>
            <a:ext cx="60125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的单变量判断仍需固定空间 decoder，对比 mean(T) 和 Temporal Readout。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33450" y="2266950"/>
            <a:ext cx="1437475" cy="1733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0" b="1" dirty="0">
                <a:solidFill>
                  <a:schemeClr val="accent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4212" y="3992880"/>
            <a:ext cx="4107485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显式物候先验建模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3356" y="4853940"/>
            <a:ext cx="427093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把类别-月份农学知识作为独立条件信息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5664822" y="1714500"/>
            <a:ext cx="4869828" cy="1924050"/>
            <a:chOff x="5664822" y="1714500"/>
            <a:chExt cx="4869828" cy="1924050"/>
          </a:xfrm>
        </p:grpSpPr>
        <p:sp>
          <p:nvSpPr>
            <p:cNvPr id="6" name="TextBox 6"/>
            <p:cNvSpPr txBox="1"/>
            <p:nvPr/>
          </p:nvSpPr>
          <p:spPr>
            <a:xfrm>
              <a:off x="5664822" y="1796891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冬小麦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775211" y="21016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玉米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75211" y="24064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油菜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4822" y="2711291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向日葵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75211" y="30160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葡萄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75211" y="33208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草地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6667500" y="1714500"/>
              <a:ext cx="3867150" cy="304800"/>
              <a:chOff x="6667500" y="1714500"/>
              <a:chExt cx="3867150" cy="3048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667500" y="1714500"/>
                <a:ext cx="304800" cy="304800"/>
              </a:xfrm>
              <a:prstGeom prst="rect">
                <a:avLst/>
              </a:prstGeom>
              <a:solidFill>
                <a:srgbClr val="D3E8D6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6991350" y="1714500"/>
                <a:ext cx="304800" cy="304800"/>
              </a:xfrm>
              <a:prstGeom prst="rect">
                <a:avLst/>
              </a:prstGeom>
              <a:solidFill>
                <a:srgbClr val="DCEBE2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7315200" y="1714500"/>
                <a:ext cx="304800" cy="304800"/>
              </a:xfrm>
              <a:prstGeom prst="rect">
                <a:avLst/>
              </a:prstGeom>
              <a:solidFill>
                <a:srgbClr val="DCEBE2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7639050" y="1714500"/>
                <a:ext cx="304800" cy="304800"/>
              </a:xfrm>
              <a:prstGeom prst="rect">
                <a:avLst/>
              </a:prstGeom>
              <a:solidFill>
                <a:srgbClr val="C5E3CC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7962900" y="1714500"/>
                <a:ext cx="304800" cy="304800"/>
              </a:xfrm>
              <a:prstGeom prst="rect">
                <a:avLst/>
              </a:prstGeom>
              <a:solidFill>
                <a:srgbClr val="80C498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8286750" y="1714500"/>
                <a:ext cx="304800" cy="304800"/>
              </a:xfrm>
              <a:prstGeom prst="rect">
                <a:avLst/>
              </a:prstGeom>
              <a:solidFill>
                <a:srgbClr val="58B072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8610600" y="1714500"/>
                <a:ext cx="304800" cy="304800"/>
              </a:xfrm>
              <a:prstGeom prst="rect">
                <a:avLst/>
              </a:prstGeom>
              <a:solidFill>
                <a:srgbClr val="3DA05A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8934450" y="1714500"/>
                <a:ext cx="304800" cy="304800"/>
              </a:xfrm>
              <a:prstGeom prst="rect">
                <a:avLst/>
              </a:prstGeom>
              <a:solidFill>
                <a:srgbClr val="64B87C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9258300" y="1714500"/>
                <a:ext cx="304800" cy="304800"/>
              </a:xfrm>
              <a:prstGeom prst="rect">
                <a:avLst/>
              </a:prstGeom>
              <a:solidFill>
                <a:srgbClr val="8CCAA0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9582150" y="1714500"/>
                <a:ext cx="304800" cy="304800"/>
              </a:xfrm>
              <a:prstGeom prst="rect">
                <a:avLst/>
              </a:prstGeom>
              <a:solidFill>
                <a:srgbClr val="C5E3CC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9906000" y="1714500"/>
                <a:ext cx="304800" cy="304800"/>
              </a:xfrm>
              <a:prstGeom prst="rect">
                <a:avLst/>
              </a:prstGeom>
              <a:solidFill>
                <a:srgbClr val="D3E8D6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10229850" y="1714500"/>
                <a:ext cx="304800" cy="304800"/>
              </a:xfrm>
              <a:prstGeom prst="rect">
                <a:avLst/>
              </a:prstGeom>
              <a:solidFill>
                <a:srgbClr val="DCEBE2"/>
              </a:solidFill>
              <a:ln>
                <a:noFill/>
              </a:ln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6667500" y="2038350"/>
              <a:ext cx="3867150" cy="304800"/>
              <a:chOff x="6667500" y="2038350"/>
              <a:chExt cx="3867150" cy="3048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667500" y="2038350"/>
                <a:ext cx="304800" cy="304800"/>
              </a:xfrm>
              <a:prstGeom prst="rect">
                <a:avLst/>
              </a:prstGeom>
              <a:solidFill>
                <a:srgbClr val="DCEBE2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6991350" y="2038350"/>
                <a:ext cx="304800" cy="304800"/>
              </a:xfrm>
              <a:prstGeom prst="rect">
                <a:avLst/>
              </a:prstGeom>
              <a:solidFill>
                <a:srgbClr val="DCEBE2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7315200" y="2038350"/>
                <a:ext cx="304800" cy="304800"/>
              </a:xfrm>
              <a:prstGeom prst="rect">
                <a:avLst/>
              </a:prstGeom>
              <a:solidFill>
                <a:srgbClr val="DCEBE2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7639050" y="2038350"/>
                <a:ext cx="304800" cy="304800"/>
              </a:xfrm>
              <a:prstGeom prst="rect">
                <a:avLst/>
              </a:prstGeom>
              <a:solidFill>
                <a:srgbClr val="D3E8D6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7962900" y="2038350"/>
                <a:ext cx="304800" cy="304800"/>
              </a:xfrm>
              <a:prstGeom prst="rect">
                <a:avLst/>
              </a:prstGeom>
              <a:solidFill>
                <a:srgbClr val="A8D6B6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8286750" y="2038350"/>
                <a:ext cx="304800" cy="304800"/>
              </a:xfrm>
              <a:prstGeom prst="rect">
                <a:avLst/>
              </a:prstGeom>
              <a:solidFill>
                <a:srgbClr val="6CBC82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610600" y="2038350"/>
                <a:ext cx="304800" cy="304800"/>
              </a:xfrm>
              <a:prstGeom prst="rect">
                <a:avLst/>
              </a:prstGeom>
              <a:solidFill>
                <a:srgbClr val="2D9648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8934450" y="2038350"/>
                <a:ext cx="304800" cy="304800"/>
              </a:xfrm>
              <a:prstGeom prst="rect">
                <a:avLst/>
              </a:prstGeom>
              <a:solidFill>
                <a:srgbClr val="248A3E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9258300" y="2038350"/>
                <a:ext cx="304800" cy="304800"/>
              </a:xfrm>
              <a:prstGeom prst="rect">
                <a:avLst/>
              </a:prstGeom>
              <a:solidFill>
                <a:srgbClr val="58B072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9582150" y="2038350"/>
                <a:ext cx="304800" cy="304800"/>
              </a:xfrm>
              <a:prstGeom prst="rect">
                <a:avLst/>
              </a:prstGeom>
              <a:solidFill>
                <a:srgbClr val="90CEA6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9906000" y="2038350"/>
                <a:ext cx="304800" cy="304800"/>
              </a:xfrm>
              <a:prstGeom prst="rect">
                <a:avLst/>
              </a:prstGeom>
              <a:solidFill>
                <a:srgbClr val="D3E8D6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10229850" y="2038350"/>
                <a:ext cx="304800" cy="304800"/>
              </a:xfrm>
              <a:prstGeom prst="rect">
                <a:avLst/>
              </a:prstGeom>
              <a:solidFill>
                <a:srgbClr val="DCEBE2"/>
              </a:solidFill>
              <a:ln>
                <a:noFill/>
              </a:ln>
            </p:spPr>
          </p:sp>
        </p:grpSp>
        <p:grpSp>
          <p:nvGrpSpPr>
            <p:cNvPr id="50" name="Group 50"/>
            <p:cNvGrpSpPr/>
            <p:nvPr/>
          </p:nvGrpSpPr>
          <p:grpSpPr>
            <a:xfrm>
              <a:off x="6667500" y="2362200"/>
              <a:ext cx="3867150" cy="304800"/>
              <a:chOff x="6667500" y="2362200"/>
              <a:chExt cx="3867150" cy="3048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667500" y="2362200"/>
                <a:ext cx="304800" cy="304800"/>
              </a:xfrm>
              <a:prstGeom prst="rect">
                <a:avLst/>
              </a:prstGeom>
              <a:solidFill>
                <a:srgbClr val="D3E8D6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991350" y="2362200"/>
                <a:ext cx="304800" cy="304800"/>
              </a:xfrm>
              <a:prstGeom prst="rect">
                <a:avLst/>
              </a:prstGeom>
              <a:solidFill>
                <a:srgbClr val="DCEBE2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7315200" y="2362200"/>
                <a:ext cx="304800" cy="304800"/>
              </a:xfrm>
              <a:prstGeom prst="rect">
                <a:avLst/>
              </a:prstGeom>
              <a:solidFill>
                <a:srgbClr val="D3E8D6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7639050" y="2362200"/>
                <a:ext cx="304800" cy="304800"/>
              </a:xfrm>
              <a:prstGeom prst="rect">
                <a:avLst/>
              </a:prstGeom>
              <a:solidFill>
                <a:srgbClr val="A4D3B2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7962900" y="2362200"/>
                <a:ext cx="304800" cy="304800"/>
              </a:xfrm>
              <a:prstGeom prst="rect">
                <a:avLst/>
              </a:prstGeom>
              <a:solidFill>
                <a:srgbClr val="64B87C"/>
              </a:solidFill>
              <a:ln>
                <a:noFill/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8286750" y="2362200"/>
                <a:ext cx="304800" cy="304800"/>
              </a:xfrm>
              <a:prstGeom prst="rect">
                <a:avLst/>
              </a:prstGeom>
              <a:solidFill>
                <a:srgbClr val="2D9648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8610600" y="2362200"/>
                <a:ext cx="304800" cy="304800"/>
              </a:xfrm>
              <a:prstGeom prst="rect">
                <a:avLst/>
              </a:prstGeom>
              <a:solidFill>
                <a:srgbClr val="58B072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8934450" y="2362200"/>
                <a:ext cx="304800" cy="304800"/>
              </a:xfrm>
              <a:prstGeom prst="rect">
                <a:avLst/>
              </a:prstGeom>
              <a:solidFill>
                <a:srgbClr val="A4D3B2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9258300" y="2362200"/>
                <a:ext cx="304800" cy="304800"/>
              </a:xfrm>
              <a:prstGeom prst="rect">
                <a:avLst/>
              </a:prstGeom>
              <a:solidFill>
                <a:srgbClr val="D3E8D6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9582150" y="2362200"/>
                <a:ext cx="304800" cy="304800"/>
              </a:xfrm>
              <a:prstGeom prst="rect">
                <a:avLst/>
              </a:prstGeom>
              <a:solidFill>
                <a:srgbClr val="D3E8D6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9906000" y="2362200"/>
                <a:ext cx="304800" cy="304800"/>
              </a:xfrm>
              <a:prstGeom prst="rect">
                <a:avLst/>
              </a:prstGeom>
              <a:solidFill>
                <a:srgbClr val="DCEBE2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10229850" y="2362200"/>
                <a:ext cx="304800" cy="304800"/>
              </a:xfrm>
              <a:prstGeom prst="rect">
                <a:avLst/>
              </a:prstGeom>
              <a:solidFill>
                <a:srgbClr val="DCEBE2"/>
              </a:solidFill>
              <a:ln>
                <a:noFill/>
              </a:ln>
            </p:spPr>
          </p:sp>
        </p:grpSp>
        <p:grpSp>
          <p:nvGrpSpPr>
            <p:cNvPr id="63" name="Group 63"/>
            <p:cNvGrpSpPr/>
            <p:nvPr/>
          </p:nvGrpSpPr>
          <p:grpSpPr>
            <a:xfrm>
              <a:off x="6667500" y="2686050"/>
              <a:ext cx="3867150" cy="304800"/>
              <a:chOff x="6667500" y="2686050"/>
              <a:chExt cx="3867150" cy="30480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6667500" y="2686050"/>
                <a:ext cx="304800" cy="304800"/>
              </a:xfrm>
              <a:prstGeom prst="rect">
                <a:avLst/>
              </a:prstGeom>
              <a:solidFill>
                <a:srgbClr val="DCEBE2"/>
              </a:solidFill>
              <a:ln>
                <a:noFill/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6991350" y="2686050"/>
                <a:ext cx="304800" cy="304800"/>
              </a:xfrm>
              <a:prstGeom prst="rect">
                <a:avLst/>
              </a:prstGeom>
              <a:solidFill>
                <a:srgbClr val="DCEBE2"/>
              </a:solidFill>
              <a:ln>
                <a:noFill/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7315200" y="2686050"/>
                <a:ext cx="304800" cy="304800"/>
              </a:xfrm>
              <a:prstGeom prst="rect">
                <a:avLst/>
              </a:prstGeom>
              <a:solidFill>
                <a:srgbClr val="DCEBE2"/>
              </a:solidFill>
              <a:ln>
                <a:noFill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7639050" y="2686050"/>
                <a:ext cx="304800" cy="304800"/>
              </a:xfrm>
              <a:prstGeom prst="rect">
                <a:avLst/>
              </a:prstGeom>
              <a:solidFill>
                <a:srgbClr val="D3E8D6"/>
              </a:solidFill>
              <a:ln>
                <a:noFill/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7962900" y="2686050"/>
                <a:ext cx="304800" cy="304800"/>
              </a:xfrm>
              <a:prstGeom prst="rect">
                <a:avLst/>
              </a:prstGeom>
              <a:solidFill>
                <a:srgbClr val="A4D3B2"/>
              </a:solidFill>
              <a:ln>
                <a:noFill/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8286750" y="2686050"/>
                <a:ext cx="304800" cy="304800"/>
              </a:xfrm>
              <a:prstGeom prst="rect">
                <a:avLst/>
              </a:prstGeom>
              <a:solidFill>
                <a:srgbClr val="58B072"/>
              </a:solidFill>
              <a:ln>
                <a:noFill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8610600" y="2686050"/>
                <a:ext cx="304800" cy="304800"/>
              </a:xfrm>
              <a:prstGeom prst="rect">
                <a:avLst/>
              </a:prstGeom>
              <a:solidFill>
                <a:srgbClr val="2D9648"/>
              </a:solidFill>
              <a:ln>
                <a:noFill/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8934450" y="2686050"/>
                <a:ext cx="304800" cy="304800"/>
              </a:xfrm>
              <a:prstGeom prst="rect">
                <a:avLst/>
              </a:prstGeom>
              <a:solidFill>
                <a:srgbClr val="45A660"/>
              </a:solidFill>
              <a:ln>
                <a:noFill/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9258300" y="2686050"/>
                <a:ext cx="304800" cy="304800"/>
              </a:xfrm>
              <a:prstGeom prst="rect">
                <a:avLst/>
              </a:prstGeom>
              <a:solidFill>
                <a:srgbClr val="80C498"/>
              </a:solidFill>
              <a:ln>
                <a:noFill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9582150" y="2686050"/>
                <a:ext cx="304800" cy="304800"/>
              </a:xfrm>
              <a:prstGeom prst="rect">
                <a:avLst/>
              </a:prstGeom>
              <a:solidFill>
                <a:srgbClr val="D3E8D6"/>
              </a:solidFill>
              <a:ln>
                <a:noFill/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9906000" y="2686050"/>
                <a:ext cx="304800" cy="304800"/>
              </a:xfrm>
              <a:prstGeom prst="rect">
                <a:avLst/>
              </a:prstGeom>
              <a:solidFill>
                <a:srgbClr val="DCEBE2"/>
              </a:solidFill>
              <a:ln>
                <a:noFill/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10229850" y="2686050"/>
                <a:ext cx="304800" cy="304800"/>
              </a:xfrm>
              <a:prstGeom prst="rect">
                <a:avLst/>
              </a:prstGeom>
              <a:solidFill>
                <a:srgbClr val="DCEBE2"/>
              </a:solidFill>
              <a:ln>
                <a:noFill/>
              </a:ln>
            </p:spPr>
          </p:sp>
        </p:grpSp>
        <p:grpSp>
          <p:nvGrpSpPr>
            <p:cNvPr id="76" name="Group 76"/>
            <p:cNvGrpSpPr/>
            <p:nvPr/>
          </p:nvGrpSpPr>
          <p:grpSpPr>
            <a:xfrm>
              <a:off x="6667500" y="3009900"/>
              <a:ext cx="3867150" cy="304800"/>
              <a:chOff x="6667500" y="3009900"/>
              <a:chExt cx="3867150" cy="3048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6667500" y="3009900"/>
                <a:ext cx="304800" cy="304800"/>
              </a:xfrm>
              <a:prstGeom prst="rect">
                <a:avLst/>
              </a:prstGeom>
              <a:solidFill>
                <a:srgbClr val="A4D3B2"/>
              </a:solidFill>
              <a:ln>
                <a:noFill/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6991350" y="3009900"/>
                <a:ext cx="304800" cy="304800"/>
              </a:xfrm>
              <a:prstGeom prst="rect">
                <a:avLst/>
              </a:prstGeom>
              <a:solidFill>
                <a:srgbClr val="B4DBBE"/>
              </a:solidFill>
              <a:ln>
                <a:noFill/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7315200" y="3009900"/>
                <a:ext cx="304800" cy="304800"/>
              </a:xfrm>
              <a:prstGeom prst="rect">
                <a:avLst/>
              </a:prstGeom>
              <a:solidFill>
                <a:srgbClr val="B4DBBE"/>
              </a:solidFill>
              <a:ln>
                <a:noFill/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7639050" y="3009900"/>
                <a:ext cx="304800" cy="304800"/>
              </a:xfrm>
              <a:prstGeom prst="rect">
                <a:avLst/>
              </a:prstGeom>
              <a:solidFill>
                <a:srgbClr val="A4D3B2"/>
              </a:solidFill>
              <a:ln>
                <a:noFill/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7962900" y="3009900"/>
                <a:ext cx="304800" cy="304800"/>
              </a:xfrm>
              <a:prstGeom prst="rect">
                <a:avLst/>
              </a:prstGeom>
              <a:solidFill>
                <a:srgbClr val="80C498"/>
              </a:solidFill>
              <a:ln>
                <a:noFill/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8286750" y="3009900"/>
                <a:ext cx="304800" cy="304800"/>
              </a:xfrm>
              <a:prstGeom prst="rect">
                <a:avLst/>
              </a:prstGeom>
              <a:solidFill>
                <a:srgbClr val="58B072"/>
              </a:solidFill>
              <a:ln>
                <a:noFill/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8610600" y="3009900"/>
                <a:ext cx="304800" cy="304800"/>
              </a:xfrm>
              <a:prstGeom prst="rect">
                <a:avLst/>
              </a:prstGeom>
              <a:solidFill>
                <a:srgbClr val="4EAA6C"/>
              </a:solidFill>
              <a:ln>
                <a:noFill/>
              </a:ln>
            </p:spPr>
          </p:sp>
          <p:sp>
            <p:nvSpPr>
              <p:cNvPr id="71" name="Rectangle 71"/>
              <p:cNvSpPr/>
              <p:nvPr/>
            </p:nvSpPr>
            <p:spPr>
              <a:xfrm>
                <a:off x="8934450" y="3009900"/>
                <a:ext cx="304800" cy="304800"/>
              </a:xfrm>
              <a:prstGeom prst="rect">
                <a:avLst/>
              </a:prstGeom>
              <a:solidFill>
                <a:srgbClr val="45A660"/>
              </a:solidFill>
              <a:ln>
                <a:noFill/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9258300" y="3009900"/>
                <a:ext cx="304800" cy="304800"/>
              </a:xfrm>
              <a:prstGeom prst="rect">
                <a:avLst/>
              </a:prstGeom>
              <a:solidFill>
                <a:srgbClr val="64B87C"/>
              </a:solidFill>
              <a:ln>
                <a:noFill/>
              </a:ln>
            </p:spPr>
          </p:sp>
          <p:sp>
            <p:nvSpPr>
              <p:cNvPr id="73" name="Rectangle 73"/>
              <p:cNvSpPr/>
              <p:nvPr/>
            </p:nvSpPr>
            <p:spPr>
              <a:xfrm>
                <a:off x="9582150" y="3009900"/>
                <a:ext cx="304800" cy="304800"/>
              </a:xfrm>
              <a:prstGeom prst="rect">
                <a:avLst/>
              </a:prstGeom>
              <a:solidFill>
                <a:srgbClr val="80C498"/>
              </a:solidFill>
              <a:ln>
                <a:noFill/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9906000" y="3009900"/>
                <a:ext cx="304800" cy="304800"/>
              </a:xfrm>
              <a:prstGeom prst="rect">
                <a:avLst/>
              </a:prstGeom>
              <a:solidFill>
                <a:srgbClr val="90CEA6"/>
              </a:solidFill>
              <a:ln>
                <a:noFill/>
              </a:ln>
            </p:spPr>
          </p:sp>
          <p:sp>
            <p:nvSpPr>
              <p:cNvPr id="75" name="Rectangle 75"/>
              <p:cNvSpPr/>
              <p:nvPr/>
            </p:nvSpPr>
            <p:spPr>
              <a:xfrm>
                <a:off x="10229850" y="3009900"/>
                <a:ext cx="304800" cy="304800"/>
              </a:xfrm>
              <a:prstGeom prst="rect">
                <a:avLst/>
              </a:prstGeom>
              <a:solidFill>
                <a:srgbClr val="A4D3B2"/>
              </a:solidFill>
              <a:ln>
                <a:noFill/>
              </a:ln>
            </p:spPr>
          </p:sp>
        </p:grpSp>
        <p:grpSp>
          <p:nvGrpSpPr>
            <p:cNvPr id="89" name="Group 89"/>
            <p:cNvGrpSpPr/>
            <p:nvPr/>
          </p:nvGrpSpPr>
          <p:grpSpPr>
            <a:xfrm>
              <a:off x="6667500" y="3333750"/>
              <a:ext cx="3867150" cy="304800"/>
              <a:chOff x="6667500" y="3333750"/>
              <a:chExt cx="3867150" cy="304800"/>
            </a:xfrm>
          </p:grpSpPr>
          <p:sp>
            <p:nvSpPr>
              <p:cNvPr id="77" name="Rectangle 77"/>
              <p:cNvSpPr/>
              <p:nvPr/>
            </p:nvSpPr>
            <p:spPr>
              <a:xfrm>
                <a:off x="6667500" y="3333750"/>
                <a:ext cx="304800" cy="304800"/>
              </a:xfrm>
              <a:prstGeom prst="rect">
                <a:avLst/>
              </a:prstGeom>
              <a:solidFill>
                <a:srgbClr val="80C498"/>
              </a:solidFill>
              <a:ln>
                <a:noFill/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6991350" y="3333750"/>
                <a:ext cx="304800" cy="304800"/>
              </a:xfrm>
              <a:prstGeom prst="rect">
                <a:avLst/>
              </a:prstGeom>
              <a:solidFill>
                <a:srgbClr val="90CEA6"/>
              </a:solidFill>
              <a:ln>
                <a:noFill/>
              </a:ln>
            </p:spPr>
          </p:sp>
          <p:sp>
            <p:nvSpPr>
              <p:cNvPr id="79" name="Rectangle 79"/>
              <p:cNvSpPr/>
              <p:nvPr/>
            </p:nvSpPr>
            <p:spPr>
              <a:xfrm>
                <a:off x="7315200" y="3333750"/>
                <a:ext cx="304800" cy="304800"/>
              </a:xfrm>
              <a:prstGeom prst="rect">
                <a:avLst/>
              </a:prstGeom>
              <a:solidFill>
                <a:srgbClr val="90CEA6"/>
              </a:solidFill>
              <a:ln>
                <a:noFill/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7639050" y="3333750"/>
                <a:ext cx="304800" cy="304800"/>
              </a:xfrm>
              <a:prstGeom prst="rect">
                <a:avLst/>
              </a:prstGeom>
              <a:solidFill>
                <a:srgbClr val="80C498"/>
              </a:solidFill>
              <a:ln>
                <a:noFill/>
              </a:ln>
            </p:spPr>
          </p:sp>
          <p:sp>
            <p:nvSpPr>
              <p:cNvPr id="81" name="Rectangle 81"/>
              <p:cNvSpPr/>
              <p:nvPr/>
            </p:nvSpPr>
            <p:spPr>
              <a:xfrm>
                <a:off x="7962900" y="3333750"/>
                <a:ext cx="304800" cy="304800"/>
              </a:xfrm>
              <a:prstGeom prst="rect">
                <a:avLst/>
              </a:prstGeom>
              <a:solidFill>
                <a:srgbClr val="6CBC82"/>
              </a:solidFill>
              <a:ln>
                <a:noFill/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8286750" y="3333750"/>
                <a:ext cx="304800" cy="304800"/>
              </a:xfrm>
              <a:prstGeom prst="rect">
                <a:avLst/>
              </a:prstGeom>
              <a:solidFill>
                <a:srgbClr val="58B072"/>
              </a:solidFill>
              <a:ln>
                <a:noFill/>
              </a:ln>
            </p:spPr>
          </p:sp>
          <p:sp>
            <p:nvSpPr>
              <p:cNvPr id="83" name="Rectangle 83"/>
              <p:cNvSpPr/>
              <p:nvPr/>
            </p:nvSpPr>
            <p:spPr>
              <a:xfrm>
                <a:off x="8610600" y="3333750"/>
                <a:ext cx="304800" cy="304800"/>
              </a:xfrm>
              <a:prstGeom prst="rect">
                <a:avLst/>
              </a:prstGeom>
              <a:solidFill>
                <a:srgbClr val="64B87C"/>
              </a:solidFill>
              <a:ln>
                <a:noFill/>
              </a:ln>
            </p:spPr>
          </p:sp>
          <p:sp>
            <p:nvSpPr>
              <p:cNvPr id="84" name="Rectangle 84"/>
              <p:cNvSpPr/>
              <p:nvPr/>
            </p:nvSpPr>
            <p:spPr>
              <a:xfrm>
                <a:off x="8934450" y="3333750"/>
                <a:ext cx="304800" cy="304800"/>
              </a:xfrm>
              <a:prstGeom prst="rect">
                <a:avLst/>
              </a:prstGeom>
              <a:solidFill>
                <a:srgbClr val="6CBC82"/>
              </a:solidFill>
              <a:ln>
                <a:noFill/>
              </a:ln>
            </p:spPr>
          </p:sp>
          <p:sp>
            <p:nvSpPr>
              <p:cNvPr id="85" name="Rectangle 85"/>
              <p:cNvSpPr/>
              <p:nvPr/>
            </p:nvSpPr>
            <p:spPr>
              <a:xfrm>
                <a:off x="9258300" y="3333750"/>
                <a:ext cx="304800" cy="304800"/>
              </a:xfrm>
              <a:prstGeom prst="rect">
                <a:avLst/>
              </a:prstGeom>
              <a:solidFill>
                <a:srgbClr val="80C498"/>
              </a:solidFill>
              <a:ln>
                <a:noFill/>
              </a:ln>
            </p:spPr>
          </p:sp>
          <p:sp>
            <p:nvSpPr>
              <p:cNvPr id="86" name="Rectangle 86"/>
              <p:cNvSpPr/>
              <p:nvPr/>
            </p:nvSpPr>
            <p:spPr>
              <a:xfrm>
                <a:off x="9582150" y="3333750"/>
                <a:ext cx="304800" cy="304800"/>
              </a:xfrm>
              <a:prstGeom prst="rect">
                <a:avLst/>
              </a:prstGeom>
              <a:solidFill>
                <a:srgbClr val="80C498"/>
              </a:solidFill>
              <a:ln>
                <a:noFill/>
              </a:ln>
            </p:spPr>
          </p:sp>
          <p:sp>
            <p:nvSpPr>
              <p:cNvPr id="87" name="Rectangle 87"/>
              <p:cNvSpPr/>
              <p:nvPr/>
            </p:nvSpPr>
            <p:spPr>
              <a:xfrm>
                <a:off x="9906000" y="3333750"/>
                <a:ext cx="304800" cy="304800"/>
              </a:xfrm>
              <a:prstGeom prst="rect">
                <a:avLst/>
              </a:prstGeom>
              <a:solidFill>
                <a:srgbClr val="80C498"/>
              </a:solidFill>
              <a:ln>
                <a:noFill/>
              </a:ln>
            </p:spPr>
          </p:sp>
          <p:sp>
            <p:nvSpPr>
              <p:cNvPr id="88" name="Rectangle 88"/>
              <p:cNvSpPr/>
              <p:nvPr/>
            </p:nvSpPr>
            <p:spPr>
              <a:xfrm>
                <a:off x="10229850" y="3333750"/>
                <a:ext cx="304800" cy="304800"/>
              </a:xfrm>
              <a:prstGeom prst="rect">
                <a:avLst/>
              </a:prstGeom>
              <a:solidFill>
                <a:srgbClr val="90CEA6"/>
              </a:solidFill>
              <a:ln>
                <a:noFill/>
              </a:ln>
            </p:spPr>
          </p:sp>
        </p:grpSp>
      </p:grpSp>
      <p:sp>
        <p:nvSpPr>
          <p:cNvPr id="91" name="TextBox 91"/>
          <p:cNvSpPr txBox="1"/>
          <p:nvPr/>
        </p:nvSpPr>
        <p:spPr>
          <a:xfrm>
            <a:off x="6662738" y="3911441"/>
            <a:ext cx="168742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19×12 先验表示意（代表性 6 类）</a:t>
            </a:r>
          </a:p>
        </p:txBody>
      </p:sp>
      <p:sp>
        <p:nvSpPr>
          <p:cNvPr id="92" name="Rectangle 92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7784" y="232410"/>
            <a:ext cx="5370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在时间融合基础上引入物候先验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62000" y="1047750"/>
            <a:ext cx="10144125" cy="2381250"/>
            <a:chOff x="762000" y="1047750"/>
            <a:chExt cx="10144125" cy="2381250"/>
          </a:xfrm>
        </p:grpSpPr>
        <p:sp>
          <p:nvSpPr>
            <p:cNvPr id="3" name="Rectangle 3"/>
            <p:cNvSpPr/>
            <p:nvPr/>
          </p:nvSpPr>
          <p:spPr>
            <a:xfrm>
              <a:off x="762000" y="1047750"/>
              <a:ext cx="50482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1861" y="1153478"/>
              <a:ext cx="20885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模型从数据中学习（时间建模）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857875" y="1047750"/>
              <a:ext cx="50482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67627" y="1153478"/>
              <a:ext cx="1628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外部物候先验（P_ext）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762000" y="1371600"/>
              <a:ext cx="10144125" cy="514350"/>
              <a:chOff x="762000" y="1371600"/>
              <a:chExt cx="10144125" cy="5143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371600"/>
                <a:ext cx="5048250" cy="514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98779" y="1565910"/>
                <a:ext cx="17302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输入：</a:t>
                </a: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Galileo 逐月特征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5857875" y="1371600"/>
                <a:ext cx="5048250" cy="514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5994654" y="1565910"/>
                <a:ext cx="22253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输入：</a:t>
                </a: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类别-月份农学知识矩阵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62000" y="1885950"/>
              <a:ext cx="10144125" cy="514350"/>
              <a:chOff x="762000" y="1885950"/>
              <a:chExt cx="10144125" cy="5143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1885950"/>
                <a:ext cx="5048250" cy="514350"/>
              </a:xfrm>
              <a:prstGeom prst="rect">
                <a:avLst/>
              </a:prstGeom>
              <a:solidFill>
                <a:srgbClr val="EDEEEC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98779" y="2080260"/>
                <a:ext cx="3018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来源：</a:t>
                </a: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训练数据（PASTIS folds 1/2/3）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5857875" y="1885950"/>
                <a:ext cx="5048250" cy="514350"/>
              </a:xfrm>
              <a:prstGeom prst="rect">
                <a:avLst/>
              </a:prstGeom>
              <a:solidFill>
                <a:srgbClr val="EDEEEC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5994654" y="2080260"/>
                <a:ext cx="294421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来源：</a:t>
                </a: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农学文献、种植制度（外部知识）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62000" y="2400300"/>
              <a:ext cx="10144125" cy="514350"/>
              <a:chOff x="762000" y="2400300"/>
              <a:chExt cx="10144125" cy="5143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762000" y="2400300"/>
                <a:ext cx="5048250" cy="514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98779" y="2594610"/>
                <a:ext cx="31057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局限：</a:t>
                </a: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依赖样本分布、可能过拟合低频类别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857875" y="2400300"/>
                <a:ext cx="5048250" cy="514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994654" y="2594610"/>
                <a:ext cx="36065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表达：</a:t>
                </a: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19×12 软矩阵 [0,1]，非概率、非硬性真值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762000" y="2914650"/>
              <a:ext cx="10144125" cy="514350"/>
              <a:chOff x="762000" y="2914650"/>
              <a:chExt cx="10144125" cy="5143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762000" y="2914650"/>
                <a:ext cx="5048250" cy="514350"/>
              </a:xfrm>
              <a:prstGeom prst="rect">
                <a:avLst/>
              </a:prstGeom>
              <a:solidFill>
                <a:srgbClr val="EDEEEC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98779" y="3108960"/>
                <a:ext cx="34709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方式：</a:t>
                </a: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通过可学习 Temporal Readout 加权月份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5857875" y="2914650"/>
                <a:ext cx="5048250" cy="514350"/>
              </a:xfrm>
              <a:prstGeom prst="rect">
                <a:avLst/>
              </a:prstGeom>
              <a:solidFill>
                <a:srgbClr val="EDEEEC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994654" y="3108960"/>
                <a:ext cx="38441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方式：</a:t>
                </a: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MLP 投影 → 残差注入（独立旁路，可关闭）</a:t>
                </a:r>
              </a:p>
            </p:txBody>
          </p:sp>
        </p:grpSp>
      </p:grpSp>
      <p:sp>
        <p:nvSpPr>
          <p:cNvPr id="28" name="Rectangle 28"/>
          <p:cNvSpPr/>
          <p:nvPr/>
        </p:nvSpPr>
        <p:spPr>
          <a:xfrm>
            <a:off x="762000" y="4000500"/>
            <a:ext cx="104775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33589" y="4254818"/>
            <a:ext cx="103343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研究假设：在 frozen Galileo 的逐月上下文化特征上，类别-月份物候知识能否为时间融合提供独立且可解释的条件信息？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904" y="5109210"/>
            <a:ext cx="67243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它不是替代图像特征，也不是人为指定最终类别，而是给时间融合提供独立的类别-月份知识。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7784" y="232410"/>
            <a:ext cx="5370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物候先验的构建与不确定性处理</a:t>
            </a:r>
          </a:p>
        </p:txBody>
      </p:sp>
      <p:sp>
        <p:nvSpPr>
          <p:cNvPr id="3" name="Rectangle 3"/>
          <p:cNvSpPr/>
          <p:nvPr/>
        </p:nvSpPr>
        <p:spPr>
          <a:xfrm>
            <a:off x="571500" y="952500"/>
            <a:ext cx="3810000" cy="1047750"/>
          </a:xfrm>
          <a:prstGeom prst="rect">
            <a:avLst/>
          </a:prstGeom>
          <a:solidFill>
            <a:srgbClr val="FFFFFF"/>
          </a:solidFill>
          <a:ln w="23812">
            <a:solidFill>
              <a:srgbClr val="A94A52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848868" y="1107758"/>
            <a:ext cx="330688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A94A52"/>
                </a:solidFill>
                <a:latin typeface="Consolas"/>
                <a:ea typeface="Consolas"/>
                <a:cs typeface="Consolas"/>
              </a:rPr>
              <a:t>P_ext[class, month] ∈ [0,1]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1154" y="1489710"/>
            <a:ext cx="21041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19 个有效类别 × 12 个自然月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2297" y="1780699"/>
            <a:ext cx="17447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相对活动程度 / 潜在辨识价值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71500" y="2381250"/>
            <a:ext cx="7143750" cy="1790700"/>
            <a:chOff x="571500" y="2381250"/>
            <a:chExt cx="7143750" cy="1790700"/>
          </a:xfrm>
        </p:grpSpPr>
        <p:sp>
          <p:nvSpPr>
            <p:cNvPr id="7" name="Rectangle 7"/>
            <p:cNvSpPr/>
            <p:nvPr/>
          </p:nvSpPr>
          <p:spPr>
            <a:xfrm>
              <a:off x="571500" y="2381250"/>
              <a:ext cx="28575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9612" y="249364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类别类型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429000" y="2381250"/>
              <a:ext cx="66675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30397" y="2493645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数量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095750" y="2381250"/>
              <a:ext cx="36195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233862" y="2493645"/>
              <a:ext cx="645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第一版处理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686050"/>
              <a:ext cx="28575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8660" y="2878931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可对应主要作物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429000" y="2686050"/>
              <a:ext cx="66675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673734" y="28789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dk1"/>
                  </a:solidFill>
                  <a:latin typeface="Aptos"/>
                  <a:ea typeface="Aptos"/>
                  <a:cs typeface="Aptos"/>
                </a:rPr>
                <a:t>13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095750" y="2686050"/>
              <a:ext cx="36195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232910" y="28789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来源支持的宽软曲线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" y="3181350"/>
              <a:ext cx="2857500" cy="495300"/>
            </a:xfrm>
            <a:prstGeom prst="rect">
              <a:avLst/>
            </a:prstGeom>
            <a:solidFill>
              <a:srgbClr val="EDEEE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8660" y="3374231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94A52"/>
                  </a:solidFill>
                  <a:latin typeface="+mn-lt"/>
                  <a:ea typeface="+mn-ea"/>
                  <a:cs typeface="+mn-cs"/>
                </a:rPr>
                <a:t>聚合或混合类别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429000" y="3181350"/>
              <a:ext cx="666750" cy="495300"/>
            </a:xfrm>
            <a:prstGeom prst="rect">
              <a:avLst/>
            </a:prstGeom>
            <a:solidFill>
              <a:srgbClr val="EDEEE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15197" y="33742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dk1"/>
                  </a:solidFill>
                  <a:latin typeface="Aptos"/>
                  <a:ea typeface="Aptos"/>
                  <a:cs typeface="Aptos"/>
                </a:rPr>
                <a:t>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95750" y="3181350"/>
              <a:ext cx="3619500" cy="495300"/>
            </a:xfrm>
            <a:prstGeom prst="rect">
              <a:avLst/>
            </a:prstGeom>
            <a:solidFill>
              <a:srgbClr val="EDEEE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32910" y="3374231"/>
              <a:ext cx="19326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均匀、宽窗口或后续 P_data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" y="3676650"/>
              <a:ext cx="28575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8660" y="3869531"/>
              <a:ext cx="8870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Background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429000" y="3676650"/>
              <a:ext cx="66675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15197" y="38695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dk1"/>
                  </a:solidFill>
                  <a:latin typeface="Aptos"/>
                  <a:ea typeface="Aptos"/>
                  <a:cs typeface="Aptos"/>
                </a:rPr>
                <a:t>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095750" y="3676650"/>
              <a:ext cx="36195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32910" y="38695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中性先验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7429500" y="952500"/>
            <a:ext cx="4000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AC5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708392" y="11877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关键考虑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7709535" y="1497806"/>
            <a:ext cx="2431644" cy="1858328"/>
            <a:chOff x="7709535" y="1497806"/>
            <a:chExt cx="2431644" cy="1858328"/>
          </a:xfrm>
        </p:grpSpPr>
        <p:sp>
          <p:nvSpPr>
            <p:cNvPr id="34" name="TextBox 34"/>
            <p:cNvSpPr txBox="1"/>
            <p:nvPr/>
          </p:nvSpPr>
          <p:spPr>
            <a:xfrm>
              <a:off x="7709535" y="1497806"/>
              <a:ext cx="1940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PASTIS 覆盖法国四个区域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09535" y="1802606"/>
              <a:ext cx="19416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品种、播期和气候存在差异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09535" y="2164556"/>
              <a:ext cx="14893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第一版只使用软曲线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09535" y="2469356"/>
              <a:ext cx="24316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不使用单一特征日期或 0/1 硬筛选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09535" y="2831306"/>
              <a:ext cx="21828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外部先验会与仅由 train folds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52410" y="3136106"/>
              <a:ext cx="21700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统计的 NDVI 月度曲线分别比较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565404" y="4728210"/>
            <a:ext cx="79278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聚合类别（草地、果蔬花卉、豆科饲料、果园、混合谷物）不强行指定一种代表植物，暂时使用中性或宽窗口。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7784" y="232410"/>
            <a:ext cx="422555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通用物候旁路的注入方式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1524000"/>
            <a:ext cx="2667000" cy="1143000"/>
          </a:xfrm>
          <a:prstGeom prst="rect">
            <a:avLst/>
          </a:prstGeom>
          <a:solidFill>
            <a:srgbClr val="D8E6DF"/>
          </a:solidFill>
          <a:ln w="23812">
            <a:solidFill>
              <a:schemeClr val="accent1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1456731" y="1823085"/>
            <a:ext cx="12775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Galileo 逐月特征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58227" y="2180749"/>
            <a:ext cx="167454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F[l,t] : [B,T,768,H,W]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78082" y="2463641"/>
            <a:ext cx="123483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(图像主分支，保持不变)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61207" y="1945005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chemeClr val="accent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Rectangle 8"/>
          <p:cNvSpPr/>
          <p:nvPr/>
        </p:nvSpPr>
        <p:spPr>
          <a:xfrm>
            <a:off x="3905250" y="1381125"/>
            <a:ext cx="2571750" cy="1428750"/>
          </a:xfrm>
          <a:prstGeom prst="rect">
            <a:avLst/>
          </a:prstGeom>
          <a:solidFill>
            <a:srgbClr val="FFFFFF"/>
          </a:solidFill>
          <a:ln w="28575">
            <a:solidFill>
              <a:schemeClr val="accent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396849" y="1616392"/>
            <a:ext cx="15885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8B6914"/>
                </a:solidFill>
                <a:latin typeface="Consolas"/>
                <a:ea typeface="Consolas"/>
                <a:cs typeface="Consolas"/>
              </a:rPr>
              <a:t>F'[l,t] = F + a·q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03089" y="1934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残差注入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57722" y="2244566"/>
            <a:ext cx="86680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chemeClr val="dk2"/>
                </a:solidFill>
                <a:latin typeface="Consolas"/>
                <a:ea typeface="Consolas"/>
                <a:cs typeface="Consolas"/>
              </a:rPr>
              <a:t>[B,T,768,H,W]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50654" y="2538412"/>
            <a:ext cx="68094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768维黄色描边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09207" y="1945005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chemeClr val="accent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953250" y="1381125"/>
            <a:ext cx="3048000" cy="142875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15" name="TextBox 15"/>
          <p:cNvSpPr txBox="1"/>
          <p:nvPr/>
        </p:nvSpPr>
        <p:spPr>
          <a:xfrm>
            <a:off x="8131912" y="1727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时间模块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77188" y="202977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→ 空间 decoder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72853" y="2339816"/>
            <a:ext cx="120879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Temporal Readout / 3D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43634" y="2594134"/>
            <a:ext cx="467233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可替换插槽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52589" y="3609499"/>
            <a:ext cx="15055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A94A52"/>
                </a:solidFill>
                <a:latin typeface="Consolas"/>
                <a:ea typeface="Consolas"/>
                <a:cs typeface="Consolas"/>
              </a:rPr>
              <a:t>q[t] : [B,T,768,1,1]</a:t>
            </a:r>
          </a:p>
        </p:txBody>
      </p:sp>
      <p:sp>
        <p:nvSpPr>
          <p:cNvPr id="20" name="Line 20"/>
          <p:cNvSpPr/>
          <p:nvPr/>
        </p:nvSpPr>
        <p:spPr>
          <a:xfrm>
            <a:off x="4905375" y="2809875"/>
            <a:ext cx="9525" cy="1000125"/>
          </a:xfrm>
          <a:custGeom>
            <a:avLst/>
            <a:gdLst/>
            <a:ahLst/>
            <a:cxnLst/>
            <a:rect l="l" t="t" r="r" b="b"/>
            <a:pathLst>
              <a:path w="9525" h="1000125">
                <a:moveTo>
                  <a:pt x="0" y="1000125"/>
                </a:moveTo>
                <a:lnTo>
                  <a:pt x="0" y="0"/>
                </a:lnTo>
              </a:path>
            </a:pathLst>
          </a:custGeom>
          <a:noFill/>
          <a:ln w="23812">
            <a:solidFill>
              <a:srgbClr val="A94A52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4838700" y="2762250"/>
            <a:ext cx="133350" cy="190500"/>
          </a:xfrm>
          <a:custGeom>
            <a:avLst/>
            <a:gdLst/>
            <a:ahLst/>
            <a:cxnLst/>
            <a:rect l="l" t="t" r="r" b="b"/>
            <a:pathLst>
              <a:path w="133350" h="190500">
                <a:moveTo>
                  <a:pt x="0" y="190500"/>
                </a:moveTo>
                <a:lnTo>
                  <a:pt x="66675" y="0"/>
                </a:lnTo>
                <a:lnTo>
                  <a:pt x="133350" y="190500"/>
                </a:lnTo>
                <a:close/>
              </a:path>
            </a:pathLst>
          </a:custGeom>
          <a:solidFill>
            <a:srgbClr val="A94A52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3524250" y="3952875"/>
            <a:ext cx="2762250" cy="666750"/>
          </a:xfrm>
          <a:prstGeom prst="rect">
            <a:avLst/>
          </a:prstGeom>
          <a:solidFill>
            <a:srgbClr val="F5EAE6"/>
          </a:solidFill>
          <a:ln w="23812">
            <a:solidFill>
              <a:srgbClr val="A94A52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034531" y="4137660"/>
            <a:ext cx="1741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A94A52"/>
                </a:solidFill>
                <a:latin typeface="Consolas"/>
                <a:ea typeface="Consolas"/>
                <a:cs typeface="Consolas"/>
              </a:rPr>
              <a:t>MLP(19 → 128 → 768)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052506" y="4427220"/>
            <a:ext cx="17057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轻量投影，先验从独立分支进入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972344" y="4663440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dirty="0">
                <a:solidFill>
                  <a:srgbClr val="A94A52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6" name="Rectangle 26"/>
          <p:cNvSpPr/>
          <p:nvPr/>
        </p:nvSpPr>
        <p:spPr>
          <a:xfrm>
            <a:off x="2952750" y="5000625"/>
            <a:ext cx="2381250" cy="666750"/>
          </a:xfrm>
          <a:prstGeom prst="rect">
            <a:avLst/>
          </a:prstGeom>
          <a:solidFill>
            <a:srgbClr val="F5EAE6"/>
          </a:solidFill>
          <a:ln w="23812">
            <a:solidFill>
              <a:srgbClr val="A94A52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3443988" y="5201602"/>
            <a:ext cx="13987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A94A52"/>
                </a:solidFill>
                <a:latin typeface="+mn-lt"/>
                <a:ea typeface="+mn-ea"/>
                <a:cs typeface="+mn-cs"/>
              </a:rPr>
              <a:t>P_ext[:, month_t]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10049" y="5473541"/>
            <a:ext cx="14666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19×12 软矩阵 → 取当前月份列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5904" y="6156960"/>
            <a:ext cx="79267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旁路特点：</a:t>
            </a:r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Galileo 图像主分支保持不变 | 先验从独立元数据分支进入 | 可通过配置完全关闭 | 统一输出 768 维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7784" y="232410"/>
            <a:ext cx="422555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物候先验的受控验证方案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71500" y="952500"/>
            <a:ext cx="11049000" cy="2038350"/>
            <a:chOff x="571500" y="952500"/>
            <a:chExt cx="11049000" cy="2038350"/>
          </a:xfrm>
        </p:grpSpPr>
        <p:sp>
          <p:nvSpPr>
            <p:cNvPr id="3" name="Rectangle 3"/>
            <p:cNvSpPr/>
            <p:nvPr/>
          </p:nvSpPr>
          <p:spPr>
            <a:xfrm>
              <a:off x="571500" y="952500"/>
              <a:ext cx="6667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1398" y="1066324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ptos"/>
                  <a:ea typeface="Microsoft YaHei"/>
                  <a:cs typeface="Aptos"/>
                </a:rPr>
                <a:t>实验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238250" y="952500"/>
              <a:ext cx="1905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8749" y="106632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先验设置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143250" y="952500"/>
              <a:ext cx="43815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051999" y="106632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研究目的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524750" y="952500"/>
              <a:ext cx="40957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90624" y="106632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预期解释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571500" y="1276350"/>
              <a:ext cx="11049000" cy="571500"/>
              <a:chOff x="571500" y="1276350"/>
              <a:chExt cx="11049000" cy="5715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276350"/>
                <a:ext cx="11049000" cy="571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87123" y="1483042"/>
                <a:ext cx="2355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dk1"/>
                    </a:solidFill>
                    <a:latin typeface="Aptos"/>
                    <a:ea typeface="Aptos"/>
                    <a:cs typeface="Aptos"/>
                  </a:rPr>
                  <a:t>P0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958873" y="1507331"/>
                <a:ext cx="46375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无先验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65102" y="1507331"/>
                <a:ext cx="173779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固定 decoder 的严格基线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719185" y="1515428"/>
                <a:ext cx="17068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量化无外部知识的性能上限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71500" y="1847850"/>
              <a:ext cx="11049000" cy="571500"/>
              <a:chOff x="571500" y="1847850"/>
              <a:chExt cx="11049000" cy="5715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71500" y="1847850"/>
                <a:ext cx="11049000" cy="571500"/>
              </a:xfrm>
              <a:prstGeom prst="rect">
                <a:avLst/>
              </a:prstGeom>
              <a:solidFill>
                <a:srgbClr val="EDEEEC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87123" y="2054542"/>
                <a:ext cx="2355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A94A52"/>
                    </a:solidFill>
                    <a:latin typeface="Aptos"/>
                    <a:ea typeface="Aptos"/>
                    <a:cs typeface="Aptos"/>
                  </a:rPr>
                  <a:t>P1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779638" y="2078831"/>
                <a:ext cx="8222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A94A52"/>
                    </a:solidFill>
                    <a:latin typeface="+mn-lt"/>
                    <a:ea typeface="+mn-ea"/>
                    <a:cs typeface="+mn-cs"/>
                  </a:rPr>
                  <a:t>正确 P_ext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272864" y="2078831"/>
                <a:ext cx="21222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判断外部物候知识是否带来增益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23936" y="2086928"/>
                <a:ext cx="24973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若 P1 &gt; P0，说明先验提供了额外信息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71500" y="2419350"/>
              <a:ext cx="11049000" cy="571500"/>
              <a:chOff x="571500" y="2419350"/>
              <a:chExt cx="11049000" cy="5715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71500" y="2419350"/>
                <a:ext cx="11049000" cy="571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87123" y="2626042"/>
                <a:ext cx="2355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dk1"/>
                    </a:solidFill>
                    <a:latin typeface="Aptos"/>
                    <a:ea typeface="Aptos"/>
                    <a:cs typeface="Aptos"/>
                  </a:rPr>
                  <a:t>P2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646034" y="2650331"/>
                <a:ext cx="108943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类别置乱 P_ext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122090" y="2650331"/>
                <a:ext cx="242382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排除额外参数或普通月份偏置的影响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6892" y="2658428"/>
                <a:ext cx="213146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若 P1 &gt; P2，排除容量/偏置假说</a:t>
                </a:r>
              </a:p>
            </p:txBody>
          </p:sp>
        </p:grpSp>
      </p:grpSp>
      <p:sp>
        <p:nvSpPr>
          <p:cNvPr id="30" name="Rectangle 30"/>
          <p:cNvSpPr/>
          <p:nvPr/>
        </p:nvSpPr>
        <p:spPr>
          <a:xfrm>
            <a:off x="571500" y="3333750"/>
            <a:ext cx="10858500" cy="523875"/>
          </a:xfrm>
          <a:prstGeom prst="rect">
            <a:avLst/>
          </a:prstGeom>
          <a:solidFill>
            <a:srgbClr val="FDF6E3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016792" y="3519964"/>
            <a:ext cx="596791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8B6914"/>
                </a:solidFill>
                <a:latin typeface="Consolas"/>
                <a:ea typeface="Microsoft YaHei"/>
                <a:cs typeface="Consolas"/>
              </a:rPr>
              <a:t>判定原则：只有 P1 &gt; P0 且 P1 &gt; P2，才能支持正确类别-月份关系有效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4642" y="4140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可替换结果区（训练中）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571500" y="4572000"/>
            <a:ext cx="11049000" cy="1352550"/>
            <a:chOff x="571500" y="4572000"/>
            <a:chExt cx="11049000" cy="1352550"/>
          </a:xfrm>
        </p:grpSpPr>
        <p:sp>
          <p:nvSpPr>
            <p:cNvPr id="33" name="Rectangle 33"/>
            <p:cNvSpPr/>
            <p:nvPr/>
          </p:nvSpPr>
          <p:spPr>
            <a:xfrm>
              <a:off x="571500" y="4572000"/>
              <a:ext cx="857250" cy="266700"/>
            </a:xfrm>
            <a:prstGeom prst="rect">
              <a:avLst/>
            </a:prstGeom>
            <a:solidFill>
              <a:srgbClr val="E8E9E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8147" y="465582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2"/>
                  </a:solidFill>
                  <a:latin typeface="Aptos"/>
                  <a:ea typeface="Microsoft YaHei"/>
                  <a:cs typeface="Aptos"/>
                </a:rPr>
                <a:t>实验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428750" y="4572000"/>
              <a:ext cx="2667000" cy="266700"/>
            </a:xfrm>
            <a:prstGeom prst="rect">
              <a:avLst/>
            </a:prstGeom>
            <a:solidFill>
              <a:srgbClr val="E8E9E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937196" y="4655820"/>
              <a:ext cx="8298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chemeClr val="dk2"/>
                  </a:solidFill>
                  <a:latin typeface="Aptos"/>
                  <a:ea typeface="Aptos"/>
                  <a:cs typeface="Aptos"/>
                </a:rPr>
                <a:t>Best val mIoU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095750" y="4572000"/>
              <a:ext cx="2190750" cy="266700"/>
            </a:xfrm>
            <a:prstGeom prst="rect">
              <a:avLst/>
            </a:prstGeom>
            <a:solidFill>
              <a:srgbClr val="E8E9E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82252" y="4655820"/>
              <a:ext cx="6136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chemeClr val="dk2"/>
                  </a:solidFill>
                  <a:latin typeface="Aptos"/>
                  <a:ea typeface="Aptos"/>
                  <a:cs typeface="Aptos"/>
                </a:rPr>
                <a:t>Test mIoU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86500" y="4572000"/>
              <a:ext cx="5334000" cy="266700"/>
            </a:xfrm>
            <a:prstGeom prst="rect">
              <a:avLst/>
            </a:prstGeom>
            <a:solidFill>
              <a:srgbClr val="E8E9E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567090" y="4655820"/>
              <a:ext cx="7728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重点受益类别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571500" y="4838700"/>
              <a:ext cx="11049000" cy="361950"/>
              <a:chOff x="571500" y="4838700"/>
              <a:chExt cx="11049000" cy="3619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571500" y="4838700"/>
                <a:ext cx="857250" cy="361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18505" y="4971574"/>
                <a:ext cx="16324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dk2"/>
                    </a:solidFill>
                    <a:latin typeface="Aptos"/>
                    <a:ea typeface="Aptos"/>
                    <a:cs typeface="Aptos"/>
                  </a:rPr>
                  <a:t>P0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1428750" y="4838700"/>
                <a:ext cx="2667000" cy="361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2025099" y="4971574"/>
                <a:ext cx="74210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训练中/待补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4095750" y="4838700"/>
                <a:ext cx="2190750" cy="361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4922317" y="4971574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待补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6286500" y="4838700"/>
                <a:ext cx="5334000" cy="361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816619" y="4971574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待补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571500" y="5200650"/>
              <a:ext cx="11049000" cy="361950"/>
              <a:chOff x="571500" y="5200650"/>
              <a:chExt cx="11049000" cy="3619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571500" y="5200650"/>
                <a:ext cx="857250" cy="361950"/>
              </a:xfrm>
              <a:prstGeom prst="rect">
                <a:avLst/>
              </a:prstGeom>
              <a:solidFill>
                <a:srgbClr val="EDEEEC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18505" y="5333524"/>
                <a:ext cx="16324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dk2"/>
                    </a:solidFill>
                    <a:latin typeface="Aptos"/>
                    <a:ea typeface="Aptos"/>
                    <a:cs typeface="Aptos"/>
                  </a:rPr>
                  <a:t>P1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1428750" y="5200650"/>
                <a:ext cx="2667000" cy="361950"/>
              </a:xfrm>
              <a:prstGeom prst="rect">
                <a:avLst/>
              </a:prstGeom>
              <a:solidFill>
                <a:srgbClr val="EDEEEC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2025099" y="5333524"/>
                <a:ext cx="74210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训练中/待补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4095750" y="5200650"/>
                <a:ext cx="2190750" cy="361950"/>
              </a:xfrm>
              <a:prstGeom prst="rect">
                <a:avLst/>
              </a:prstGeom>
              <a:solidFill>
                <a:srgbClr val="EDEEEC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4922317" y="5333524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待补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6286500" y="5200650"/>
                <a:ext cx="5334000" cy="361950"/>
              </a:xfrm>
              <a:prstGeom prst="rect">
                <a:avLst/>
              </a:prstGeom>
              <a:solidFill>
                <a:srgbClr val="EDEEEC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816619" y="5333524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待补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571500" y="5562600"/>
              <a:ext cx="11049000" cy="361950"/>
              <a:chOff x="571500" y="5562600"/>
              <a:chExt cx="11049000" cy="36195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571500" y="5562600"/>
                <a:ext cx="857250" cy="361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918505" y="5695474"/>
                <a:ext cx="16324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dk2"/>
                    </a:solidFill>
                    <a:latin typeface="Aptos"/>
                    <a:ea typeface="Aptos"/>
                    <a:cs typeface="Aptos"/>
                  </a:rPr>
                  <a:t>P2</a:t>
                </a: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1428750" y="5562600"/>
                <a:ext cx="2667000" cy="361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2025099" y="5695474"/>
                <a:ext cx="74210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训练中/待补</a:t>
                </a:r>
              </a:p>
            </p:txBody>
          </p:sp>
          <p:sp>
            <p:nvSpPr>
              <p:cNvPr id="63" name="Rectangle 63"/>
              <p:cNvSpPr/>
              <p:nvPr/>
            </p:nvSpPr>
            <p:spPr>
              <a:xfrm>
                <a:off x="4095750" y="5562600"/>
                <a:ext cx="2190750" cy="361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4922317" y="5695474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待补</a:t>
                </a:r>
              </a:p>
            </p:txBody>
          </p:sp>
          <p:sp>
            <p:nvSpPr>
              <p:cNvPr id="65" name="Rectangle 65"/>
              <p:cNvSpPr/>
              <p:nvPr/>
            </p:nvSpPr>
            <p:spPr>
              <a:xfrm>
                <a:off x="6286500" y="5562600"/>
                <a:ext cx="5334000" cy="361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8816619" y="5695474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待补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7784" y="232410"/>
            <a:ext cx="384390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分类别证据与阶段结论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4642" y="854392"/>
            <a:ext cx="27118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结果展示从单一 mIoU 扩展为：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71500" y="1190625"/>
            <a:ext cx="11096625" cy="968312"/>
            <a:chOff x="571500" y="1190625"/>
            <a:chExt cx="11096625" cy="968312"/>
          </a:xfrm>
        </p:grpSpPr>
        <p:sp>
          <p:nvSpPr>
            <p:cNvPr id="4" name="Rectangle 4"/>
            <p:cNvSpPr/>
            <p:nvPr/>
          </p:nvSpPr>
          <p:spPr>
            <a:xfrm>
              <a:off x="571500" y="1190625"/>
              <a:ext cx="2667000" cy="952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685354" y="140970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总体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59598" y="1763078"/>
              <a:ext cx="10908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mIoU / F1 / loss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381375" y="1190625"/>
              <a:ext cx="2667000" cy="952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495228" y="140970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63769" y="1763078"/>
              <a:ext cx="17022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19 类 per-class IoU 与 F1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191250" y="1190625"/>
              <a:ext cx="2667000" cy="952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05104" y="140970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混淆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41986" y="176307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重点困难类别与易混类别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001125" y="1190625"/>
              <a:ext cx="2667000" cy="952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114978" y="140970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59207" y="1763078"/>
              <a:ext cx="1350836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500"/>
                </a:lnSpc>
              </a:pPr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RGB / GT / prediction / error map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63880" y="2505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阶段结论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905125"/>
            <a:ext cx="5238750" cy="24765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1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0392" y="309276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已完成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51154" y="3394710"/>
            <a:ext cx="4199412" cy="1234821"/>
            <a:chOff x="851154" y="3394710"/>
            <a:chExt cx="4199412" cy="1234821"/>
          </a:xfrm>
        </p:grpSpPr>
        <p:sp>
          <p:nvSpPr>
            <p:cNvPr id="20" name="TextBox 20"/>
            <p:cNvSpPr txBox="1"/>
            <p:nvPr/>
          </p:nvSpPr>
          <p:spPr>
            <a:xfrm>
              <a:off x="851154" y="3394710"/>
              <a:ext cx="4089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1. 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建立从 Linear Head 到多类空间 decoder 的对照体系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1154" y="3728085"/>
              <a:ext cx="3642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2. 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从固定时间平均推进到两类可学习时间融合路线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1154" y="4061460"/>
              <a:ext cx="41994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3. 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完成与 decoder 解耦的物候先验旁路和反事实消融设计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1154" y="4394835"/>
              <a:ext cx="29959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4. 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补充分类别指标和预测可视化呈现方案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6191250" y="2905125"/>
            <a:ext cx="5238750" cy="24765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470142" y="30927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8B6914"/>
                </a:solidFill>
                <a:latin typeface="+mn-lt"/>
                <a:ea typeface="+mn-ea"/>
                <a:cs typeface="+mn-cs"/>
              </a:rPr>
              <a:t>正在验证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471285" y="3402806"/>
            <a:ext cx="2868889" cy="1972628"/>
            <a:chOff x="6471285" y="3402806"/>
            <a:chExt cx="2868889" cy="1972628"/>
          </a:xfrm>
        </p:grpSpPr>
        <p:sp>
          <p:nvSpPr>
            <p:cNvPr id="27" name="TextBox 27"/>
            <p:cNvSpPr txBox="1"/>
            <p:nvPr/>
          </p:nvSpPr>
          <p:spPr>
            <a:xfrm>
              <a:off x="6471285" y="3402806"/>
              <a:ext cx="19416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新时间与物候实验仍在运行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1285" y="3707606"/>
              <a:ext cx="14893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结论以受控结果为准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71285" y="4012406"/>
              <a:ext cx="28688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本阶段主要推进不是新增某一个 decoder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71285" y="4317206"/>
              <a:ext cx="2092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而是把科研变量重新拆清楚：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85585" y="4622006"/>
              <a:ext cx="2063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空间 decoder</a:t>
              </a:r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→ 空间结构恢复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85585" y="4888706"/>
              <a:ext cx="2253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时间模块</a:t>
              </a:r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→ Galileo 逐月输出读取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85585" y="5155406"/>
              <a:ext cx="2024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物候旁路</a:t>
              </a:r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→ 外部农学知识检验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566166" y="5792152"/>
            <a:ext cx="73609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新实验由于服务器速度暂未全部完成。数据接口、模型边界和消融判据已经明确，后续结果可直接回答对应研究问题。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pt_project">
  <a:themeElements>
    <a:clrScheme name="ppt_project">
      <a:dk1>
        <a:srgbClr val="242826"/>
      </a:dk1>
      <a:lt1>
        <a:srgbClr val="F4F5F1"/>
      </a:lt1>
      <a:dk2>
        <a:srgbClr val="6B726E"/>
      </a:dk2>
      <a:lt2>
        <a:srgbClr val="F4F5F1"/>
      </a:lt2>
      <a:accent1>
        <a:srgbClr val="244C3A"/>
      </a:accent1>
      <a:accent2>
        <a:srgbClr val="244C3A"/>
      </a:accent2>
      <a:accent3>
        <a:srgbClr val="9BBB59"/>
      </a:accent3>
      <a:accent4>
        <a:srgbClr val="244C3A"/>
      </a:accent4>
      <a:accent5>
        <a:srgbClr val="E8EAE5"/>
      </a:accent5>
      <a:accent6>
        <a:srgbClr val="D4A83F"/>
      </a:accent6>
      <a:hlink>
        <a:srgbClr val="244C3A"/>
      </a:hlink>
      <a:folHlink>
        <a:srgbClr val="800080"/>
      </a:folHlink>
    </a:clrScheme>
    <a:fontScheme name="ppt_project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DengXian"/>
        <a:cs typeface="Segoe UI"/>
        <a:font script="Jpan" typeface="DengXian"/>
        <a:font script="Hang" typeface="DengXian"/>
        <a:font script="Hans" typeface="DengXian"/>
        <a:font script="Hant" typeface="DengXia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_proj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2026-07-15T11:27:31Z</dcterms:created>
  <dcterms:modified xsi:type="dcterms:W3CDTF">2026-07-15T11:27:31Z</dcterms:modified>
  <cp:category/>
  <cp:contentStatus/>
</cp:coreProperties>
</file>