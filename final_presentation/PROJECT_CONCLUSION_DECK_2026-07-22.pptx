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大家好，我们汇报的题目是《从遥感基础表征读取到异构先验注入》。这项工作研究 Galileo 遥感基础模型在 PASTIS 作物时序分割任务上的迁移。我们把 Galileo 的 encoder 冻结下来，先研究它学到的空间和时间信息怎样被下游网络读出来，再进一步看物候、气候、土壤和地理知识能不能提供视觉信息之外的补充。
这次汇报不按模型清单来讲，而是按照研究问题怎样一步步形成来讲。我们先从任务背景和意义开始，再进入空间读取、时间融合和异构先验注入。首先看为什么作物识别需要一整年的观测。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农业监测需要知道一个区域种了什么、分布在哪里，而且这张图需要随着种植季更新。田间调查很难高频覆盖大范围，单景卫星影像也容易受到观测时间、云层和天气的影响。
多时相 Sentinel-2 影像提供了另一种可能：同一块地在一年中的变化可以被连续记录下来。对作物来说，这些变化本身就是信息。因此我们研究的不是普通单图分类，而是卫星影像时间序列上的像素级识别。PASTIS 给出了月度时序影像和 19 类像素标签，正好可以同时研究生长季动态和地块边界。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项工作的意义不只是再训练一个分割模型。应用上，我们希望让大范围作物制图更充分地利用完整生长季信息；科学上，我们关心一个冻结的遥感基础模型已经学到的多光谱、多层和多时间表征，怎样才能被下游像素级任务真正使用。
方法上还存在一个更难的问题：农业知识的形式并不统一。物候是类别和月份的关系，气候是连续时间序列，土壤和地理又是另一种粒度。它们不能简单拼接，所以我们希望把先验的表示、选择、调制和诊断连成一套可复用方式。Galileo 提供了通用表征，但不会自动完成下游 token 读取和异构知识注入。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基于前面的背景，我们把问题具体化为三个层次。第一，Galileo 输出的是 token，PASTIS 需要的是与地块边界对齐的像素图，中间需要可靠的空间读取过程。第二，12 个月虽然一起进入 encoder，但如果在 decoder 前固定平均，月份身份可能丢失，所以要研究时间维保留到哪里、什么时候压缩。第三，在视觉时间信息已经被充分利用之后，物候、气候、土壤和地理知识还能不能提供独立补充。
这个顺序很重要：先把视觉表征读好，再讨论外部知识。这样后面的先验结果才不会被输入错误、空间恢复不足或较弱的时间模型混淆。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具体研究流程是一条逐步加复杂度的路线。我们先对齐 PASTIS 和 Galileo 的输入协议，建立共享的冻结特征缓存；然后比较空间 decoder，再比较时间读取方式；在 3D-Aware 形成强视觉基线之后，才接入物候、气候、土壤和地理先验。每一步只增加一个新的问题，最终同时检查总体指标、逐类结果和模块诊断。
数据划分始终固定：train 使用 folds 1、2、3，fold4 选择 checkpoint，fold5 只做最终测试。项目早期结果偏低时，我们先审计了作物年、归一化和 token 的空间—时间—通道语义，并建立 spatial_v1 和 temporal_v2 缓存。后续比较都建立在这条统一链路上。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先看空间读取。相同协议下，Linear Head 的 Test mIoU 是 0.3209；加入卷积细化以后达到 0.4602；再把第 3、6、9、12 层一起读入，达到 0.4801。最终层卷积相对 Linear 提升约 13.92 个百分点，多层读取又继续提升约 1.99 个百分点。
这说明 Galileo 的冻结特征确实包含可迁移的作物信息，但 token 的线性可分性并不等于像素级边界能够直接恢复，中间层也提供了一些补充。这里不同方案的参数量和 seed 并不完全受控，所以我们把它作为空间读取阶段的证据，不把全部差异归因于某一个单独模块。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这里有一个容易混淆的地方：旧方案并不是没有时间信息，而是把时间压缩得太早。12 个月会一起进入 Galileo，所以每个月的 token 已经包含 encoder 内的跨时间上下文。
真正的限制发生在 decoder 前，我们直接对 12 个月做固定平均。这样 decoder 只看到一张二维特征图，不能再根据空间位置、网络层次和作物类型判断哪个月份更重要。于是接下来要回答的问题就是：时间维应该保留到哪里，最后又应该怎样压缩。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我们沿着这个问题设计了两条路线。Temporal Readout 放在 decoder 前，让每一层、每个空间位置自己学习 12 个月的权重，后面的二维 decoder 不需要修改，所以它更像一个通用的时间读取接口。
3D-Aware 则把时间维带进多层重组和高分辨率空间融合，最后才通过 query pooling 得到分割结果。两条路线的区别可以简单理解为：一个学习怎样读取月份，另一个把时间保留得更久再做空间融合。它们都在检验同一个判断——时间不应该在 decoder 前被固定平均。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 Temporal Readout。它接到四种二维 decoder 上后，Test mIoU 都在 0.54 到 0.56 之间，其中 Multi 最高，为 0.56154。这说明可学习月份读取并不依赖某一个特定 decoder。
再看 3D-Aware，无先验基线的 Test mIoU 达到 0.59945，macro F1 是 0.73133。这是项目最明确的性能成果，也说明时间读取方式是关键变量。后面的先验实验固定使用这个 3D-Aware 强视觉基线，避免先验收益被较弱的视觉模型放大或掩盖。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总体 mIoU 接近 0.60，并不代表每一个类别都已经解决。玉米、油菜和甜菜的结果已经比较高，说明明显的季节变化可以被时间融合捕捉；冬小黑麦、豆科饲料和高粱仍然偏低，果园和混合谷物这类多年生或聚合类别也比较困难。
不同类别需要的线索并不一样，有些类别甚至没有一条标准物候曲线可以直接套用。因此后面不再把先验理解成再加一张表就应该涨分，而是研究什么知识适合什么视觉内容、模型能不能自主选择，以及选择过程能不能被诊断。下一页先从最简单的 V1 反事实验证开始。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先做一个最小实验：把类别—月份物候表经过小编码器变成先验残差，再广播到所有空间位置。它的目的不是提出最终方法，而是判断正确物候内容是否比没有物候或类别置乱更有用。
需要强调，P0、P1、P2 都属于 Single Temporal Readout 这一组。P0 无先验的 mIoU 是 0.54938，正确物候 P1 是 0.55316，提高 0.378 个百分点；类别对应关系置乱后，P2 降到 0.54784。结果说明物候可能有弱信号，但提升很小，而且全局广播太粗，同一份先验被无差别地送到所有位置。因此 V1 适合做方向验证，不适合作为最终通用方案。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的问题不仅在于物候表，也在于它默认所有先验都能用相同方式广播。因此我们先把不同先验整理成统一的 PriorBatch。M1 是类别和月份物候，M2 是月度气候背景，M3 是多深度土壤属性，M4 是标准化地理上下文。
统一接口并不意味着抹平来源差异。PriorBatch 同时保留 tokens、mask、confidence 和 source id，让后续模型能够判断当前视觉内容应该参考哪个来源、哪些 token 有效。这里也明确数据边界：M2、M3、M4 是外部背景或模型化资料，不表述为地块实测数据，也不使用 test 标签挑选先验。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CA-HPI 的核心变化，是把先验从广播信号变成可查询的知识库。以一个视觉 token 为例，它经过投影得到 Query；PriorBatch 中的先验 token 经过 Key 和 Value 投影。每一个空间位置、月份和网络层都可以根据当前视觉内容，得到不同的先验上下文。
mask 和 confidence 会一起参与查询，无效先验不进入注意力，低置信度信息也不会与可靠信息完全等价。候选残差再经过 content gate 和逐层 strength 控制，写回 decoder 前特征，输出形状不变。它与 V1 的区别并不是简单多一个 attention，而是把是否需要这份知识的选择权交给当前视觉内容。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结果首先支持了 CA-HPI 的基本方向。只使用 M1 时，E7 的 Test mIoU 是 0.60443，比无先验 B0 高 0.498 个百分点；加入 M2 和 M3 后，E8 仍略高于 B0，但降到 0.60192；四个来源全部放入后，E9 反而降到 0.59395。
逐类结果更能说明问题。Grapevine 在 M1-only 下明显提高，Orchard 在四源组合下得到补充，但 Sorghum 从 M1-only 的正向变化变成四源组合的大幅下降。总体 mIoU 是各类别正负变化抵消后的结果，不能简单归纳为加来源有效或无效。它给 V3 提出了具体要求：先在来源内部选择，再比较来源之间的权重，并控制先验改动哪些通道和空间位置。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下面三页不逐行念完 19 个类别，而是用逐类结果确认先验的收益边界。先看背景和主要季节作物。相对 B0，E10 在 Meadow 上提高约 1.7 个百分点，在 Soft winter wheat 上提高约 1.6 个百分点，在 Winter barley 上提高约 2.5 个百分点。
但并不是所有季节作物都同步提升。Corn 基本持平，Winter rapeseed 下降约 1.2 个百分点，Spring barley 也略有下降。因此即使一类作物具有明显季节性，先验是否有用仍取决于视觉模型已经学到了多少，以及注入架构如何调制这些信息。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第二组类别里，Grapevine 是比较清楚的正向例子。E10 相对 B0 提高约 4.0 个百分点，说明先验确实可能补充视觉信息；Beet 提高约 1.1 个百分点，Winter durum wheat 提高约 2.7 个百分点。
同时也能看到来源组合和类别差异。Grapevine 在 E7 的 M1-only 配置下提升更明显，加入多源后收益并没有继续增加。Winter triticale 和 Fruits, vegetables, flowers 仍然下降。因此逐类结果用于解释边界，不能把某一个类别的变化单独当成普遍结论。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最后一组更集中地展示困难类别。Orchard 相对 B0 提高约 3.4 个百分点，Potatoes 略有提升，说明环境或地理上下文可能对部分类别提供补充。
但 Leguminous fodder、Soybeans、Mixed cereal 和 Sorghum 都出现下降，其中混合谷物和高粱下降约 3 个百分点。也就是说，最困难和最混合的类别并没有因为加入更多先验而自动解决。这三页共同支持的结论不是先验一定有效，而是先验作用具有类别选择性，并且受到来源组合与融合架构的约束。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V3 不是简单在 CA-HPI 后面再加一个 FiLM，而是把先验选择拆成几个层次。首先，每个来源内部单独做 attention，得到四份 context，避免 token 数量多的来源在一次全局 softmax 中天然占优势。然后 Source Gate 根据当前视觉内容比较四个来源，决定这个位置更应该参考哪一种信息。
得到融合 context 后，FiLM 的 gamma 和 beta 对视觉通道做缩放和平移，Spatial Gate 再决定当前空间位置和月份接受多少调制，最后通过 residual strength 写回 decoder 前特征。E9 和 E10 使用相同的 3D-Aware、M1 到 M4、训练协议和插入点，唯一变化就是融合架构，因此它们构成最严格的架构对照。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E10 的 Test mIoU 是 0.60073。相对四源 CA-HPI 的 E9，提高 0.678 个百分点，说明来源分层和空间—通道调制确实缓解了四源直接竞争造成的退化。相对无先验 B0，E10 只提高 0.128 个百分点；相对 M1-only 的 E7，仍低 0.370 个百分点。
因此不能把 E10 讲成全面超过前面方案。更准确的结论是：融合架构会明显改变多源先验的边际收益，但先验仍然具有类别选择性。即使总体增益有限，我们已经建立了从先验表示、来源选择、特征调制到诊断的完整模式，也明确了它在强视觉基线上的适用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最后把项目成果分成两条主线。第一条是性能和任务线：从输入协议与 token 语义审计开始，逐步比较空间读取和时间融合，最终用 3D-Aware 建立 0.59945 mIoU 的强视觉基线。第二条是方法线：把物候、气候、土壤和地理整理为 PriorBatch，从 V1 的固定广播推进到 CA-HPI 的内容感知查询，再到 SA-SFiLM 的来源感知调制，并用 E7 到 E10 的总体和逐类结果说明收益边界。
E10 没有形成大幅总体提升，但这不等于先验阶段没有成果。我们已经建立了一套能够描述先验、接入先验、选择先验并诊断效果的模式，也知道多源先验为什么会冲突、架构重设计能改善什么、仍然解决不了什么。F1 和 F2 只有在出现稳定、可解释结果时才补入主汇报，否则作为后续方向。
总体来看，本项目既形成了明确的时间融合性能成果，也完成了异构先验注入模式的连续探索。我们的最终结论不是简单的加先验就涨分，而是先验的来源、类别与融合架构共同决定它的作用边界。我的汇报到这里，谢谢大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16168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0216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84264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68312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36408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11112" y="2084832"/>
            <a:ext cx="768096" cy="768096"/>
          </a:xfrm>
          <a:prstGeom prst="ellipse">
            <a:avLst/>
          </a:prstGeom>
          <a:solidFill>
            <a:srgbClr val="0EA5E9">
              <a:alpha val="0"/>
            </a:srgbClr>
          </a:solidFill>
          <a:ln w="11430">
            <a:solidFill>
              <a:srgbClr val="0EA5E9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0216" y="1773936"/>
            <a:ext cx="1389888" cy="1389888"/>
          </a:xfrm>
          <a:prstGeom prst="ellipse">
            <a:avLst/>
          </a:prstGeom>
          <a:solidFill>
            <a:srgbClr val="0EA5E9">
              <a:alpha val="0"/>
            </a:srgbClr>
          </a:solidFill>
          <a:ln w="11430">
            <a:solidFill>
              <a:srgbClr val="334155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71032" y="1444752"/>
            <a:ext cx="2048256" cy="2048256"/>
          </a:xfrm>
          <a:prstGeom prst="ellipse">
            <a:avLst/>
          </a:prstGeom>
          <a:solidFill>
            <a:srgbClr val="0EA5E9">
              <a:alpha val="0"/>
            </a:srgbClr>
          </a:solidFill>
          <a:ln w="11430">
            <a:solidFill>
              <a:srgbClr val="0EA5E9">
                <a:alpha val="32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6583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8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CONCLUSION · 2026-07</a:t>
            </a:r>
            <a:endParaRPr lang="en-US" sz="84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005840"/>
            <a:ext cx="6766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从遥感基础表征读取到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异构先验注入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8686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889504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frozen Galileo 的 PASTIS 作物时序分割研究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大范围农业监测需要持续、精细的作物类型信息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作物制图不是普通单图分类，而是时间序列上的像素级识别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50976" y="1272540"/>
            <a:ext cx="72420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0976" y="1382268"/>
          <a:ext cx="7242048" cy="1792224"/>
        </p:xfrm>
        <a:graphic>
          <a:graphicData uri="http://schemas.openxmlformats.org/drawingml/2006/table">
            <a:tbl>
              <a:tblPr/>
              <a:tblGrid>
                <a:gridCol w="1898401"/>
                <a:gridCol w="2882757"/>
                <a:gridCol w="246089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农业信息需求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传统获取限制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卫星时间序列提供的机会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种植结构与空间分布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田间调查成本高、更新频率有限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大范围、重复观测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地块尺度类别与边界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汇总统计难以提供连续空间结果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像素级制图与区域统计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生长季内的动态变化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单次调查或单景影像容易遗漏过程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多时相光谱记录生长轨迹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950976" y="3284220"/>
            <a:ext cx="7242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研究对象：PASTIS Sentinel-2 月度时间序列与 19 类像素标签。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[PASTIS21] [U-TAE]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2/20</a:t>
            </a:r>
            <a:endParaRPr lang="en-US" sz="840" dirty="0"/>
          </a:p>
        </p:txBody>
      </p:sp>
      <p:sp>
        <p:nvSpPr>
          <p:cNvPr id="12" name="Shape 8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同一地块一年中的变化本身就是作物信息。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把通用遥感表征真正转化为农业像素级结果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应用、科学与方法意义在同一个问题上汇合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54252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现实与应用意义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40636"/>
            <a:ext cx="3954780" cy="1612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大范围、低成本地更新作物类型地图</a:t>
            </a:r>
            <a:endParaRPr lang="en-US" sz="15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充分利用完整生长季，而非依赖单景影像</a:t>
            </a:r>
            <a:endParaRPr lang="en-US" sz="15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让基础模型表征服务于地块边界和区域统计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732020" y="1254252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科学与方法意义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732020" y="2040636"/>
            <a:ext cx="3954780" cy="1612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 frozen Galileo 的多层、多时间 token 如何迁移到 dense prediction</a:t>
            </a:r>
            <a:endParaRPr lang="en-US" sz="15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将物候、气候、土壤和地理整理为可插拔先验接口</a:t>
            </a:r>
            <a:endParaRPr lang="en-US" sz="15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把先验的表示、选择、调制和诊断连成一条通用模式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53712" y="1309116"/>
            <a:ext cx="36576" cy="2362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09060"/>
            <a:ext cx="73152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09060"/>
            <a:ext cx="73152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945636"/>
            <a:ext cx="6967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基础模型提供通用表征，但不会自动完成下游 token 读取与异构知识注入。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[Galileo25] [PASTIS21] [DPT21]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3/20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研究问题来自基础模型与像素级任务之间的三个缺口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先回答视觉表征怎么读，再回答外部知识怎么进</a:t>
            </a:r>
            <a:endParaRPr lang="en-US" sz="1300" dirty="0"/>
          </a:p>
        </p:txBody>
      </p:sp>
      <p:pic>
        <p:nvPicPr>
          <p:cNvPr id="5" name="Image 0" descr="D:\ycy\GISproject\PreSSL-CropSeg\final_presentation\deck_workspace\assets\diagrams\research_ga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5916168" cy="28834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208532"/>
            <a:ext cx="36576" cy="929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57416" y="120853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RQ1 · 空间读取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757416" y="1491996"/>
            <a:ext cx="192938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如何恢复为地块边界对齐的像素图？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29400" y="2247900"/>
            <a:ext cx="36576" cy="7391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57416" y="2247900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RQ2 · 时间读取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757416" y="2531364"/>
            <a:ext cx="1929384" cy="42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月份身份应该何时保留、何时压缩？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29400" y="3096768"/>
            <a:ext cx="36576" cy="7391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57416" y="309676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RQ3 · 知识注入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757416" y="3380232"/>
            <a:ext cx="1929384" cy="42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异构先验如何补充视觉信息并保持可诊断？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[Galileo25] [DPT21] [PASTIS21]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4/20</a:t>
            </a:r>
            <a:endParaRPr lang="en-US" sz="840" dirty="0"/>
          </a:p>
        </p:txBody>
      </p:sp>
      <p:sp>
        <p:nvSpPr>
          <p:cNvPr id="19" name="Shape 15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三个缺口对应三段受控实验：空间 → 时间 → 先验。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先建立可信基线，再逐步增加时间结构和外部知识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输入、encoder、评测协议固定；每一步只增加一个新问题</a:t>
            </a:r>
            <a:endParaRPr lang="en-US" sz="1300" dirty="0"/>
          </a:p>
        </p:txBody>
      </p:sp>
      <p:pic>
        <p:nvPicPr>
          <p:cNvPr id="5" name="Image 0" descr="D:\ycy\GISproject\PreSSL-CropSeg\final_presentation\deck_workspace\assets\diagrams\work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5916168" cy="28834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208532"/>
            <a:ext cx="36576" cy="781255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57416" y="120853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固定协议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757416" y="1491996"/>
            <a:ext cx="1929384" cy="470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PASTIS 月度聚合；folds 1/2/3 → 4 → 5；seed42。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29400" y="2099515"/>
            <a:ext cx="36576" cy="9413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57416" y="2099515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冻结表征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757416" y="2382979"/>
            <a:ext cx="1929384" cy="630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Galileo encoder 完全冻结；共享 spatial_v1 / temporal_v2 缓存。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29400" y="3150592"/>
            <a:ext cx="36576" cy="9413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57416" y="315059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证据纪律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757416" y="3434056"/>
            <a:ext cx="1929384" cy="630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 mIoU + accuracy + macro F1 + 逐类 IoU/F1 + 模块诊断。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[ProjectProtocol] [DECODER_EXPERIMENTS]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5/20</a:t>
            </a:r>
            <a:endParaRPr lang="en-US" sz="840" dirty="0"/>
          </a:p>
        </p:txBody>
      </p:sp>
      <p:sp>
        <p:nvSpPr>
          <p:cNvPr id="19" name="Shape 15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早期低结果先触发数据与 token 协议审计，后续比较建立在统一链路上。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空间细化显著释放了 Galileo 冻结表征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同一冻结 encoder 下，线性读取并不等于像素级可恢复性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59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空间读取结果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9428"/>
          <a:ext cx="8229600" cy="2563368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读取方式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可训练参数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 mIoU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同协议 Linear Head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最终层 token 直接线性分类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0.234M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0.3209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最终层卷积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最终层特征 + 卷积细化 / 上采样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4.925M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0.4602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多层同尺度融合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layer 3/6/9/12 投影后融合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9.058M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0.4801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375404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4457700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最终层卷积相对 Linear 提升约 13.92 pp；多层读取继续提升约 1.99 pp。参数量与 seed 不完全受控，因此这里只作空间读取阶段证据。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[Run2026] [DPT21]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6/20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旧接口保留了时间上下文，却过早丢失月份身份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问题不是没有时间信息，而是 decoder 前固定 mean(T)</a:t>
            </a:r>
            <a:endParaRPr lang="en-US" sz="1300" dirty="0"/>
          </a:p>
        </p:txBody>
      </p:sp>
      <p:pic>
        <p:nvPicPr>
          <p:cNvPr id="5" name="Image 0" descr="D:\ycy\GISproject\PreSSL-CropSeg\final_presentation\deck_workspace\assets\diagrams\temporal_bottlene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5916168" cy="28834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208532"/>
            <a:ext cx="36576" cy="929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57416" y="120853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已经保留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757416" y="1491996"/>
            <a:ext cx="192938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个月共同进入 Galileo；每个月 token 已包含跨时间上下文。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29400" y="2247900"/>
            <a:ext cx="36576" cy="929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57416" y="2247900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被固定平均限制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757416" y="2531364"/>
            <a:ext cx="192938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decoder 只能看到二维平均图，不能再判断哪个月份重要。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29400" y="3287268"/>
            <a:ext cx="36576" cy="7391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57416" y="328726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下一问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757416" y="3570732"/>
            <a:ext cx="1929384" cy="42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时间维应该保留到哪里，最后又怎样压缩？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[ProjectProtocol] [TemporalReadout]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7/20</a:t>
            </a:r>
            <a:endParaRPr lang="en-US" sz="840" dirty="0"/>
          </a:p>
        </p:txBody>
      </p:sp>
      <p:sp>
        <p:nvSpPr>
          <p:cNvPr id="19" name="Shape 15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固定平均把一个可学习问题提前写死了。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从固定时间平均推进到可学习时间融合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Temporal Readout 更通用；3D-Aware 更晚压缩时间维</a:t>
            </a:r>
            <a:endParaRPr lang="en-US" sz="1300" dirty="0"/>
          </a:p>
        </p:txBody>
      </p:sp>
      <p:pic>
        <p:nvPicPr>
          <p:cNvPr id="5" name="Image 0" descr="D:\ycy\GISproject\PreSSL-CropSeg\final_presentation\deck_workspace\assets\diagrams\temporal_fusi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5916168" cy="28834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208532"/>
            <a:ext cx="36576" cy="8879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57416" y="120853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Temporal Readout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757416" y="1491996"/>
            <a:ext cx="1929384" cy="57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每层、每个空间位置学习 12 个月权重，再接 2D decoder。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29400" y="2206244"/>
            <a:ext cx="36576" cy="8879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57416" y="2206244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3D-Aware DPT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757416" y="2489708"/>
            <a:ext cx="1929384" cy="57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时间维进入多层重组与高分辨率融合，最后 query pooling。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29400" y="3203956"/>
            <a:ext cx="36576" cy="8879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57416" y="3203956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共同问题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757416" y="3487420"/>
            <a:ext cx="1929384" cy="57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不要在 decoder 前默认所有月份具有相同贡献。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[TemporalReadout] [DPT21] [ProjectProtocol]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8/20</a:t>
            </a:r>
            <a:endParaRPr lang="en-US" sz="840" dirty="0"/>
          </a:p>
        </p:txBody>
      </p:sp>
      <p:sp>
        <p:nvSpPr>
          <p:cNvPr id="19" name="Shape 15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一个学习怎么读月份，一个把时间保留得更久；两者都检验晚压缩是否更合理。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保留时间结构后，Test mIoU 提升到约 60%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Temporal Readout 跨 decoder 有效；3D-Aware 形成后续先验研究的强视觉基线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5964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Temporal Readout × 2D decoder（fold5 test）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9428"/>
          <a:ext cx="4005072" cy="2563368"/>
        </p:xfrm>
        <a:graphic>
          <a:graphicData uri="http://schemas.openxmlformats.org/drawingml/2006/table">
            <a:tbl>
              <a:tblPr/>
              <a:tblGrid>
                <a:gridCol w="1001268"/>
                <a:gridCol w="1001268"/>
                <a:gridCol w="1001268"/>
                <a:gridCol w="1001268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 mIoU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 accuracy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 F1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Single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0.54938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0.80589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0.68833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Multi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0.56154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0.81030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0.69712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Galileo-Adapted DPT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0.54637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0.80904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0.68433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UPerNet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0.54442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0.80342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0.68279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681728" y="1235964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3D-Aware 强视觉基线</a:t>
            </a:r>
            <a:endParaRPr lang="en-US" sz="10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1728" y="1519428"/>
          <a:ext cx="4005072" cy="2563368"/>
        </p:xfrm>
        <a:graphic>
          <a:graphicData uri="http://schemas.openxmlformats.org/drawingml/2006/table">
            <a:tbl>
              <a:tblPr/>
              <a:tblGrid>
                <a:gridCol w="801014"/>
                <a:gridCol w="801014"/>
                <a:gridCol w="801014"/>
                <a:gridCol w="801014"/>
                <a:gridCol w="801014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 loss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 mIoU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 accuracy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 F1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B0：无先验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1.03279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0.59945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0.81781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0.73133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375404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6928" y="4457700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Temporal Readout 证明可学习月份读取可以复用；3D-Aware 把时间维保留到高分辨率融合之后，取得当前最强视觉基线。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[Run2026] [TemporalReadout]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9/20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强时间模型解决主要矛盾，但没有消除类别异质性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先验研究不是因为视觉模型不够强，而是因为不同类别需要的线索并不相同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50976" y="1272540"/>
            <a:ext cx="72420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0976" y="1382268"/>
          <a:ext cx="7242048" cy="1792224"/>
        </p:xfrm>
        <a:graphic>
          <a:graphicData uri="http://schemas.openxmlformats.org/drawingml/2006/table">
            <a:tbl>
              <a:tblPr/>
              <a:tblGrid>
                <a:gridCol w="1875173"/>
                <a:gridCol w="3039074"/>
                <a:gridCol w="2327801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类别组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3D-Aware 代表性 IoU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表现较好的季节作物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Corn 0.854 · Rapeseed 0.884 · Beet 0.858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明显季节变化已被时间融合较好捕捉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仍然困难的类别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Winter triticale 0.368 · Leguminous fodder 0.365 · Sorghum 0.312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少样本、相似类别或类内差异仍未解决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多年生或聚合类别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Orchard 0.408 · Mixed cereal 0.398 · Fruits/vegetables/flowers 0.363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单一标准物候曲线未必适用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950976" y="3284220"/>
            <a:ext cx="7242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 mIoU 不能替代逐类分析；先验的收益应按类别和来源解释。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[Run2026] [PASTIS21]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10/20</a:t>
            </a:r>
            <a:endParaRPr lang="en-US" sz="840" dirty="0"/>
          </a:p>
        </p:txBody>
      </p:sp>
      <p:sp>
        <p:nvSpPr>
          <p:cNvPr id="12" name="Shape 8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研究判断：先验不是无条件增益，而是“什么知识、在什么位置、对什么视觉内容有效”。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V1：先验证物候内容是否有信号，再讨论复杂注入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 Add 是最小反事实实验，不是最终通用方案</a:t>
            </a:r>
            <a:endParaRPr lang="en-US" sz="1300" dirty="0"/>
          </a:p>
        </p:txBody>
      </p:sp>
      <p:pic>
        <p:nvPicPr>
          <p:cNvPr id="5" name="Image 0" descr="D:\ycy\GISproject\PreSSL-CropSeg\final_presentation\deck_workspace\assets\diagrams\v1_global_ad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5916168" cy="28834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208532"/>
            <a:ext cx="36576" cy="929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57416" y="120853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· 无先验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757416" y="1491996"/>
            <a:ext cx="192938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 Temporal Readout：0.54938 mIoU。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29400" y="2247900"/>
            <a:ext cx="36576" cy="929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57416" y="2247900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· 正确物候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757416" y="2531364"/>
            <a:ext cx="192938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0.55316；相对 P0 +0.378 pp。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29400" y="3287268"/>
            <a:ext cx="36576" cy="7391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57416" y="328726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· 类别置乱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757416" y="3570732"/>
            <a:ext cx="1929384" cy="42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0.54784；正确对应关系略优于置乱。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[PhenologyPrior] [Run2026]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11/20</a:t>
            </a:r>
            <a:endParaRPr lang="en-US" sz="840" dirty="0"/>
          </a:p>
        </p:txBody>
      </p:sp>
      <p:sp>
        <p:nvSpPr>
          <p:cNvPr id="19" name="Shape 15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物候可能有弱信号，但全局广播太粗，无法支持通用异构先验。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统一异构先验接口：来源不同，但可以一起被诊断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不把物候、气候、土壤和地理强行当成同一种数据</a:t>
            </a:r>
            <a:endParaRPr lang="en-US" sz="1300" dirty="0"/>
          </a:p>
        </p:txBody>
      </p:sp>
      <p:pic>
        <p:nvPicPr>
          <p:cNvPr id="5" name="Image 0" descr="D:\ycy\GISproject\PreSSL-CropSeg\final_presentation\deck_workspace\assets\diagrams\prior_batch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5916168" cy="28834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208532"/>
            <a:ext cx="36576" cy="8879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57416" y="120853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 · 物候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757416" y="1491996"/>
            <a:ext cx="1929384" cy="57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类别×月份强度与置信度；19×12 token。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29400" y="2206244"/>
            <a:ext cx="36576" cy="8879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57416" y="2206244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M2–M3 · 环境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757416" y="2489708"/>
            <a:ext cx="1929384" cy="57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月度气候与多深度土壤属性；保留 valid mask / uncertainty。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29400" y="3203956"/>
            <a:ext cx="36576" cy="8879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57416" y="3203956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 · 地理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757416" y="3487420"/>
            <a:ext cx="1929384" cy="57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train-fold 标准化经纬度；一个静态上下文 token。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[PriorBatch] [EnvironmentPriors]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12/20</a:t>
            </a:r>
            <a:endParaRPr lang="en-US" sz="840" dirty="0"/>
          </a:p>
        </p:txBody>
      </p:sp>
      <p:sp>
        <p:nvSpPr>
          <p:cNvPr id="19" name="Shape 15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PriorBatch = {tokens, mask, confidence, source_id/type_id}；统一接口不等于抹平来源差异。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CA-HPI：让每个视觉时空位置主动查询先验库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从固定广播转向视觉内容驱动的先验选择</a:t>
            </a:r>
            <a:endParaRPr lang="en-US" sz="1300" dirty="0"/>
          </a:p>
        </p:txBody>
      </p:sp>
      <p:pic>
        <p:nvPicPr>
          <p:cNvPr id="5" name="Image 0" descr="D:\ycy\GISproject\PreSSL-CropSeg\final_presentation\deck_workspace\assets\diagrams\ca_hpi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5916168" cy="28834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208532"/>
            <a:ext cx="36576" cy="8879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57416" y="120853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757416" y="1491996"/>
            <a:ext cx="1929384" cy="57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 token V_l 经过 LN / Wq，当前位置、月份和层各自产生 Query。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29400" y="2206244"/>
            <a:ext cx="36576" cy="8879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57416" y="2206244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Prior Key / Value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757416" y="2489708"/>
            <a:ext cx="1929384" cy="57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PriorBatch 提供 K/V；mask、confidence 和 source balance 一起参与。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29400" y="3203956"/>
            <a:ext cx="36576" cy="8879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57416" y="3203956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Gated residual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757416" y="3487420"/>
            <a:ext cx="1929384" cy="57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 Delta_l 经 content gate 与 strength 控制后写回，输出形状不变。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[CA-HPI] [PriorBatch]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13/20</a:t>
            </a:r>
            <a:endParaRPr lang="en-US" sz="840" dirty="0"/>
          </a:p>
        </p:txBody>
      </p:sp>
      <p:sp>
        <p:nvSpPr>
          <p:cNvPr id="19" name="Shape 15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CA-HPI 的关键不是“多一个 attention”，而是把是否需要知识的选择权交给视觉内容。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结果：多源先验不是越多越好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 有弱正信号；四源直接竞争会带来类别冲突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5964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总体结果（3D-Aware B0 为参照）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9428"/>
          <a:ext cx="4005072" cy="2563368"/>
        </p:xfrm>
        <a:graphic>
          <a:graphicData uri="http://schemas.openxmlformats.org/drawingml/2006/table">
            <a:tbl>
              <a:tblPr/>
              <a:tblGrid>
                <a:gridCol w="1001268"/>
                <a:gridCol w="1001268"/>
                <a:gridCol w="1001268"/>
                <a:gridCol w="1001268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先验来源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 mIoU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 B0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无先验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0.59945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CA-HPI + M1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0.60443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+0.498 pp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CA-HPI + M1/M2/M3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0.60192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+0.247 pp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CA-HPI + M1/M2/M3/M4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0.59395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−0.550 pp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681728" y="1235964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代表性类别变化（IoU 相对 B0）</a:t>
            </a:r>
            <a:endParaRPr lang="en-US" sz="10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1728" y="1519428"/>
          <a:ext cx="4005072" cy="2563368"/>
        </p:xfrm>
        <a:graphic>
          <a:graphicData uri="http://schemas.openxmlformats.org/drawingml/2006/table">
            <a:tbl>
              <a:tblPr/>
              <a:tblGrid>
                <a:gridCol w="1001268"/>
                <a:gridCol w="1001268"/>
                <a:gridCol w="1001268"/>
                <a:gridCol w="1001268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E7 M1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E9 M1234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Grapevine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+0.048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+0.023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物候收益被多源稀释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Orchard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+0.007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+0.040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环境 / 地理可能补充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Sorghum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−0.093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来源组合高度敏感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Leguminous fodder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−0.007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−0.041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困难类别仍未改善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375404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6928" y="4457700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 mIoU 的变化来自类别正负变化的抵消，不能只说“加来源有效”或“加来源无效”。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[E7] [E8] [E9] [Run2026]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14/20</a:t>
            </a:r>
            <a:endParaRPr lang="en-US" sz="8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类 IoU 对照（1/3）：背景与主要季节作物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 = 无先验；E7 = CA-HPI + M1；E9 = CA-HPI + M1–M4；E10 = SA-SFiLM + M1–M4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50976" y="1272540"/>
            <a:ext cx="72420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0976" y="1382268"/>
          <a:ext cx="7242048" cy="3108960"/>
        </p:xfrm>
        <a:graphic>
          <a:graphicData uri="http://schemas.openxmlformats.org/drawingml/2006/table">
            <a:tbl>
              <a:tblPr/>
              <a:tblGrid>
                <a:gridCol w="2197587"/>
                <a:gridCol w="849068"/>
                <a:gridCol w="948958"/>
                <a:gridCol w="1148739"/>
                <a:gridCol w="1148739"/>
                <a:gridCol w="948958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B0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E7 M1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E9 M1234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E10 M1234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E10−B0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Background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0.731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0.739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0.736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0.730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−0.001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Meadow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0.616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0.630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0.629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0.634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+0.017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Soft winter wheat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0.828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0.845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0.842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0.844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+0.016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Corn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0.854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0.854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0.836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0.852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−0.002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Winter barley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0.733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0.752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0.739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0.757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+0.025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Winter rapeseed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0.884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0.882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0.878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0.871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−0.012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Spring barley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0.567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0.533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0.551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0.562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−0.006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[B0] [E7] [E9] [E10]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15/20</a:t>
            </a:r>
            <a:endParaRPr lang="en-US" sz="840" dirty="0"/>
          </a:p>
        </p:txBody>
      </p:sp>
      <p:sp>
        <p:nvSpPr>
          <p:cNvPr id="11" name="Shape 7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SA-SFiLM 对 Meadow、Soft winter wheat、Winter barley 有正向变化，但季节作物并非全部同步提升。</a:t>
            </a:r>
            <a:endParaRPr lang="en-US" sz="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类 IoU 对照（2/3）：葡萄、甜菜与冬季作物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逐类差异用于解释先验边界，不作为单类独立结论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50976" y="1272540"/>
            <a:ext cx="72420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0976" y="1382268"/>
          <a:ext cx="7242048" cy="2779776"/>
        </p:xfrm>
        <a:graphic>
          <a:graphicData uri="http://schemas.openxmlformats.org/drawingml/2006/table">
            <a:tbl>
              <a:tblPr/>
              <a:tblGrid>
                <a:gridCol w="2197587"/>
                <a:gridCol w="849068"/>
                <a:gridCol w="948958"/>
                <a:gridCol w="1148739"/>
                <a:gridCol w="1148739"/>
                <a:gridCol w="948958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B0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E7 M1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E9 M1234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E10 M1234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E10−B0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Sunflower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0.689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0.687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0.669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0.698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+0.009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Grapevine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0.500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0.548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0.522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0.540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+0.040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Beet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0.858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0.865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0.866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0.869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+0.011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Winter triticale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0.368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0.323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0.383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0.335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−0.033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Winter durum wheat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0.592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0.603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0.607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0.619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+0.027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Fruits, vegetables, flowers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0.363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0.378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0.369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0.350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−0.013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[B0] [E7] [E9] [E10]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16/20</a:t>
            </a:r>
            <a:endParaRPr lang="en-US" sz="840" dirty="0"/>
          </a:p>
        </p:txBody>
      </p:sp>
      <p:sp>
        <p:nvSpPr>
          <p:cNvPr id="11" name="Shape 7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Grapevine 在 M1-only 下提升明显；多源组合后收益减弱，说明来源选择很重要。</a:t>
            </a:r>
            <a:endParaRPr lang="en-US" sz="9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类 IoU 对照（3/3）：困难与混合类别决定收益边界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先验可能改善部分类别，也可能放大多源冲突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50976" y="1272540"/>
            <a:ext cx="72420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0976" y="1382268"/>
          <a:ext cx="7242048" cy="2779776"/>
        </p:xfrm>
        <a:graphic>
          <a:graphicData uri="http://schemas.openxmlformats.org/drawingml/2006/table">
            <a:tbl>
              <a:tblPr/>
              <a:tblGrid>
                <a:gridCol w="2197587"/>
                <a:gridCol w="849068"/>
                <a:gridCol w="948958"/>
                <a:gridCol w="1148739"/>
                <a:gridCol w="1148739"/>
                <a:gridCol w="948958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B0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E7 M1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E9 M1234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E10 M1234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E10−B0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E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Potatoes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0.511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0.526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0.500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0.518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+0.007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Leguminous fodder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0.365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0.358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0.324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0.347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−0.018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Soybeans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0.812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0.816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0.772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0.798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−0.014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Orchard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0.408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0.415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0.449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0.442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+0.034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Mixed cereal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0.398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0.389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0.394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0.366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−0.032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Sorghum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0.312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0.342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0.219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0.281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−0.031</a:t>
                      </a:r>
                      <a:endParaRPr lang="en-US" sz="8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[B0] [E7] [E9] [E10]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17/20</a:t>
            </a:r>
            <a:endParaRPr lang="en-US" sz="840" dirty="0"/>
          </a:p>
        </p:txBody>
      </p:sp>
      <p:sp>
        <p:nvSpPr>
          <p:cNvPr id="11" name="Shape 7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逐类结果支持的不是“先验一定有效”，而是“先验作用具有类别选择性，并受融合架构约束”。</a:t>
            </a:r>
            <a:endParaRPr lang="en-US" sz="9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 SA-SFiLM：先选来源，再决定通道和空间位置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针对四源 CA-HPI 退化，拆开来源内选择、来源间选择与特征调制</a:t>
            </a:r>
            <a:endParaRPr lang="en-US" sz="1300" dirty="0"/>
          </a:p>
        </p:txBody>
      </p:sp>
      <p:pic>
        <p:nvPicPr>
          <p:cNvPr id="5" name="Image 0" descr="D:\ycy\GISproject\PreSSL-CropSeg\final_presentation\deck_workspace\assets\diagrams\sa_sfil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5916168" cy="28834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208532"/>
            <a:ext cx="36576" cy="8879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57416" y="120853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来源内 attention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757416" y="1491996"/>
            <a:ext cx="1929384" cy="57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M1–M4 各自先压缩，避免 token 数量多的来源天然压过其他来源。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29400" y="2206244"/>
            <a:ext cx="36576" cy="7060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57416" y="2206244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Gate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757416" y="2489708"/>
            <a:ext cx="1929384" cy="395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根据当前视觉内容，比较四个来源的相对权重。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29400" y="3021992"/>
            <a:ext cx="36576" cy="10699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57416" y="302199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FiLM + Spatial Gate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757416" y="3305456"/>
            <a:ext cx="1929384" cy="759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gamma/beta 控制通道；空间 gate 控制位置和月份；strength 控制残差幅度。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[SA-SFiLM] [E9] [E10]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18/20</a:t>
            </a:r>
            <a:endParaRPr lang="en-US" sz="840" dirty="0"/>
          </a:p>
        </p:txBody>
      </p:sp>
      <p:sp>
        <p:nvSpPr>
          <p:cNvPr id="19" name="Shape 15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E9 与 E10 使用同一 3D-Aware、同一 M1–M4、同一 decoder 前插入点，只改变融合架构。</a:t>
            </a:r>
            <a:endParaRPr lang="en-US" sz="9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E10：架构重设计缓解四源退化，但尚未形成大幅总体增益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最严格的对照是 E9 vs E10：先验来源和视觉基线不变，只改融合方式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5964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总体结果</a:t>
            </a:r>
            <a:endParaRPr lang="en-US" sz="10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9428"/>
          <a:ext cx="4005072" cy="2563368"/>
        </p:xfrm>
        <a:graphic>
          <a:graphicData uri="http://schemas.openxmlformats.org/drawingml/2006/table">
            <a:tbl>
              <a:tblPr/>
              <a:tblGrid>
                <a:gridCol w="667512"/>
                <a:gridCol w="667512"/>
                <a:gridCol w="667512"/>
                <a:gridCol w="667512"/>
                <a:gridCol w="667512"/>
                <a:gridCol w="667512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 loss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 mIoU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 B0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 E9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 F1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B0：无先验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1.03279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0.59945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0.73133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E9：CA-HPI M1–M4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1.06063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0.59395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−0.550 pp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0.72509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E10：SA-SFiLM M1–M4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1.22321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0.60073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+0.128 pp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+0.678 pp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0.73051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681728" y="1235964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结果边界</a:t>
            </a:r>
            <a:endParaRPr lang="en-US" sz="105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1728" y="1519428"/>
          <a:ext cx="4005072" cy="2563368"/>
        </p:xfrm>
        <a:graphic>
          <a:graphicData uri="http://schemas.openxmlformats.org/drawingml/2006/table">
            <a:tbl>
              <a:tblPr/>
              <a:tblGrid>
                <a:gridCol w="1335024"/>
                <a:gridCol w="1335024"/>
                <a:gridCol w="1335024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 E9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E10 mIoU +0.678 pp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来源分层与调制缓解多源退化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 B0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E10 mIoU +0.128 pp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四源先验总体增益很小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 E7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E10 低 0.370 pp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M1-only 仍是当前更强的先验配置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375404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6928" y="4457700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更准确的结论是：融合架构会改变多源先验的边际收益，先验仍具有类别选择性；同时，表示—选择—调制—诊断的完整模式已经建立。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[B0] [E7] [E9] [E10]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19/20</a:t>
            </a:r>
            <a:endParaRPr lang="en-US" sz="8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性能成果与先验模式共同构成项目结果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有结果时说明方法有效；即使总体提升有限，模式本身仍沉淀了可复用的研究资产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5964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两条已完成成果主线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9428"/>
          <a:ext cx="4005072" cy="2563368"/>
        </p:xfrm>
        <a:graphic>
          <a:graphicData uri="http://schemas.openxmlformats.org/drawingml/2006/table">
            <a:tbl>
              <a:tblPr/>
              <a:tblGrid>
                <a:gridCol w="924247"/>
                <a:gridCol w="1608875"/>
                <a:gridCol w="147195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成果主线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已完成内容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当前认识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表征读取与时间融合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协议校正、空间 decoder、Temporal Readout、3D-Aware DPT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frozen Galileo 的价值取决于空间恢复和时间保留；3D-Aware 达到 0.59945 mIoU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异构先验注入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 反事实、PriorBatch、CA-HPI、SA-SFiLM、E7–E10 与逐类诊断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先验不是无条件增益；来源、类别和融合架构共同决定边界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681728" y="1235964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后续小尝试预留位（仅在有可靠结果时加入主汇报）</a:t>
            </a:r>
            <a:endParaRPr lang="en-US" sz="105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1728" y="1519428"/>
          <a:ext cx="4005072" cy="2563368"/>
        </p:xfrm>
        <a:graphic>
          <a:graphicData uri="http://schemas.openxmlformats.org/drawingml/2006/table">
            <a:tbl>
              <a:tblPr/>
              <a:tblGrid>
                <a:gridCol w="1335024"/>
                <a:gridCol w="1335024"/>
                <a:gridCol w="1335024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可能的尝试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当前状态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完善 M2 气候先验的空间分辨率与 tile 对齐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待决定 / 暂无结果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增加分类层级 head 或 coarse-to-fine 路径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待决定 / 暂无结果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375404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6928" y="4457700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我们建立了从 frozen Galileo 时空表征到像素级分割的读取链路，也完成了从固定广播到来源感知调制的先验探索。模式可复用，适用边界也已明确。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[FINAL_PRESENTATION_FULL_CONTENT] [DECODER_EXPERIMENTS]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20/20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Microsoft YaHei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从遥感基础表征读取到异构先验注入</dc:title>
  <dc:subject>基于 frozen Galileo 的 PASTIS 作物时序分割研究 · 项目结项汇报</dc:subject>
  <dc:creator>PptxGenJS</dc:creator>
  <cp:lastModifiedBy>PptxGenJS</cp:lastModifiedBy>
  <cp:revision>1</cp:revision>
  <dcterms:created xsi:type="dcterms:W3CDTF">2026-07-22T03:31:23Z</dcterms:created>
  <dcterms:modified xsi:type="dcterms:W3CDTF">2026-07-22T03:31:23Z</dcterms:modified>
</cp:coreProperties>
</file>