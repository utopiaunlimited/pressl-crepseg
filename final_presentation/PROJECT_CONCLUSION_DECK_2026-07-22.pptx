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532120" y="475488"/>
            <a:ext cx="0" cy="4005072"/>
          </a:xfrm>
          <a:prstGeom prst="line">
            <a:avLst/>
          </a:prstGeom>
          <a:noFill/>
          <a:ln w="6350">
            <a:solidFill>
              <a:srgbClr val="E2E8F0">
                <a:alpha val="88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916168" y="475488"/>
            <a:ext cx="0" cy="4005072"/>
          </a:xfrm>
          <a:prstGeom prst="line">
            <a:avLst/>
          </a:prstGeom>
          <a:noFill/>
          <a:ln w="6350">
            <a:solidFill>
              <a:srgbClr val="E2E8F0">
                <a:alpha val="88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300216" y="475488"/>
            <a:ext cx="0" cy="4005072"/>
          </a:xfrm>
          <a:prstGeom prst="line">
            <a:avLst/>
          </a:prstGeom>
          <a:noFill/>
          <a:ln w="6350">
            <a:solidFill>
              <a:srgbClr val="E2E8F0">
                <a:alpha val="88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684264" y="475488"/>
            <a:ext cx="0" cy="4005072"/>
          </a:xfrm>
          <a:prstGeom prst="line">
            <a:avLst/>
          </a:prstGeom>
          <a:noFill/>
          <a:ln w="6350">
            <a:solidFill>
              <a:srgbClr val="E2E8F0">
                <a:alpha val="88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068312" y="475488"/>
            <a:ext cx="0" cy="4005072"/>
          </a:xfrm>
          <a:prstGeom prst="line">
            <a:avLst/>
          </a:prstGeom>
          <a:noFill/>
          <a:ln w="6350">
            <a:solidFill>
              <a:srgbClr val="E2E8F0">
                <a:alpha val="88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452360" y="475488"/>
            <a:ext cx="0" cy="4005072"/>
          </a:xfrm>
          <a:prstGeom prst="line">
            <a:avLst/>
          </a:prstGeom>
          <a:noFill/>
          <a:ln w="6350">
            <a:solidFill>
              <a:srgbClr val="E2E8F0">
                <a:alpha val="88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836408" y="475488"/>
            <a:ext cx="0" cy="4005072"/>
          </a:xfrm>
          <a:prstGeom prst="line">
            <a:avLst/>
          </a:prstGeom>
          <a:noFill/>
          <a:ln w="6350">
            <a:solidFill>
              <a:srgbClr val="E2E8F0">
                <a:alpha val="88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611112" y="2084832"/>
            <a:ext cx="768096" cy="768096"/>
          </a:xfrm>
          <a:prstGeom prst="ellipse">
            <a:avLst/>
          </a:prstGeom>
          <a:solidFill>
            <a:srgbClr val="0EA5E9">
              <a:alpha val="0"/>
            </a:srgbClr>
          </a:solidFill>
          <a:ln w="11430">
            <a:solidFill>
              <a:srgbClr val="0EA5E9">
                <a:alpha val="32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300216" y="1773936"/>
            <a:ext cx="1389888" cy="1389888"/>
          </a:xfrm>
          <a:prstGeom prst="ellipse">
            <a:avLst/>
          </a:prstGeom>
          <a:solidFill>
            <a:srgbClr val="0EA5E9">
              <a:alpha val="0"/>
            </a:srgbClr>
          </a:solidFill>
          <a:ln w="11430">
            <a:solidFill>
              <a:srgbClr val="334155">
                <a:alpha val="32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971032" y="1444752"/>
            <a:ext cx="2048256" cy="2048256"/>
          </a:xfrm>
          <a:prstGeom prst="ellipse">
            <a:avLst/>
          </a:prstGeom>
          <a:solidFill>
            <a:srgbClr val="0EA5E9">
              <a:alpha val="0"/>
            </a:srgbClr>
          </a:solidFill>
          <a:ln w="11430">
            <a:solidFill>
              <a:srgbClr val="0EA5E9">
                <a:alpha val="32000"/>
              </a:srgbClr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57200" y="658368"/>
            <a:ext cx="23774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40" b="1" spc="180" kern="0" dirty="0">
                <a:solidFill>
                  <a:srgbClr val="0EA5E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PROJECT CONCLUSION · 2026-07</a:t>
            </a:r>
            <a:endParaRPr lang="en-US" sz="84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005840"/>
            <a:ext cx="6766560" cy="16093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4200" b="1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从遥感基础表征读取到</a:t>
            </a:r>
            <a:endParaRPr lang="en-US" sz="4200" dirty="0"/>
          </a:p>
          <a:p>
            <a:pPr algn="l" indent="0" marL="0">
              <a:buNone/>
            </a:pPr>
            <a:r>
              <a:rPr lang="en-US" sz="4200" b="1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异构先验注入</a:t>
            </a:r>
            <a:endParaRPr lang="en-US" sz="4200" dirty="0"/>
          </a:p>
        </p:txBody>
      </p:sp>
      <p:sp>
        <p:nvSpPr>
          <p:cNvPr id="14" name="Shape 12"/>
          <p:cNvSpPr/>
          <p:nvPr/>
        </p:nvSpPr>
        <p:spPr>
          <a:xfrm>
            <a:off x="457200" y="2706624"/>
            <a:ext cx="868680" cy="54864"/>
          </a:xfrm>
          <a:prstGeom prst="rect">
            <a:avLst/>
          </a:prstGeom>
          <a:solidFill>
            <a:srgbClr val="0EA5E9"/>
          </a:solidFill>
          <a:ln w="12700">
            <a:solidFill>
              <a:srgbClr val="0EA5E9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57200" y="2889504"/>
            <a:ext cx="67665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基于 frozen Galileo 的 PASTIS 作物时序分割研究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979932"/>
            <a:ext cx="777240" cy="45720"/>
          </a:xfrm>
          <a:prstGeom prst="rect">
            <a:avLst/>
          </a:prstGeom>
          <a:solidFill>
            <a:srgbClr val="0EA5E9"/>
          </a:solidFill>
          <a:ln w="12700">
            <a:solidFill>
              <a:srgbClr val="0EA5E9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91440"/>
            <a:ext cx="8229600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大范围农业监测需要持续、精细的作物类型信息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32460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作物制图不是普通单图分类，而是时间序列上的像素级识别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950976" y="1272540"/>
            <a:ext cx="7242048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50976" y="1382268"/>
          <a:ext cx="7242048" cy="1792224"/>
        </p:xfrm>
        <a:graphic>
          <a:graphicData uri="http://schemas.openxmlformats.org/drawingml/2006/table">
            <a:tbl>
              <a:tblPr/>
              <a:tblGrid>
                <a:gridCol w="1898401"/>
                <a:gridCol w="2882757"/>
                <a:gridCol w="2460890"/>
              </a:tblGrid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80" b="1" dirty="0">
                          <a:solidFill>
                            <a:srgbClr val="0F17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农业信息需求</a:t>
                      </a:r>
                      <a:endParaRPr lang="en-US" sz="9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80" b="1" dirty="0">
                          <a:solidFill>
                            <a:srgbClr val="0F17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传统获取限制</a:t>
                      </a:r>
                      <a:endParaRPr lang="en-US" sz="9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80" b="1" dirty="0">
                          <a:solidFill>
                            <a:srgbClr val="0F17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卫星时间序列提供的机会</a:t>
                      </a:r>
                      <a:endParaRPr lang="en-US" sz="9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2E8F0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90" dirty="0">
                          <a:solidFill>
                            <a:srgbClr val="0F17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种植结构与空间分布</a:t>
                      </a:r>
                      <a:endParaRPr lang="en-US" sz="89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90" dirty="0">
                          <a:solidFill>
                            <a:srgbClr val="0F17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田间调查成本高、更新频率有限</a:t>
                      </a:r>
                      <a:endParaRPr lang="en-US" sz="89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90" dirty="0">
                          <a:solidFill>
                            <a:srgbClr val="0F17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大范围、重复观测</a:t>
                      </a:r>
                      <a:endParaRPr lang="en-US" sz="89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90" dirty="0">
                          <a:solidFill>
                            <a:srgbClr val="0F17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地块尺度类别与边界</a:t>
                      </a:r>
                      <a:endParaRPr lang="en-US" sz="89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90" dirty="0">
                          <a:solidFill>
                            <a:srgbClr val="0F17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汇总统计难以提供连续空间结果</a:t>
                      </a:r>
                      <a:endParaRPr lang="en-US" sz="89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90" dirty="0">
                          <a:solidFill>
                            <a:srgbClr val="0F17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像素级制图与区域统计</a:t>
                      </a:r>
                      <a:endParaRPr lang="en-US" sz="89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90" dirty="0">
                          <a:solidFill>
                            <a:srgbClr val="0F17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生长季内的动态变化</a:t>
                      </a:r>
                      <a:endParaRPr lang="en-US" sz="89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90" dirty="0">
                          <a:solidFill>
                            <a:srgbClr val="0F17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单次调查或单景影像容易遗漏过程</a:t>
                      </a:r>
                      <a:endParaRPr lang="en-US" sz="89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90" dirty="0">
                          <a:solidFill>
                            <a:srgbClr val="0F17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多时相光谱记录生长轨迹</a:t>
                      </a:r>
                      <a:endParaRPr lang="en-US" sz="89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950976" y="3284220"/>
            <a:ext cx="72420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900" i="1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研究对象：PASTIS Sentinel-2 月度时间序列与 19 类像素标签。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457200" y="4814316"/>
            <a:ext cx="8229600" cy="18288"/>
          </a:xfrm>
          <a:prstGeom prst="rect">
            <a:avLst/>
          </a:prstGeom>
          <a:solidFill>
            <a:srgbClr val="E2E8F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457200" y="4869180"/>
            <a:ext cx="75803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Sources: [PASTIS21] [U-TAE]</a:t>
            </a:r>
            <a:endParaRPr lang="en-US" sz="800" dirty="0"/>
          </a:p>
        </p:txBody>
      </p:sp>
      <p:sp>
        <p:nvSpPr>
          <p:cNvPr id="10" name="Text 7"/>
          <p:cNvSpPr txBox="1"/>
          <p:nvPr/>
        </p:nvSpPr>
        <p:spPr>
          <a:xfrm>
            <a:off x="8183880" y="4869180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4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2/20</a:t>
            </a:r>
            <a:endParaRPr lang="en-US" sz="840" dirty="0"/>
          </a:p>
        </p:txBody>
      </p:sp>
      <p:sp>
        <p:nvSpPr>
          <p:cNvPr id="11" name="Shape 8"/>
          <p:cNvSpPr/>
          <p:nvPr/>
        </p:nvSpPr>
        <p:spPr>
          <a:xfrm>
            <a:off x="457200" y="4338828"/>
            <a:ext cx="8229600" cy="402336"/>
          </a:xfrm>
          <a:prstGeom prst="rect">
            <a:avLst/>
          </a:prstGeom>
          <a:solidFill>
            <a:srgbClr val="FFFFFF"/>
          </a:solidFill>
          <a:ln w="6985">
            <a:solidFill>
              <a:srgbClr val="E2E8F0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457200" y="4338828"/>
            <a:ext cx="50292" cy="402336"/>
          </a:xfrm>
          <a:prstGeom prst="rect">
            <a:avLst/>
          </a:prstGeom>
          <a:solidFill>
            <a:srgbClr val="0EA5E9"/>
          </a:solidFill>
          <a:ln w="12700">
            <a:solidFill>
              <a:srgbClr val="0EA5E9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585216" y="4393692"/>
            <a:ext cx="79735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20" b="1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同一地块一年中的变化本身就是作物信息。</a:t>
            </a:r>
            <a:endParaRPr lang="en-US" sz="92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979932"/>
            <a:ext cx="777240" cy="45720"/>
          </a:xfrm>
          <a:prstGeom prst="rect">
            <a:avLst/>
          </a:prstGeom>
          <a:solidFill>
            <a:srgbClr val="0EA5E9"/>
          </a:solidFill>
          <a:ln w="12700">
            <a:solidFill>
              <a:srgbClr val="0EA5E9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91440"/>
            <a:ext cx="8229600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把通用遥感表征真正转化为农业像素级结果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32460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应用、科学与方法意义在同一个问题上汇合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254252"/>
            <a:ext cx="39547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0EA5E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现实与应用意义</a:t>
            </a:r>
            <a:endParaRPr lang="en-US" sz="24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2040636"/>
            <a:ext cx="3954780" cy="1612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spcAft>
                <a:spcPts val="500"/>
              </a:spcAft>
              <a:buSzPct val="100000"/>
              <a:buChar char="•"/>
            </a:pPr>
            <a:r>
              <a:rPr lang="en-US" sz="1500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大范围、低成本地更新作物类型地图</a:t>
            </a:r>
            <a:endParaRPr lang="en-US" sz="1500" dirty="0"/>
          </a:p>
          <a:p>
            <a:pPr algn="l" marL="342900" indent="-342900">
              <a:spcAft>
                <a:spcPts val="500"/>
              </a:spcAft>
              <a:buSzPct val="100000"/>
              <a:buChar char="•"/>
            </a:pPr>
            <a:r>
              <a:rPr lang="en-US" sz="1500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充分利用完整生长季，而非依赖单景影像</a:t>
            </a:r>
            <a:endParaRPr lang="en-US" sz="1500" dirty="0"/>
          </a:p>
          <a:p>
            <a:pPr algn="l" marL="342900" indent="-342900">
              <a:spcAft>
                <a:spcPts val="500"/>
              </a:spcAft>
              <a:buSzPct val="100000"/>
              <a:buChar char="•"/>
            </a:pPr>
            <a:r>
              <a:rPr lang="en-US" sz="1500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让基础模型表征服务于地块边界和区域统计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4732020" y="1254252"/>
            <a:ext cx="39547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3341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科学与方法意义</a:t>
            </a:r>
            <a:endParaRPr lang="en-US" sz="2400" dirty="0"/>
          </a:p>
        </p:txBody>
      </p:sp>
      <p:sp>
        <p:nvSpPr>
          <p:cNvPr id="8" name="Text 6"/>
          <p:cNvSpPr txBox="1"/>
          <p:nvPr/>
        </p:nvSpPr>
        <p:spPr>
          <a:xfrm>
            <a:off x="4732020" y="2040636"/>
            <a:ext cx="3954780" cy="1612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spcAft>
                <a:spcPts val="500"/>
              </a:spcAft>
              <a:buSzPct val="100000"/>
              <a:buChar char="•"/>
            </a:pPr>
            <a:r>
              <a:rPr lang="en-US" sz="1500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研究 frozen Galileo 的多层、多时间 token 如何迁移到 dense prediction</a:t>
            </a:r>
            <a:endParaRPr lang="en-US" sz="1500" dirty="0"/>
          </a:p>
          <a:p>
            <a:pPr algn="l" marL="342900" indent="-342900">
              <a:spcAft>
                <a:spcPts val="500"/>
              </a:spcAft>
              <a:buSzPct val="100000"/>
              <a:buChar char="•"/>
            </a:pPr>
            <a:r>
              <a:rPr lang="en-US" sz="1500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将物候、气候、土壤和地理整理为可插拔先验接口</a:t>
            </a:r>
            <a:endParaRPr lang="en-US" sz="1500" dirty="0"/>
          </a:p>
          <a:p>
            <a:pPr algn="l" marL="342900" indent="-342900">
              <a:spcAft>
                <a:spcPts val="500"/>
              </a:spcAft>
              <a:buSzPct val="100000"/>
              <a:buChar char="•"/>
            </a:pPr>
            <a:r>
              <a:rPr lang="en-US" sz="1500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把先验的表示、选择、调制和诊断连成一条通用模式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4553712" y="1309116"/>
            <a:ext cx="36576" cy="236220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14400" y="3909060"/>
            <a:ext cx="7315200" cy="6400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14400" y="3909060"/>
            <a:ext cx="73152" cy="640080"/>
          </a:xfrm>
          <a:prstGeom prst="rect">
            <a:avLst/>
          </a:prstGeom>
          <a:solidFill>
            <a:srgbClr val="0EA5E9"/>
          </a:solidFill>
          <a:ln w="12700">
            <a:solidFill>
              <a:srgbClr val="0EA5E9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1115568" y="3945636"/>
            <a:ext cx="69677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基础模型提供通用表征，但不会自动完成下游 token 读取与异构知识注入。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457200" y="4814316"/>
            <a:ext cx="8229600" cy="18288"/>
          </a:xfrm>
          <a:prstGeom prst="rect">
            <a:avLst/>
          </a:prstGeom>
          <a:solidFill>
            <a:srgbClr val="E2E8F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57200" y="4869180"/>
            <a:ext cx="75803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Sources: [Galileo25] [PASTIS21] [DPT21]</a:t>
            </a:r>
            <a:endParaRPr lang="en-US" sz="800" dirty="0"/>
          </a:p>
        </p:txBody>
      </p:sp>
      <p:sp>
        <p:nvSpPr>
          <p:cNvPr id="15" name="Text 13"/>
          <p:cNvSpPr txBox="1"/>
          <p:nvPr/>
        </p:nvSpPr>
        <p:spPr>
          <a:xfrm>
            <a:off x="8183880" y="4869180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4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3/20</a:t>
            </a:r>
            <a:endParaRPr lang="en-US" sz="84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979932"/>
            <a:ext cx="777240" cy="45720"/>
          </a:xfrm>
          <a:prstGeom prst="rect">
            <a:avLst/>
          </a:prstGeom>
          <a:solidFill>
            <a:srgbClr val="0EA5E9"/>
          </a:solidFill>
          <a:ln w="12700">
            <a:solidFill>
              <a:srgbClr val="0EA5E9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91440"/>
            <a:ext cx="8229600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研究问题来自基础模型与像素级任务之间的三个缺口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32460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先回答视觉表征怎么读，再回答外部知识怎么进</a:t>
            </a:r>
            <a:endParaRPr lang="en-US" sz="1300" dirty="0"/>
          </a:p>
        </p:txBody>
      </p:sp>
      <p:pic>
        <p:nvPicPr>
          <p:cNvPr id="5" name="Image 0" descr="D:\ycy\GISproject\PreSSL-CropSeg\final_presentation\deck_workspace\assets\diagrams\research_gap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208532"/>
            <a:ext cx="5916168" cy="288340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6629400" y="1208532"/>
            <a:ext cx="36576" cy="929640"/>
          </a:xfrm>
          <a:prstGeom prst="rect">
            <a:avLst/>
          </a:prstGeom>
          <a:solidFill>
            <a:srgbClr val="0EA5E9"/>
          </a:solidFill>
          <a:ln w="12700">
            <a:solidFill>
              <a:srgbClr val="0EA5E9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6757416" y="1208532"/>
            <a:ext cx="192938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EA5E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RQ1 · 空间读取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6757416" y="1491996"/>
            <a:ext cx="1929384" cy="6187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token 如何恢复为地块边界对齐的像素图？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6629400" y="2247900"/>
            <a:ext cx="36576" cy="739140"/>
          </a:xfrm>
          <a:prstGeom prst="rect">
            <a:avLst/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757416" y="2247900"/>
            <a:ext cx="192938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341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RQ2 · 时间读取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6757416" y="2531364"/>
            <a:ext cx="1929384" cy="4282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月份身份应该何时保留、何时压缩？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6629400" y="3096768"/>
            <a:ext cx="36576" cy="739140"/>
          </a:xfrm>
          <a:prstGeom prst="rect">
            <a:avLst/>
          </a:prstGeom>
          <a:solidFill>
            <a:srgbClr val="0EA5E9"/>
          </a:solidFill>
          <a:ln w="12700">
            <a:solidFill>
              <a:srgbClr val="0EA5E9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6757416" y="3096768"/>
            <a:ext cx="192938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EA5E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RQ3 · 知识注入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6757416" y="3380232"/>
            <a:ext cx="1929384" cy="4282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异构先验如何补充视觉信息并保持可诊断？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457200" y="4814316"/>
            <a:ext cx="8229600" cy="18288"/>
          </a:xfrm>
          <a:prstGeom prst="rect">
            <a:avLst/>
          </a:prstGeom>
          <a:solidFill>
            <a:srgbClr val="E2E8F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57200" y="4869180"/>
            <a:ext cx="75803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Sources: [Galileo25] [DPT21] [PASTIS21]</a:t>
            </a:r>
            <a:endParaRPr lang="en-US" sz="800" dirty="0"/>
          </a:p>
        </p:txBody>
      </p:sp>
      <p:sp>
        <p:nvSpPr>
          <p:cNvPr id="17" name="Text 14"/>
          <p:cNvSpPr txBox="1"/>
          <p:nvPr/>
        </p:nvSpPr>
        <p:spPr>
          <a:xfrm>
            <a:off x="8183880" y="4869180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4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4/20</a:t>
            </a:r>
            <a:endParaRPr lang="en-US" sz="840" dirty="0"/>
          </a:p>
        </p:txBody>
      </p:sp>
      <p:sp>
        <p:nvSpPr>
          <p:cNvPr id="18" name="Shape 15"/>
          <p:cNvSpPr/>
          <p:nvPr/>
        </p:nvSpPr>
        <p:spPr>
          <a:xfrm>
            <a:off x="457200" y="4338828"/>
            <a:ext cx="8229600" cy="402336"/>
          </a:xfrm>
          <a:prstGeom prst="rect">
            <a:avLst/>
          </a:prstGeom>
          <a:solidFill>
            <a:srgbClr val="FFFFFF"/>
          </a:solidFill>
          <a:ln w="6985">
            <a:solidFill>
              <a:srgbClr val="E2E8F0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457200" y="4338828"/>
            <a:ext cx="50292" cy="402336"/>
          </a:xfrm>
          <a:prstGeom prst="rect">
            <a:avLst/>
          </a:prstGeom>
          <a:solidFill>
            <a:srgbClr val="0EA5E9"/>
          </a:solidFill>
          <a:ln w="12700">
            <a:solidFill>
              <a:srgbClr val="0EA5E9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585216" y="4393692"/>
            <a:ext cx="79735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20" b="1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三个缺口对应三段受控实验：空间 → 时间 → 先验。</a:t>
            </a:r>
            <a:endParaRPr lang="en-US" sz="92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979932"/>
            <a:ext cx="777240" cy="45720"/>
          </a:xfrm>
          <a:prstGeom prst="rect">
            <a:avLst/>
          </a:prstGeom>
          <a:solidFill>
            <a:srgbClr val="0EA5E9"/>
          </a:solidFill>
          <a:ln w="12700">
            <a:solidFill>
              <a:srgbClr val="0EA5E9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91440"/>
            <a:ext cx="8229600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先建立可信基线，再逐步增加时间结构和外部知识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32460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输入、encoder、评测协议固定；每一步只增加一个新问题</a:t>
            </a:r>
            <a:endParaRPr lang="en-US" sz="1300" dirty="0"/>
          </a:p>
        </p:txBody>
      </p:sp>
      <p:pic>
        <p:nvPicPr>
          <p:cNvPr id="5" name="Image 0" descr="D:\ycy\GISproject\PreSSL-CropSeg\final_presentation\deck_workspace\assets\diagrams\workflow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208532"/>
            <a:ext cx="5916168" cy="288340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6629400" y="1208532"/>
            <a:ext cx="36576" cy="781255"/>
          </a:xfrm>
          <a:prstGeom prst="rect">
            <a:avLst/>
          </a:prstGeom>
          <a:solidFill>
            <a:srgbClr val="0EA5E9"/>
          </a:solidFill>
          <a:ln w="12700">
            <a:solidFill>
              <a:srgbClr val="0EA5E9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6757416" y="1208532"/>
            <a:ext cx="192938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EA5E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固定协议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6757416" y="1491996"/>
            <a:ext cx="1929384" cy="47035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PASTIS 月度聚合；folds 1/2/3 → 4 → 5；seed42。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6629400" y="2099515"/>
            <a:ext cx="36576" cy="941348"/>
          </a:xfrm>
          <a:prstGeom prst="rect">
            <a:avLst/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757416" y="2099515"/>
            <a:ext cx="192938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341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冻结表征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6757416" y="2382979"/>
            <a:ext cx="1929384" cy="6304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Galileo encoder 完全冻结；共享 spatial_v1 / temporal_v2 缓存。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6629400" y="3150592"/>
            <a:ext cx="36576" cy="941348"/>
          </a:xfrm>
          <a:prstGeom prst="rect">
            <a:avLst/>
          </a:prstGeom>
          <a:solidFill>
            <a:srgbClr val="0EA5E9"/>
          </a:solidFill>
          <a:ln w="12700">
            <a:solidFill>
              <a:srgbClr val="0EA5E9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6757416" y="3150592"/>
            <a:ext cx="192938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EA5E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证据纪律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6757416" y="3434056"/>
            <a:ext cx="1929384" cy="6304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总体 mIoU + accuracy + macro F1 + 逐类 IoU/F1 + 模块诊断。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457200" y="4814316"/>
            <a:ext cx="8229600" cy="18288"/>
          </a:xfrm>
          <a:prstGeom prst="rect">
            <a:avLst/>
          </a:prstGeom>
          <a:solidFill>
            <a:srgbClr val="E2E8F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57200" y="4869180"/>
            <a:ext cx="75803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Sources: [ProjectProtocol] [DECODER_EXPERIMENTS]</a:t>
            </a:r>
            <a:endParaRPr lang="en-US" sz="800" dirty="0"/>
          </a:p>
        </p:txBody>
      </p:sp>
      <p:sp>
        <p:nvSpPr>
          <p:cNvPr id="17" name="Text 14"/>
          <p:cNvSpPr txBox="1"/>
          <p:nvPr/>
        </p:nvSpPr>
        <p:spPr>
          <a:xfrm>
            <a:off x="8183880" y="4869180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4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5/20</a:t>
            </a:r>
            <a:endParaRPr lang="en-US" sz="840" dirty="0"/>
          </a:p>
        </p:txBody>
      </p:sp>
      <p:sp>
        <p:nvSpPr>
          <p:cNvPr id="18" name="Shape 15"/>
          <p:cNvSpPr/>
          <p:nvPr/>
        </p:nvSpPr>
        <p:spPr>
          <a:xfrm>
            <a:off x="457200" y="4338828"/>
            <a:ext cx="8229600" cy="402336"/>
          </a:xfrm>
          <a:prstGeom prst="rect">
            <a:avLst/>
          </a:prstGeom>
          <a:solidFill>
            <a:srgbClr val="FFFFFF"/>
          </a:solidFill>
          <a:ln w="6985">
            <a:solidFill>
              <a:srgbClr val="E2E8F0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457200" y="4338828"/>
            <a:ext cx="50292" cy="402336"/>
          </a:xfrm>
          <a:prstGeom prst="rect">
            <a:avLst/>
          </a:prstGeom>
          <a:solidFill>
            <a:srgbClr val="0EA5E9"/>
          </a:solidFill>
          <a:ln w="12700">
            <a:solidFill>
              <a:srgbClr val="0EA5E9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585216" y="4393692"/>
            <a:ext cx="79735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20" b="1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早期低结果先触发数据与 token 协议审计，后续比较建立在统一链路上。</a:t>
            </a:r>
            <a:endParaRPr lang="en-US" sz="92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979932"/>
            <a:ext cx="777240" cy="45720"/>
          </a:xfrm>
          <a:prstGeom prst="rect">
            <a:avLst/>
          </a:prstGeom>
          <a:solidFill>
            <a:srgbClr val="0EA5E9"/>
          </a:solidFill>
          <a:ln w="12700">
            <a:solidFill>
              <a:srgbClr val="0EA5E9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91440"/>
            <a:ext cx="8229600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空间细化显著释放了 Galileo 冻结表征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32460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同一冻结 encoder 下，线性读取并不等于像素级可恢复性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235964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空间读取结果</a:t>
            </a:r>
            <a:endParaRPr lang="en-US" sz="10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519428"/>
          <a:ext cx="8229600" cy="2563368"/>
        </p:xfrm>
        <a:graphic>
          <a:graphicData uri="http://schemas.openxmlformats.org/drawingml/2006/table">
            <a:tbl>
              <a:tblPr/>
              <a:tblGrid>
                <a:gridCol w="2057400"/>
                <a:gridCol w="2057400"/>
                <a:gridCol w="2057400"/>
                <a:gridCol w="2057400"/>
              </a:tblGrid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方法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EA5E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读取方式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EA5E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可训练参数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EA5E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Test mIoU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EA5E9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0F17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同协议 Linear Head</a:t>
                      </a:r>
                      <a:endParaRPr lang="en-US" sz="86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0F17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最终层 token 直接线性分类</a:t>
                      </a:r>
                      <a:endParaRPr lang="en-US" sz="86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0F17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0.234M</a:t>
                      </a:r>
                      <a:endParaRPr lang="en-US" sz="86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0F17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0.3209</a:t>
                      </a:r>
                      <a:endParaRPr lang="en-US" sz="86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0F17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最终层卷积</a:t>
                      </a:r>
                      <a:endParaRPr lang="en-US" sz="86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0F17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最终层特征 + 卷积细化 / 上采样</a:t>
                      </a:r>
                      <a:endParaRPr lang="en-US" sz="86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0F17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4.925M</a:t>
                      </a:r>
                      <a:endParaRPr lang="en-US" sz="86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0F17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0.4602</a:t>
                      </a:r>
                      <a:endParaRPr lang="en-US" sz="86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8FAFC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0F17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多层同尺度融合</a:t>
                      </a:r>
                      <a:endParaRPr lang="en-US" sz="86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0F17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layer 3/6/9/12 投影后融合</a:t>
                      </a:r>
                      <a:endParaRPr lang="en-US" sz="86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0F17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9.058M</a:t>
                      </a:r>
                      <a:endParaRPr lang="en-US" sz="86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0F17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0.4801</a:t>
                      </a:r>
                      <a:endParaRPr lang="en-US" sz="86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457200" y="4375404"/>
            <a:ext cx="8229600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566928" y="4457700"/>
            <a:ext cx="80101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最终层卷积相对 Linear 提升约 13.92 pp；多层读取继续提升约 1.99 pp。参数量与 seed 不完全受控，因此这里只作空间读取阶段证据。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457200" y="4814316"/>
            <a:ext cx="8229600" cy="18288"/>
          </a:xfrm>
          <a:prstGeom prst="rect">
            <a:avLst/>
          </a:prstGeom>
          <a:solidFill>
            <a:srgbClr val="E2E8F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457200" y="4869180"/>
            <a:ext cx="75803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Sources: [Run2026] [DPT21]</a:t>
            </a:r>
            <a:endParaRPr lang="en-US" sz="800" dirty="0"/>
          </a:p>
        </p:txBody>
      </p:sp>
      <p:sp>
        <p:nvSpPr>
          <p:cNvPr id="11" name="Text 8"/>
          <p:cNvSpPr txBox="1"/>
          <p:nvPr/>
        </p:nvSpPr>
        <p:spPr>
          <a:xfrm>
            <a:off x="8183880" y="4869180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4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6/20</a:t>
            </a:r>
            <a:endParaRPr lang="en-US" sz="84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979932"/>
            <a:ext cx="777240" cy="45720"/>
          </a:xfrm>
          <a:prstGeom prst="rect">
            <a:avLst/>
          </a:prstGeom>
          <a:solidFill>
            <a:srgbClr val="0EA5E9"/>
          </a:solidFill>
          <a:ln w="12700">
            <a:solidFill>
              <a:srgbClr val="0EA5E9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91440"/>
            <a:ext cx="8229600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旧接口保留了时间上下文，却过早丢失月份身份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32460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问题不是没有时间信息，而是 decoder 前固定 mean(T)</a:t>
            </a:r>
            <a:endParaRPr lang="en-US" sz="1300" dirty="0"/>
          </a:p>
        </p:txBody>
      </p:sp>
      <p:pic>
        <p:nvPicPr>
          <p:cNvPr id="5" name="Image 0" descr="D:\ycy\GISproject\PreSSL-CropSeg\final_presentation\deck_workspace\assets\diagrams\temporal_bottleneck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208532"/>
            <a:ext cx="5916168" cy="288340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6629400" y="1208532"/>
            <a:ext cx="36576" cy="929640"/>
          </a:xfrm>
          <a:prstGeom prst="rect">
            <a:avLst/>
          </a:prstGeom>
          <a:solidFill>
            <a:srgbClr val="0EA5E9"/>
          </a:solidFill>
          <a:ln w="12700">
            <a:solidFill>
              <a:srgbClr val="0EA5E9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6757416" y="1208532"/>
            <a:ext cx="192938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EA5E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已经保留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6757416" y="1491996"/>
            <a:ext cx="1929384" cy="6187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 个月共同进入 Galileo；每个月 token 已包含跨时间上下文。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6629400" y="2247900"/>
            <a:ext cx="36576" cy="929640"/>
          </a:xfrm>
          <a:prstGeom prst="rect">
            <a:avLst/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757416" y="2247900"/>
            <a:ext cx="192938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341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被固定平均限制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6757416" y="2531364"/>
            <a:ext cx="1929384" cy="6187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decoder 只能看到二维平均图，不能再判断哪个月份重要。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6629400" y="3287268"/>
            <a:ext cx="36576" cy="739140"/>
          </a:xfrm>
          <a:prstGeom prst="rect">
            <a:avLst/>
          </a:prstGeom>
          <a:solidFill>
            <a:srgbClr val="0EA5E9"/>
          </a:solidFill>
          <a:ln w="12700">
            <a:solidFill>
              <a:srgbClr val="0EA5E9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6757416" y="3287268"/>
            <a:ext cx="192938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EA5E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下一问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6757416" y="3570732"/>
            <a:ext cx="1929384" cy="4282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时间维应该保留到哪里，最后又怎样压缩？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457200" y="4814316"/>
            <a:ext cx="8229600" cy="18288"/>
          </a:xfrm>
          <a:prstGeom prst="rect">
            <a:avLst/>
          </a:prstGeom>
          <a:solidFill>
            <a:srgbClr val="E2E8F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57200" y="4869180"/>
            <a:ext cx="75803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Sources: [ProjectProtocol] [TemporalReadout]</a:t>
            </a:r>
            <a:endParaRPr lang="en-US" sz="800" dirty="0"/>
          </a:p>
        </p:txBody>
      </p:sp>
      <p:sp>
        <p:nvSpPr>
          <p:cNvPr id="17" name="Text 14"/>
          <p:cNvSpPr txBox="1"/>
          <p:nvPr/>
        </p:nvSpPr>
        <p:spPr>
          <a:xfrm>
            <a:off x="8183880" y="4869180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4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7/20</a:t>
            </a:r>
            <a:endParaRPr lang="en-US" sz="840" dirty="0"/>
          </a:p>
        </p:txBody>
      </p:sp>
      <p:sp>
        <p:nvSpPr>
          <p:cNvPr id="18" name="Shape 15"/>
          <p:cNvSpPr/>
          <p:nvPr/>
        </p:nvSpPr>
        <p:spPr>
          <a:xfrm>
            <a:off x="457200" y="4338828"/>
            <a:ext cx="8229600" cy="402336"/>
          </a:xfrm>
          <a:prstGeom prst="rect">
            <a:avLst/>
          </a:prstGeom>
          <a:solidFill>
            <a:srgbClr val="FFFFFF"/>
          </a:solidFill>
          <a:ln w="6985">
            <a:solidFill>
              <a:srgbClr val="E2E8F0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457200" y="4338828"/>
            <a:ext cx="50292" cy="402336"/>
          </a:xfrm>
          <a:prstGeom prst="rect">
            <a:avLst/>
          </a:prstGeom>
          <a:solidFill>
            <a:srgbClr val="0EA5E9"/>
          </a:solidFill>
          <a:ln w="12700">
            <a:solidFill>
              <a:srgbClr val="0EA5E9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585216" y="4393692"/>
            <a:ext cx="79735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20" b="1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固定平均把一个可学习问题提前写死了。</a:t>
            </a:r>
            <a:endParaRPr lang="en-US" sz="92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979932"/>
            <a:ext cx="777240" cy="45720"/>
          </a:xfrm>
          <a:prstGeom prst="rect">
            <a:avLst/>
          </a:prstGeom>
          <a:solidFill>
            <a:srgbClr val="0EA5E9"/>
          </a:solidFill>
          <a:ln w="12700">
            <a:solidFill>
              <a:srgbClr val="0EA5E9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91440"/>
            <a:ext cx="8229600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从固定时间平均推进到可学习时间融合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32460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Temporal Readout 更通用；3D-Aware 更晚压缩时间维</a:t>
            </a:r>
            <a:endParaRPr lang="en-US" sz="1300" dirty="0"/>
          </a:p>
        </p:txBody>
      </p:sp>
      <p:pic>
        <p:nvPicPr>
          <p:cNvPr id="5" name="Image 0" descr="D:\ycy\GISproject\PreSSL-CropSeg\final_presentation\deck_workspace\assets\diagrams\temporal_fusion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208532"/>
            <a:ext cx="5916168" cy="288340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6629400" y="1208532"/>
            <a:ext cx="36576" cy="887984"/>
          </a:xfrm>
          <a:prstGeom prst="rect">
            <a:avLst/>
          </a:prstGeom>
          <a:solidFill>
            <a:srgbClr val="0EA5E9"/>
          </a:solidFill>
          <a:ln w="12700">
            <a:solidFill>
              <a:srgbClr val="0EA5E9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6757416" y="1208532"/>
            <a:ext cx="192938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EA5E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Temporal Readout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6757416" y="1491996"/>
            <a:ext cx="1929384" cy="5770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每层、每个空间位置学习 12 个月权重，再接 2D decoder。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6629400" y="2206244"/>
            <a:ext cx="36576" cy="887984"/>
          </a:xfrm>
          <a:prstGeom prst="rect">
            <a:avLst/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757416" y="2206244"/>
            <a:ext cx="192938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341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3D-Aware DPT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6757416" y="2489708"/>
            <a:ext cx="1929384" cy="5770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时间维进入多层重组与高分辨率融合，最后 query pooling。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6629400" y="3203956"/>
            <a:ext cx="36576" cy="887984"/>
          </a:xfrm>
          <a:prstGeom prst="rect">
            <a:avLst/>
          </a:prstGeom>
          <a:solidFill>
            <a:srgbClr val="0EA5E9"/>
          </a:solidFill>
          <a:ln w="12700">
            <a:solidFill>
              <a:srgbClr val="0EA5E9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6757416" y="3203956"/>
            <a:ext cx="192938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EA5E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共同问题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6757416" y="3487420"/>
            <a:ext cx="1929384" cy="5770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不要在 decoder 前默认所有月份具有相同贡献。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457200" y="4814316"/>
            <a:ext cx="8229600" cy="18288"/>
          </a:xfrm>
          <a:prstGeom prst="rect">
            <a:avLst/>
          </a:prstGeom>
          <a:solidFill>
            <a:srgbClr val="E2E8F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57200" y="4869180"/>
            <a:ext cx="75803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Sources: [TemporalReadout] [DPT21] [ProjectProtocol]</a:t>
            </a:r>
            <a:endParaRPr lang="en-US" sz="800" dirty="0"/>
          </a:p>
        </p:txBody>
      </p:sp>
      <p:sp>
        <p:nvSpPr>
          <p:cNvPr id="17" name="Text 14"/>
          <p:cNvSpPr txBox="1"/>
          <p:nvPr/>
        </p:nvSpPr>
        <p:spPr>
          <a:xfrm>
            <a:off x="8183880" y="4869180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4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8/20</a:t>
            </a:r>
            <a:endParaRPr lang="en-US" sz="840" dirty="0"/>
          </a:p>
        </p:txBody>
      </p:sp>
      <p:sp>
        <p:nvSpPr>
          <p:cNvPr id="18" name="Shape 15"/>
          <p:cNvSpPr/>
          <p:nvPr/>
        </p:nvSpPr>
        <p:spPr>
          <a:xfrm>
            <a:off x="457200" y="4338828"/>
            <a:ext cx="8229600" cy="402336"/>
          </a:xfrm>
          <a:prstGeom prst="rect">
            <a:avLst/>
          </a:prstGeom>
          <a:solidFill>
            <a:srgbClr val="FFFFFF"/>
          </a:solidFill>
          <a:ln w="6985">
            <a:solidFill>
              <a:srgbClr val="E2E8F0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457200" y="4338828"/>
            <a:ext cx="50292" cy="402336"/>
          </a:xfrm>
          <a:prstGeom prst="rect">
            <a:avLst/>
          </a:prstGeom>
          <a:solidFill>
            <a:srgbClr val="0EA5E9"/>
          </a:solidFill>
          <a:ln w="12700">
            <a:solidFill>
              <a:srgbClr val="0EA5E9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585216" y="4393692"/>
            <a:ext cx="79735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20" b="1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一个学习怎么读月份，一个把时间保留得更久；两者都检验晚压缩是否更合理。</a:t>
            </a:r>
            <a:endParaRPr lang="en-US" sz="92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979932"/>
            <a:ext cx="777240" cy="45720"/>
          </a:xfrm>
          <a:prstGeom prst="rect">
            <a:avLst/>
          </a:prstGeom>
          <a:solidFill>
            <a:srgbClr val="0EA5E9"/>
          </a:solidFill>
          <a:ln w="12700">
            <a:solidFill>
              <a:srgbClr val="0EA5E9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91440"/>
            <a:ext cx="8229600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保留时间结构后，Test mIoU 提升到约 60%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32460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Temporal Readout 跨 decoder 有效；3D-Aware 形成后续先验研究的强视觉基线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235964"/>
            <a:ext cx="40050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Temporal Readout × 2D decoder（fold5 test）</a:t>
            </a:r>
            <a:endParaRPr lang="en-US" sz="105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519428"/>
          <a:ext cx="4005072" cy="2563368"/>
        </p:xfrm>
        <a:graphic>
          <a:graphicData uri="http://schemas.openxmlformats.org/drawingml/2006/table">
            <a:tbl>
              <a:tblPr/>
              <a:tblGrid>
                <a:gridCol w="1001268"/>
                <a:gridCol w="1001268"/>
                <a:gridCol w="1001268"/>
                <a:gridCol w="1001268"/>
              </a:tblGrid>
              <a:tr h="2560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方案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EA5E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Test mIoU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EA5E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Test accuracy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EA5E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Test F1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EA5E9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0F17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Single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0F17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0.54938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0F17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0.80589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0F17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0.68833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0F17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Multi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0F17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0.56154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0F17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0.81030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0F17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0.69712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8FAFC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0F17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Galileo-Adapted DPT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0F17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0.54637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0F17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0.80904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0F17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0.68433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0F17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UPerNet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0F17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0.54442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0F17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0.80342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0F17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0.68279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4681728" y="1235964"/>
            <a:ext cx="40050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3D-Aware 强视觉基线</a:t>
            </a:r>
            <a:endParaRPr lang="en-US" sz="1050" dirty="0"/>
          </a:p>
        </p:txBody>
      </p:sp>
      <p:graphicFrame>
        <p:nvGraphicFramePr>
          <p:cNvPr id="1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681728" y="1519428"/>
          <a:ext cx="4005072" cy="2563368"/>
        </p:xfrm>
        <a:graphic>
          <a:graphicData uri="http://schemas.openxmlformats.org/drawingml/2006/table">
            <a:tbl>
              <a:tblPr/>
              <a:tblGrid>
                <a:gridCol w="801014"/>
                <a:gridCol w="801014"/>
                <a:gridCol w="801014"/>
                <a:gridCol w="801014"/>
                <a:gridCol w="801014"/>
              </a:tblGrid>
              <a:tr h="2560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方法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EA5E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Test loss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EA5E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Test mIoU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EA5E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Test accuracy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EA5E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Test F1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EA5E9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0F17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B0：无先验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0F17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1.03279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0F17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0.59945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0F17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0.81781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0F17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0.73133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hape 5"/>
          <p:cNvSpPr/>
          <p:nvPr/>
        </p:nvSpPr>
        <p:spPr>
          <a:xfrm>
            <a:off x="457200" y="4375404"/>
            <a:ext cx="8229600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566928" y="4457700"/>
            <a:ext cx="80101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Temporal Readout 证明可学习月份读取可以复用；3D-Aware 把时间维保留到高分辨率融合之后，取得当前最强视觉基线。</a:t>
            </a:r>
            <a:endParaRPr lang="en-US" sz="1200" dirty="0"/>
          </a:p>
        </p:txBody>
      </p:sp>
      <p:sp>
        <p:nvSpPr>
          <p:cNvPr id="11" name="Shape 7"/>
          <p:cNvSpPr/>
          <p:nvPr/>
        </p:nvSpPr>
        <p:spPr>
          <a:xfrm>
            <a:off x="457200" y="4814316"/>
            <a:ext cx="8229600" cy="18288"/>
          </a:xfrm>
          <a:prstGeom prst="rect">
            <a:avLst/>
          </a:prstGeom>
          <a:solidFill>
            <a:srgbClr val="E2E8F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457200" y="4869180"/>
            <a:ext cx="75803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Sources: [Run2026] [TemporalReadout]</a:t>
            </a:r>
            <a:endParaRPr lang="en-US" sz="800" dirty="0"/>
          </a:p>
        </p:txBody>
      </p:sp>
      <p:sp>
        <p:nvSpPr>
          <p:cNvPr id="13" name="Text 9"/>
          <p:cNvSpPr txBox="1"/>
          <p:nvPr/>
        </p:nvSpPr>
        <p:spPr>
          <a:xfrm>
            <a:off x="8183880" y="4869180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4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9/20</a:t>
            </a:r>
            <a:endParaRPr lang="en-US" sz="84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979932"/>
            <a:ext cx="777240" cy="45720"/>
          </a:xfrm>
          <a:prstGeom prst="rect">
            <a:avLst/>
          </a:prstGeom>
          <a:solidFill>
            <a:srgbClr val="0EA5E9"/>
          </a:solidFill>
          <a:ln w="12700">
            <a:solidFill>
              <a:srgbClr val="0EA5E9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91440"/>
            <a:ext cx="8229600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强时间模型解决主要矛盾，但没有消除类别异质性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32460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先验研究不是因为视觉模型不够强，而是因为不同类别需要的线索并不相同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950976" y="1272540"/>
            <a:ext cx="7242048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50976" y="1382268"/>
          <a:ext cx="7242048" cy="1792224"/>
        </p:xfrm>
        <a:graphic>
          <a:graphicData uri="http://schemas.openxmlformats.org/drawingml/2006/table">
            <a:tbl>
              <a:tblPr/>
              <a:tblGrid>
                <a:gridCol w="1875173"/>
                <a:gridCol w="3039074"/>
                <a:gridCol w="2327801"/>
              </a:tblGrid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80" b="1" dirty="0">
                          <a:solidFill>
                            <a:srgbClr val="0F17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类别组</a:t>
                      </a:r>
                      <a:endParaRPr lang="en-US" sz="9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80" b="1" dirty="0">
                          <a:solidFill>
                            <a:srgbClr val="0F17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3D-Aware 代表性 IoU</a:t>
                      </a:r>
                      <a:endParaRPr lang="en-US" sz="9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80" b="1" dirty="0">
                          <a:solidFill>
                            <a:srgbClr val="0F17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观察</a:t>
                      </a:r>
                      <a:endParaRPr lang="en-US" sz="9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2E8F0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90" dirty="0">
                          <a:solidFill>
                            <a:srgbClr val="0F17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表现较好的季节作物</a:t>
                      </a:r>
                      <a:endParaRPr lang="en-US" sz="89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90" dirty="0">
                          <a:solidFill>
                            <a:srgbClr val="0F17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Corn 0.854 · Rapeseed 0.884 · Beet 0.858</a:t>
                      </a:r>
                      <a:endParaRPr lang="en-US" sz="89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90" dirty="0">
                          <a:solidFill>
                            <a:srgbClr val="0F17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明显季节变化已被时间融合较好捕捉</a:t>
                      </a:r>
                      <a:endParaRPr lang="en-US" sz="89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90" dirty="0">
                          <a:solidFill>
                            <a:srgbClr val="0F17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仍然困难的类别</a:t>
                      </a:r>
                      <a:endParaRPr lang="en-US" sz="89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90" dirty="0">
                          <a:solidFill>
                            <a:srgbClr val="0F17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Winter triticale 0.368 · Leguminous fodder 0.365 · Sorghum 0.312</a:t>
                      </a:r>
                      <a:endParaRPr lang="en-US" sz="89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90" dirty="0">
                          <a:solidFill>
                            <a:srgbClr val="0F17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少样本、相似类别或类内差异仍未解决</a:t>
                      </a:r>
                      <a:endParaRPr lang="en-US" sz="89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90" dirty="0">
                          <a:solidFill>
                            <a:srgbClr val="0F17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多年生或聚合类别</a:t>
                      </a:r>
                      <a:endParaRPr lang="en-US" sz="89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90" dirty="0">
                          <a:solidFill>
                            <a:srgbClr val="0F17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Orchard 0.408 · Mixed cereal 0.398 · Fruits/vegetables/flowers 0.363</a:t>
                      </a:r>
                      <a:endParaRPr lang="en-US" sz="89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90" dirty="0">
                          <a:solidFill>
                            <a:srgbClr val="0F17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单一标准物候曲线未必适用</a:t>
                      </a:r>
                      <a:endParaRPr lang="en-US" sz="89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950976" y="3284220"/>
            <a:ext cx="72420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900" i="1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总体 mIoU 不能替代逐类分析；先验的收益应按类别和来源解释。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457200" y="4814316"/>
            <a:ext cx="8229600" cy="18288"/>
          </a:xfrm>
          <a:prstGeom prst="rect">
            <a:avLst/>
          </a:prstGeom>
          <a:solidFill>
            <a:srgbClr val="E2E8F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457200" y="4869180"/>
            <a:ext cx="75803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Sources: [Run2026] [PASTIS21]</a:t>
            </a:r>
            <a:endParaRPr lang="en-US" sz="800" dirty="0"/>
          </a:p>
        </p:txBody>
      </p:sp>
      <p:sp>
        <p:nvSpPr>
          <p:cNvPr id="10" name="Text 7"/>
          <p:cNvSpPr txBox="1"/>
          <p:nvPr/>
        </p:nvSpPr>
        <p:spPr>
          <a:xfrm>
            <a:off x="8183880" y="4869180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4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10/20</a:t>
            </a:r>
            <a:endParaRPr lang="en-US" sz="840" dirty="0"/>
          </a:p>
        </p:txBody>
      </p:sp>
      <p:sp>
        <p:nvSpPr>
          <p:cNvPr id="11" name="Shape 8"/>
          <p:cNvSpPr/>
          <p:nvPr/>
        </p:nvSpPr>
        <p:spPr>
          <a:xfrm>
            <a:off x="457200" y="4338828"/>
            <a:ext cx="8229600" cy="402336"/>
          </a:xfrm>
          <a:prstGeom prst="rect">
            <a:avLst/>
          </a:prstGeom>
          <a:solidFill>
            <a:srgbClr val="FFFFFF"/>
          </a:solidFill>
          <a:ln w="6985">
            <a:solidFill>
              <a:srgbClr val="E2E8F0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457200" y="4338828"/>
            <a:ext cx="50292" cy="402336"/>
          </a:xfrm>
          <a:prstGeom prst="rect">
            <a:avLst/>
          </a:prstGeom>
          <a:solidFill>
            <a:srgbClr val="0EA5E9"/>
          </a:solidFill>
          <a:ln w="12700">
            <a:solidFill>
              <a:srgbClr val="0EA5E9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585216" y="4393692"/>
            <a:ext cx="79735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20" b="1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研究判断：先验不是无条件增益，而是“什么知识、在什么位置、对什么视觉内容有效”。</a:t>
            </a:r>
            <a:endParaRPr lang="en-US" sz="92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979932"/>
            <a:ext cx="777240" cy="45720"/>
          </a:xfrm>
          <a:prstGeom prst="rect">
            <a:avLst/>
          </a:prstGeom>
          <a:solidFill>
            <a:srgbClr val="0EA5E9"/>
          </a:solidFill>
          <a:ln w="12700">
            <a:solidFill>
              <a:srgbClr val="0EA5E9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91440"/>
            <a:ext cx="8229600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V1：先验证物候内容是否有信号，再讨论复杂注入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32460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Global Add 是最小反事实实验，不是最终通用方案</a:t>
            </a:r>
            <a:endParaRPr lang="en-US" sz="1300" dirty="0"/>
          </a:p>
        </p:txBody>
      </p:sp>
      <p:pic>
        <p:nvPicPr>
          <p:cNvPr id="5" name="Image 0" descr="D:\ycy\GISproject\PreSSL-CropSeg\final_presentation\deck_workspace\assets\diagrams\v1_global_add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208532"/>
            <a:ext cx="5916168" cy="288340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6629400" y="1208532"/>
            <a:ext cx="36576" cy="929640"/>
          </a:xfrm>
          <a:prstGeom prst="rect">
            <a:avLst/>
          </a:prstGeom>
          <a:solidFill>
            <a:srgbClr val="0EA5E9"/>
          </a:solidFill>
          <a:ln w="12700">
            <a:solidFill>
              <a:srgbClr val="0EA5E9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6757416" y="1208532"/>
            <a:ext cx="192938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EA5E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P0 · 无先验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6757416" y="1491996"/>
            <a:ext cx="1929384" cy="6187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Single Temporal Readout：0.54938 mIoU。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6629400" y="2247900"/>
            <a:ext cx="36576" cy="929640"/>
          </a:xfrm>
          <a:prstGeom prst="rect">
            <a:avLst/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757416" y="2247900"/>
            <a:ext cx="192938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341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P1 · 正确物候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6757416" y="2531364"/>
            <a:ext cx="1929384" cy="6187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0.55316；相对 P0 +0.378 pp。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6629400" y="3287268"/>
            <a:ext cx="36576" cy="739140"/>
          </a:xfrm>
          <a:prstGeom prst="rect">
            <a:avLst/>
          </a:prstGeom>
          <a:solidFill>
            <a:srgbClr val="0EA5E9"/>
          </a:solidFill>
          <a:ln w="12700">
            <a:solidFill>
              <a:srgbClr val="0EA5E9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6757416" y="3287268"/>
            <a:ext cx="192938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EA5E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P2 · 类别置乱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6757416" y="3570732"/>
            <a:ext cx="1929384" cy="4282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0.54784；正确对应关系略优于置乱。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457200" y="4814316"/>
            <a:ext cx="8229600" cy="18288"/>
          </a:xfrm>
          <a:prstGeom prst="rect">
            <a:avLst/>
          </a:prstGeom>
          <a:solidFill>
            <a:srgbClr val="E2E8F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57200" y="4869180"/>
            <a:ext cx="75803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Sources: [PhenologyPrior] [Run2026]</a:t>
            </a:r>
            <a:endParaRPr lang="en-US" sz="800" dirty="0"/>
          </a:p>
        </p:txBody>
      </p:sp>
      <p:sp>
        <p:nvSpPr>
          <p:cNvPr id="17" name="Text 14"/>
          <p:cNvSpPr txBox="1"/>
          <p:nvPr/>
        </p:nvSpPr>
        <p:spPr>
          <a:xfrm>
            <a:off x="8183880" y="4869180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4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11/20</a:t>
            </a:r>
            <a:endParaRPr lang="en-US" sz="840" dirty="0"/>
          </a:p>
        </p:txBody>
      </p:sp>
      <p:sp>
        <p:nvSpPr>
          <p:cNvPr id="18" name="Shape 15"/>
          <p:cNvSpPr/>
          <p:nvPr/>
        </p:nvSpPr>
        <p:spPr>
          <a:xfrm>
            <a:off x="457200" y="4338828"/>
            <a:ext cx="8229600" cy="402336"/>
          </a:xfrm>
          <a:prstGeom prst="rect">
            <a:avLst/>
          </a:prstGeom>
          <a:solidFill>
            <a:srgbClr val="FFFFFF"/>
          </a:solidFill>
          <a:ln w="6985">
            <a:solidFill>
              <a:srgbClr val="E2E8F0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457200" y="4338828"/>
            <a:ext cx="50292" cy="402336"/>
          </a:xfrm>
          <a:prstGeom prst="rect">
            <a:avLst/>
          </a:prstGeom>
          <a:solidFill>
            <a:srgbClr val="0EA5E9"/>
          </a:solidFill>
          <a:ln w="12700">
            <a:solidFill>
              <a:srgbClr val="0EA5E9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585216" y="4393692"/>
            <a:ext cx="79735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20" b="1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物候可能有弱信号，但全局广播太粗，无法支持通用异构先验。</a:t>
            </a:r>
            <a:endParaRPr lang="en-US" sz="92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979932"/>
            <a:ext cx="777240" cy="45720"/>
          </a:xfrm>
          <a:prstGeom prst="rect">
            <a:avLst/>
          </a:prstGeom>
          <a:solidFill>
            <a:srgbClr val="0EA5E9"/>
          </a:solidFill>
          <a:ln w="12700">
            <a:solidFill>
              <a:srgbClr val="0EA5E9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91440"/>
            <a:ext cx="8229600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统一异构先验接口：来源不同，但可以一起被诊断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32460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不把物候、气候、土壤和地理强行当成同一种数据</a:t>
            </a:r>
            <a:endParaRPr lang="en-US" sz="1300" dirty="0"/>
          </a:p>
        </p:txBody>
      </p:sp>
      <p:pic>
        <p:nvPicPr>
          <p:cNvPr id="5" name="Image 0" descr="D:\ycy\GISproject\PreSSL-CropSeg\final_presentation\deck_workspace\assets\diagrams\prior_batch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208532"/>
            <a:ext cx="5916168" cy="288340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6629400" y="1208532"/>
            <a:ext cx="36576" cy="887984"/>
          </a:xfrm>
          <a:prstGeom prst="rect">
            <a:avLst/>
          </a:prstGeom>
          <a:solidFill>
            <a:srgbClr val="0EA5E9"/>
          </a:solidFill>
          <a:ln w="12700">
            <a:solidFill>
              <a:srgbClr val="0EA5E9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6757416" y="1208532"/>
            <a:ext cx="192938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EA5E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M1 · 物候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6757416" y="1491996"/>
            <a:ext cx="1929384" cy="5770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类别×月份强度与置信度；19×12 token。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6629400" y="2206244"/>
            <a:ext cx="36576" cy="887984"/>
          </a:xfrm>
          <a:prstGeom prst="rect">
            <a:avLst/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757416" y="2206244"/>
            <a:ext cx="192938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341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M2–M3 · 环境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6757416" y="2489708"/>
            <a:ext cx="1929384" cy="5770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月度气候与多深度土壤属性；保留 valid mask / uncertainty。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6629400" y="3203956"/>
            <a:ext cx="36576" cy="887984"/>
          </a:xfrm>
          <a:prstGeom prst="rect">
            <a:avLst/>
          </a:prstGeom>
          <a:solidFill>
            <a:srgbClr val="0EA5E9"/>
          </a:solidFill>
          <a:ln w="12700">
            <a:solidFill>
              <a:srgbClr val="0EA5E9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6757416" y="3203956"/>
            <a:ext cx="192938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EA5E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M4 · 地理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6757416" y="3487420"/>
            <a:ext cx="1929384" cy="5770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train-fold 标准化经纬度；一个静态上下文 token。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457200" y="4814316"/>
            <a:ext cx="8229600" cy="18288"/>
          </a:xfrm>
          <a:prstGeom prst="rect">
            <a:avLst/>
          </a:prstGeom>
          <a:solidFill>
            <a:srgbClr val="E2E8F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57200" y="4869180"/>
            <a:ext cx="75803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Sources: [PriorBatch] [EnvironmentPriors]</a:t>
            </a:r>
            <a:endParaRPr lang="en-US" sz="800" dirty="0"/>
          </a:p>
        </p:txBody>
      </p:sp>
      <p:sp>
        <p:nvSpPr>
          <p:cNvPr id="17" name="Text 14"/>
          <p:cNvSpPr txBox="1"/>
          <p:nvPr/>
        </p:nvSpPr>
        <p:spPr>
          <a:xfrm>
            <a:off x="8183880" y="4869180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4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12/20</a:t>
            </a:r>
            <a:endParaRPr lang="en-US" sz="840" dirty="0"/>
          </a:p>
        </p:txBody>
      </p:sp>
      <p:sp>
        <p:nvSpPr>
          <p:cNvPr id="18" name="Shape 15"/>
          <p:cNvSpPr/>
          <p:nvPr/>
        </p:nvSpPr>
        <p:spPr>
          <a:xfrm>
            <a:off x="457200" y="4338828"/>
            <a:ext cx="8229600" cy="402336"/>
          </a:xfrm>
          <a:prstGeom prst="rect">
            <a:avLst/>
          </a:prstGeom>
          <a:solidFill>
            <a:srgbClr val="FFFFFF"/>
          </a:solidFill>
          <a:ln w="6985">
            <a:solidFill>
              <a:srgbClr val="E2E8F0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457200" y="4338828"/>
            <a:ext cx="50292" cy="402336"/>
          </a:xfrm>
          <a:prstGeom prst="rect">
            <a:avLst/>
          </a:prstGeom>
          <a:solidFill>
            <a:srgbClr val="0EA5E9"/>
          </a:solidFill>
          <a:ln w="12700">
            <a:solidFill>
              <a:srgbClr val="0EA5E9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585216" y="4393692"/>
            <a:ext cx="79735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20" b="1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PriorBatch = {tokens, mask, confidence, source_id/type_id}；统一接口不等于抹平来源差异。</a:t>
            </a:r>
            <a:endParaRPr lang="en-US" sz="92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979932"/>
            <a:ext cx="777240" cy="45720"/>
          </a:xfrm>
          <a:prstGeom prst="rect">
            <a:avLst/>
          </a:prstGeom>
          <a:solidFill>
            <a:srgbClr val="0EA5E9"/>
          </a:solidFill>
          <a:ln w="12700">
            <a:solidFill>
              <a:srgbClr val="0EA5E9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91440"/>
            <a:ext cx="8229600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V2 CA-HPI：让每个视觉时空位置主动查询先验库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32460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从固定广播转向视觉内容驱动的先验选择</a:t>
            </a:r>
            <a:endParaRPr lang="en-US" sz="1300" dirty="0"/>
          </a:p>
        </p:txBody>
      </p:sp>
      <p:pic>
        <p:nvPicPr>
          <p:cNvPr id="5" name="Image 0" descr="D:\ycy\GISproject\PreSSL-CropSeg\final_presentation\deck_workspace\assets\diagrams\ca_hpi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208532"/>
            <a:ext cx="5916168" cy="288340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6629400" y="1208532"/>
            <a:ext cx="36576" cy="887984"/>
          </a:xfrm>
          <a:prstGeom prst="rect">
            <a:avLst/>
          </a:prstGeom>
          <a:solidFill>
            <a:srgbClr val="0EA5E9"/>
          </a:solidFill>
          <a:ln w="12700">
            <a:solidFill>
              <a:srgbClr val="0EA5E9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6757416" y="1208532"/>
            <a:ext cx="192938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EA5E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Query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6757416" y="1491996"/>
            <a:ext cx="1929384" cy="5770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视觉 token V_l 经过 LN / Wq，当前位置、月份和层各自产生 Query。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6629400" y="2206244"/>
            <a:ext cx="36576" cy="887984"/>
          </a:xfrm>
          <a:prstGeom prst="rect">
            <a:avLst/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757416" y="2206244"/>
            <a:ext cx="192938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341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Prior Key / Value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6757416" y="2489708"/>
            <a:ext cx="1929384" cy="5770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PriorBatch 提供 K/V；mask、confidence 和 source balance 一起参与。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6629400" y="3203956"/>
            <a:ext cx="36576" cy="887984"/>
          </a:xfrm>
          <a:prstGeom prst="rect">
            <a:avLst/>
          </a:prstGeom>
          <a:solidFill>
            <a:srgbClr val="0EA5E9"/>
          </a:solidFill>
          <a:ln w="12700">
            <a:solidFill>
              <a:srgbClr val="0EA5E9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6757416" y="3203956"/>
            <a:ext cx="192938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EA5E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Gated residual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6757416" y="3487420"/>
            <a:ext cx="1929384" cy="5770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candidate Delta_l 经 content gate 与 strength 控制后写回，输出形状不变。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457200" y="4814316"/>
            <a:ext cx="8229600" cy="18288"/>
          </a:xfrm>
          <a:prstGeom prst="rect">
            <a:avLst/>
          </a:prstGeom>
          <a:solidFill>
            <a:srgbClr val="E2E8F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57200" y="4869180"/>
            <a:ext cx="75803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Sources: [CA-HPI] [PriorBatch]</a:t>
            </a:r>
            <a:endParaRPr lang="en-US" sz="800" dirty="0"/>
          </a:p>
        </p:txBody>
      </p:sp>
      <p:sp>
        <p:nvSpPr>
          <p:cNvPr id="17" name="Text 14"/>
          <p:cNvSpPr txBox="1"/>
          <p:nvPr/>
        </p:nvSpPr>
        <p:spPr>
          <a:xfrm>
            <a:off x="8183880" y="4869180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4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13/20</a:t>
            </a:r>
            <a:endParaRPr lang="en-US" sz="840" dirty="0"/>
          </a:p>
        </p:txBody>
      </p:sp>
      <p:sp>
        <p:nvSpPr>
          <p:cNvPr id="18" name="Shape 15"/>
          <p:cNvSpPr/>
          <p:nvPr/>
        </p:nvSpPr>
        <p:spPr>
          <a:xfrm>
            <a:off x="457200" y="4338828"/>
            <a:ext cx="8229600" cy="402336"/>
          </a:xfrm>
          <a:prstGeom prst="rect">
            <a:avLst/>
          </a:prstGeom>
          <a:solidFill>
            <a:srgbClr val="FFFFFF"/>
          </a:solidFill>
          <a:ln w="6985">
            <a:solidFill>
              <a:srgbClr val="E2E8F0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457200" y="4338828"/>
            <a:ext cx="50292" cy="402336"/>
          </a:xfrm>
          <a:prstGeom prst="rect">
            <a:avLst/>
          </a:prstGeom>
          <a:solidFill>
            <a:srgbClr val="0EA5E9"/>
          </a:solidFill>
          <a:ln w="12700">
            <a:solidFill>
              <a:srgbClr val="0EA5E9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585216" y="4393692"/>
            <a:ext cx="79735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20" b="1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CA-HPI 的关键不是“多一个 attention”，而是把是否需要知识的选择权交给视觉内容。</a:t>
            </a:r>
            <a:endParaRPr lang="en-US" sz="92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979932"/>
            <a:ext cx="777240" cy="45720"/>
          </a:xfrm>
          <a:prstGeom prst="rect">
            <a:avLst/>
          </a:prstGeom>
          <a:solidFill>
            <a:srgbClr val="0EA5E9"/>
          </a:solidFill>
          <a:ln w="12700">
            <a:solidFill>
              <a:srgbClr val="0EA5E9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91440"/>
            <a:ext cx="8229600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V2 结果：多源先验不是越多越好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32460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M1 有弱正信号；四源直接竞争会带来类别冲突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235964"/>
            <a:ext cx="40050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总体结果（3D-Aware B0 为参照）</a:t>
            </a:r>
            <a:endParaRPr lang="en-US" sz="105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519428"/>
          <a:ext cx="4005072" cy="2563368"/>
        </p:xfrm>
        <a:graphic>
          <a:graphicData uri="http://schemas.openxmlformats.org/drawingml/2006/table">
            <a:tbl>
              <a:tblPr/>
              <a:tblGrid>
                <a:gridCol w="1001268"/>
                <a:gridCol w="1001268"/>
                <a:gridCol w="1001268"/>
                <a:gridCol w="1001268"/>
              </a:tblGrid>
              <a:tr h="2560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实验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EA5E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先验来源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EA5E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Test mIoU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EA5E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相对 B0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EA5E9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0F17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B0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0F17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无先验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0F17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0.59945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0F17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—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0F17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E7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0F17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CA-HPI + M1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0F17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0.60443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0F17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+0.498 pp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8FAFC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0F17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E8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0F17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CA-HPI + M1/M2/M3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0F17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0.60192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0F17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+0.247 pp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0F17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E9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0F17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CA-HPI + M1/M2/M3/M4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0F17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0.59395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0F17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−0.550 pp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4681728" y="1235964"/>
            <a:ext cx="40050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代表性类别变化（IoU 相对 B0）</a:t>
            </a:r>
            <a:endParaRPr lang="en-US" sz="1050" dirty="0"/>
          </a:p>
        </p:txBody>
      </p:sp>
      <p:graphicFrame>
        <p:nvGraphicFramePr>
          <p:cNvPr id="2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681728" y="1519428"/>
          <a:ext cx="4005072" cy="2563368"/>
        </p:xfrm>
        <a:graphic>
          <a:graphicData uri="http://schemas.openxmlformats.org/drawingml/2006/table">
            <a:tbl>
              <a:tblPr/>
              <a:tblGrid>
                <a:gridCol w="1001268"/>
                <a:gridCol w="1001268"/>
                <a:gridCol w="1001268"/>
                <a:gridCol w="1001268"/>
              </a:tblGrid>
              <a:tr h="2560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类别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EA5E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E7 M1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EA5E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E9 M1234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EA5E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读法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EA5E9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0F17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Grapevine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0F17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+0.048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0F17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+0.023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0F17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物候收益被多源稀释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0F17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Orchard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0F17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+0.007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0F17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+0.040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0F17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环境 / 地理可能补充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8FAFC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0F17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Sorghum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0F17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+0.031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0F17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−0.093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0F17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来源组合高度敏感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0F17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Leguminous fodder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0F17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−0.007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0F17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−0.041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0F17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困难类别仍未改善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9" name="Shape 5"/>
          <p:cNvSpPr/>
          <p:nvPr/>
        </p:nvSpPr>
        <p:spPr>
          <a:xfrm>
            <a:off x="457200" y="4375404"/>
            <a:ext cx="8229600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566928" y="4457700"/>
            <a:ext cx="80101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总体 mIoU 的变化来自类别正负变化的抵消，不能只说“加来源有效”或“加来源无效”。</a:t>
            </a:r>
            <a:endParaRPr lang="en-US" sz="1200" dirty="0"/>
          </a:p>
        </p:txBody>
      </p:sp>
      <p:sp>
        <p:nvSpPr>
          <p:cNvPr id="11" name="Shape 7"/>
          <p:cNvSpPr/>
          <p:nvPr/>
        </p:nvSpPr>
        <p:spPr>
          <a:xfrm>
            <a:off x="457200" y="4814316"/>
            <a:ext cx="8229600" cy="18288"/>
          </a:xfrm>
          <a:prstGeom prst="rect">
            <a:avLst/>
          </a:prstGeom>
          <a:solidFill>
            <a:srgbClr val="E2E8F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457200" y="4869180"/>
            <a:ext cx="75803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Sources: [E7] [E8] [E9] [Run2026]</a:t>
            </a:r>
            <a:endParaRPr lang="en-US" sz="800" dirty="0"/>
          </a:p>
        </p:txBody>
      </p:sp>
      <p:sp>
        <p:nvSpPr>
          <p:cNvPr id="13" name="Text 9"/>
          <p:cNvSpPr txBox="1"/>
          <p:nvPr/>
        </p:nvSpPr>
        <p:spPr>
          <a:xfrm>
            <a:off x="8183880" y="4869180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4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14/20</a:t>
            </a:r>
            <a:endParaRPr lang="en-US" sz="84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979932"/>
            <a:ext cx="777240" cy="45720"/>
          </a:xfrm>
          <a:prstGeom prst="rect">
            <a:avLst/>
          </a:prstGeom>
          <a:solidFill>
            <a:srgbClr val="0EA5E9"/>
          </a:solidFill>
          <a:ln w="12700">
            <a:solidFill>
              <a:srgbClr val="0EA5E9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91440"/>
            <a:ext cx="8229600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19 类 IoU 对照（1/3）：背景与主要季节作物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32460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B0 = 无先验；E7 = CA-HPI + M1；E9 = CA-HPI + M1–M4；E10 = SA-SFiLM + M1–M4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950976" y="1272540"/>
            <a:ext cx="7242048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50976" y="1382268"/>
          <a:ext cx="7242048" cy="3108960"/>
        </p:xfrm>
        <a:graphic>
          <a:graphicData uri="http://schemas.openxmlformats.org/drawingml/2006/table">
            <a:tbl>
              <a:tblPr/>
              <a:tblGrid>
                <a:gridCol w="2197587"/>
                <a:gridCol w="849068"/>
                <a:gridCol w="948958"/>
                <a:gridCol w="1148739"/>
                <a:gridCol w="1148739"/>
                <a:gridCol w="948958"/>
              </a:tblGrid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80" b="1" dirty="0">
                          <a:solidFill>
                            <a:srgbClr val="0F17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类别</a:t>
                      </a:r>
                      <a:endParaRPr lang="en-US" sz="9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80" b="1" dirty="0">
                          <a:solidFill>
                            <a:srgbClr val="0F17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B0</a:t>
                      </a:r>
                      <a:endParaRPr lang="en-US" sz="9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80" b="1" dirty="0">
                          <a:solidFill>
                            <a:srgbClr val="0F17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E7 M1</a:t>
                      </a:r>
                      <a:endParaRPr lang="en-US" sz="9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80" b="1" dirty="0">
                          <a:solidFill>
                            <a:srgbClr val="0F17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E9 M1234</a:t>
                      </a:r>
                      <a:endParaRPr lang="en-US" sz="9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80" b="1" dirty="0">
                          <a:solidFill>
                            <a:srgbClr val="0F17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E10 M1234</a:t>
                      </a:r>
                      <a:endParaRPr lang="en-US" sz="9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80" b="1" dirty="0">
                          <a:solidFill>
                            <a:srgbClr val="0F17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E10−B0</a:t>
                      </a:r>
                      <a:endParaRPr lang="en-US" sz="9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2E8F0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90" dirty="0">
                          <a:solidFill>
                            <a:srgbClr val="0F17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Background</a:t>
                      </a:r>
                      <a:endParaRPr lang="en-US" sz="89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90" dirty="0">
                          <a:solidFill>
                            <a:srgbClr val="0F17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0.731</a:t>
                      </a:r>
                      <a:endParaRPr lang="en-US" sz="89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90" dirty="0">
                          <a:solidFill>
                            <a:srgbClr val="0F17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0.739</a:t>
                      </a:r>
                      <a:endParaRPr lang="en-US" sz="89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90" dirty="0">
                          <a:solidFill>
                            <a:srgbClr val="0F17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0.736</a:t>
                      </a:r>
                      <a:endParaRPr lang="en-US" sz="89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90" dirty="0">
                          <a:solidFill>
                            <a:srgbClr val="0F17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0.730</a:t>
                      </a:r>
                      <a:endParaRPr lang="en-US" sz="89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90" dirty="0">
                          <a:solidFill>
                            <a:srgbClr val="0F17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−0.001</a:t>
                      </a:r>
                      <a:endParaRPr lang="en-US" sz="89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90" dirty="0">
                          <a:solidFill>
                            <a:srgbClr val="0F17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Meadow</a:t>
                      </a:r>
                      <a:endParaRPr lang="en-US" sz="89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90" dirty="0">
                          <a:solidFill>
                            <a:srgbClr val="0F17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0.616</a:t>
                      </a:r>
                      <a:endParaRPr lang="en-US" sz="89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90" dirty="0">
                          <a:solidFill>
                            <a:srgbClr val="0F17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0.630</a:t>
                      </a:r>
                      <a:endParaRPr lang="en-US" sz="89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90" dirty="0">
                          <a:solidFill>
                            <a:srgbClr val="0F17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0.629</a:t>
                      </a:r>
                      <a:endParaRPr lang="en-US" sz="89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90" dirty="0">
                          <a:solidFill>
                            <a:srgbClr val="0F17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0.634</a:t>
                      </a:r>
                      <a:endParaRPr lang="en-US" sz="89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90" dirty="0">
                          <a:solidFill>
                            <a:srgbClr val="0F17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+0.017</a:t>
                      </a:r>
                      <a:endParaRPr lang="en-US" sz="89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90" dirty="0">
                          <a:solidFill>
                            <a:srgbClr val="0F17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Soft winter wheat</a:t>
                      </a:r>
                      <a:endParaRPr lang="en-US" sz="89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90" dirty="0">
                          <a:solidFill>
                            <a:srgbClr val="0F17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0.828</a:t>
                      </a:r>
                      <a:endParaRPr lang="en-US" sz="89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90" dirty="0">
                          <a:solidFill>
                            <a:srgbClr val="0F17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0.845</a:t>
                      </a:r>
                      <a:endParaRPr lang="en-US" sz="89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90" dirty="0">
                          <a:solidFill>
                            <a:srgbClr val="0F17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0.842</a:t>
                      </a:r>
                      <a:endParaRPr lang="en-US" sz="89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90" dirty="0">
                          <a:solidFill>
                            <a:srgbClr val="0F17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0.844</a:t>
                      </a:r>
                      <a:endParaRPr lang="en-US" sz="89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90" dirty="0">
                          <a:solidFill>
                            <a:srgbClr val="0F17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+0.016</a:t>
                      </a:r>
                      <a:endParaRPr lang="en-US" sz="89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90" dirty="0">
                          <a:solidFill>
                            <a:srgbClr val="0F17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Corn</a:t>
                      </a:r>
                      <a:endParaRPr lang="en-US" sz="89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90" dirty="0">
                          <a:solidFill>
                            <a:srgbClr val="0F17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0.854</a:t>
                      </a:r>
                      <a:endParaRPr lang="en-US" sz="89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90" dirty="0">
                          <a:solidFill>
                            <a:srgbClr val="0F17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0.854</a:t>
                      </a:r>
                      <a:endParaRPr lang="en-US" sz="89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90" dirty="0">
                          <a:solidFill>
                            <a:srgbClr val="0F17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0.836</a:t>
                      </a:r>
                      <a:endParaRPr lang="en-US" sz="89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90" dirty="0">
                          <a:solidFill>
                            <a:srgbClr val="0F17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0.852</a:t>
                      </a:r>
                      <a:endParaRPr lang="en-US" sz="89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90" dirty="0">
                          <a:solidFill>
                            <a:srgbClr val="0F17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−0.002</a:t>
                      </a:r>
                      <a:endParaRPr lang="en-US" sz="89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90" dirty="0">
                          <a:solidFill>
                            <a:srgbClr val="0F17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Winter barley</a:t>
                      </a:r>
                      <a:endParaRPr lang="en-US" sz="89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90" dirty="0">
                          <a:solidFill>
                            <a:srgbClr val="0F17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0.733</a:t>
                      </a:r>
                      <a:endParaRPr lang="en-US" sz="89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90" dirty="0">
                          <a:solidFill>
                            <a:srgbClr val="0F17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0.752</a:t>
                      </a:r>
                      <a:endParaRPr lang="en-US" sz="89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90" dirty="0">
                          <a:solidFill>
                            <a:srgbClr val="0F17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0.739</a:t>
                      </a:r>
                      <a:endParaRPr lang="en-US" sz="89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90" dirty="0">
                          <a:solidFill>
                            <a:srgbClr val="0F17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0.757</a:t>
                      </a:r>
                      <a:endParaRPr lang="en-US" sz="89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90" dirty="0">
                          <a:solidFill>
                            <a:srgbClr val="0F17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+0.025</a:t>
                      </a:r>
                      <a:endParaRPr lang="en-US" sz="89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90" dirty="0">
                          <a:solidFill>
                            <a:srgbClr val="0F17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Winter rapeseed</a:t>
                      </a:r>
                      <a:endParaRPr lang="en-US" sz="89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90" dirty="0">
                          <a:solidFill>
                            <a:srgbClr val="0F17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0.884</a:t>
                      </a:r>
                      <a:endParaRPr lang="en-US" sz="89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90" dirty="0">
                          <a:solidFill>
                            <a:srgbClr val="0F17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0.882</a:t>
                      </a:r>
                      <a:endParaRPr lang="en-US" sz="89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90" dirty="0">
                          <a:solidFill>
                            <a:srgbClr val="0F17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0.878</a:t>
                      </a:r>
                      <a:endParaRPr lang="en-US" sz="89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90" dirty="0">
                          <a:solidFill>
                            <a:srgbClr val="0F17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0.871</a:t>
                      </a:r>
                      <a:endParaRPr lang="en-US" sz="89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90" dirty="0">
                          <a:solidFill>
                            <a:srgbClr val="0F17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−0.012</a:t>
                      </a:r>
                      <a:endParaRPr lang="en-US" sz="89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90" dirty="0">
                          <a:solidFill>
                            <a:srgbClr val="0F17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Spring barley</a:t>
                      </a:r>
                      <a:endParaRPr lang="en-US" sz="89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90" dirty="0">
                          <a:solidFill>
                            <a:srgbClr val="0F17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0.567</a:t>
                      </a:r>
                      <a:endParaRPr lang="en-US" sz="89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90" dirty="0">
                          <a:solidFill>
                            <a:srgbClr val="0F17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0.533</a:t>
                      </a:r>
                      <a:endParaRPr lang="en-US" sz="89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90" dirty="0">
                          <a:solidFill>
                            <a:srgbClr val="0F17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0.551</a:t>
                      </a:r>
                      <a:endParaRPr lang="en-US" sz="89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90" dirty="0">
                          <a:solidFill>
                            <a:srgbClr val="0F17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0.562</a:t>
                      </a:r>
                      <a:endParaRPr lang="en-US" sz="89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90" dirty="0">
                          <a:solidFill>
                            <a:srgbClr val="0F17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−0.006</a:t>
                      </a:r>
                      <a:endParaRPr lang="en-US" sz="89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457200" y="4814316"/>
            <a:ext cx="8229600" cy="18288"/>
          </a:xfrm>
          <a:prstGeom prst="rect">
            <a:avLst/>
          </a:prstGeom>
          <a:solidFill>
            <a:srgbClr val="E2E8F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457200" y="4869180"/>
            <a:ext cx="75803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Sources: [B0] [E7] [E9] [E10]</a:t>
            </a:r>
            <a:endParaRPr lang="en-US" sz="800" dirty="0"/>
          </a:p>
        </p:txBody>
      </p:sp>
      <p:sp>
        <p:nvSpPr>
          <p:cNvPr id="9" name="Text 6"/>
          <p:cNvSpPr txBox="1"/>
          <p:nvPr/>
        </p:nvSpPr>
        <p:spPr>
          <a:xfrm>
            <a:off x="8183880" y="4869180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4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15/20</a:t>
            </a:r>
            <a:endParaRPr lang="en-US" sz="840" dirty="0"/>
          </a:p>
        </p:txBody>
      </p:sp>
      <p:sp>
        <p:nvSpPr>
          <p:cNvPr id="10" name="Shape 7"/>
          <p:cNvSpPr/>
          <p:nvPr/>
        </p:nvSpPr>
        <p:spPr>
          <a:xfrm>
            <a:off x="457200" y="4338828"/>
            <a:ext cx="8229600" cy="402336"/>
          </a:xfrm>
          <a:prstGeom prst="rect">
            <a:avLst/>
          </a:prstGeom>
          <a:solidFill>
            <a:srgbClr val="FFFFFF"/>
          </a:solidFill>
          <a:ln w="6985">
            <a:solidFill>
              <a:srgbClr val="E2E8F0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457200" y="4338828"/>
            <a:ext cx="50292" cy="402336"/>
          </a:xfrm>
          <a:prstGeom prst="rect">
            <a:avLst/>
          </a:prstGeom>
          <a:solidFill>
            <a:srgbClr val="0EA5E9"/>
          </a:solidFill>
          <a:ln w="12700">
            <a:solidFill>
              <a:srgbClr val="0EA5E9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585216" y="4393692"/>
            <a:ext cx="79735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20" b="1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SA-SFiLM 对 Meadow、Soft winter wheat、Winter barley 有正向变化，但季节作物并非全部同步提升。</a:t>
            </a:r>
            <a:endParaRPr lang="en-US" sz="92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979932"/>
            <a:ext cx="777240" cy="45720"/>
          </a:xfrm>
          <a:prstGeom prst="rect">
            <a:avLst/>
          </a:prstGeom>
          <a:solidFill>
            <a:srgbClr val="0EA5E9"/>
          </a:solidFill>
          <a:ln w="12700">
            <a:solidFill>
              <a:srgbClr val="0EA5E9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91440"/>
            <a:ext cx="8229600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19 类 IoU 对照（2/3）：葡萄、甜菜与冬季作物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32460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逐类差异用于解释先验边界，不作为单类独立结论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950976" y="1272540"/>
            <a:ext cx="7242048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50976" y="1382268"/>
          <a:ext cx="7242048" cy="2779776"/>
        </p:xfrm>
        <a:graphic>
          <a:graphicData uri="http://schemas.openxmlformats.org/drawingml/2006/table">
            <a:tbl>
              <a:tblPr/>
              <a:tblGrid>
                <a:gridCol w="2197587"/>
                <a:gridCol w="849068"/>
                <a:gridCol w="948958"/>
                <a:gridCol w="1148739"/>
                <a:gridCol w="1148739"/>
                <a:gridCol w="948958"/>
              </a:tblGrid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80" b="1" dirty="0">
                          <a:solidFill>
                            <a:srgbClr val="0F17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类别</a:t>
                      </a:r>
                      <a:endParaRPr lang="en-US" sz="9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80" b="1" dirty="0">
                          <a:solidFill>
                            <a:srgbClr val="0F17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B0</a:t>
                      </a:r>
                      <a:endParaRPr lang="en-US" sz="9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80" b="1" dirty="0">
                          <a:solidFill>
                            <a:srgbClr val="0F17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E7 M1</a:t>
                      </a:r>
                      <a:endParaRPr lang="en-US" sz="9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80" b="1" dirty="0">
                          <a:solidFill>
                            <a:srgbClr val="0F17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E9 M1234</a:t>
                      </a:r>
                      <a:endParaRPr lang="en-US" sz="9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80" b="1" dirty="0">
                          <a:solidFill>
                            <a:srgbClr val="0F17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E10 M1234</a:t>
                      </a:r>
                      <a:endParaRPr lang="en-US" sz="9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80" b="1" dirty="0">
                          <a:solidFill>
                            <a:srgbClr val="0F17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E10−B0</a:t>
                      </a:r>
                      <a:endParaRPr lang="en-US" sz="9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2E8F0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90" dirty="0">
                          <a:solidFill>
                            <a:srgbClr val="0F17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Sunflower</a:t>
                      </a:r>
                      <a:endParaRPr lang="en-US" sz="89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90" dirty="0">
                          <a:solidFill>
                            <a:srgbClr val="0F17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0.689</a:t>
                      </a:r>
                      <a:endParaRPr lang="en-US" sz="89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90" dirty="0">
                          <a:solidFill>
                            <a:srgbClr val="0F17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0.687</a:t>
                      </a:r>
                      <a:endParaRPr lang="en-US" sz="89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90" dirty="0">
                          <a:solidFill>
                            <a:srgbClr val="0F17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0.669</a:t>
                      </a:r>
                      <a:endParaRPr lang="en-US" sz="89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90" dirty="0">
                          <a:solidFill>
                            <a:srgbClr val="0F17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0.698</a:t>
                      </a:r>
                      <a:endParaRPr lang="en-US" sz="89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90" dirty="0">
                          <a:solidFill>
                            <a:srgbClr val="0F17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+0.009</a:t>
                      </a:r>
                      <a:endParaRPr lang="en-US" sz="89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90" dirty="0">
                          <a:solidFill>
                            <a:srgbClr val="0F17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Grapevine</a:t>
                      </a:r>
                      <a:endParaRPr lang="en-US" sz="89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90" dirty="0">
                          <a:solidFill>
                            <a:srgbClr val="0F17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0.500</a:t>
                      </a:r>
                      <a:endParaRPr lang="en-US" sz="89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90" dirty="0">
                          <a:solidFill>
                            <a:srgbClr val="0F17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0.548</a:t>
                      </a:r>
                      <a:endParaRPr lang="en-US" sz="89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90" dirty="0">
                          <a:solidFill>
                            <a:srgbClr val="0F17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0.522</a:t>
                      </a:r>
                      <a:endParaRPr lang="en-US" sz="89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90" dirty="0">
                          <a:solidFill>
                            <a:srgbClr val="0F17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0.540</a:t>
                      </a:r>
                      <a:endParaRPr lang="en-US" sz="89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90" dirty="0">
                          <a:solidFill>
                            <a:srgbClr val="0F17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+0.040</a:t>
                      </a:r>
                      <a:endParaRPr lang="en-US" sz="89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90" dirty="0">
                          <a:solidFill>
                            <a:srgbClr val="0F17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Beet</a:t>
                      </a:r>
                      <a:endParaRPr lang="en-US" sz="89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90" dirty="0">
                          <a:solidFill>
                            <a:srgbClr val="0F17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0.858</a:t>
                      </a:r>
                      <a:endParaRPr lang="en-US" sz="89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90" dirty="0">
                          <a:solidFill>
                            <a:srgbClr val="0F17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0.865</a:t>
                      </a:r>
                      <a:endParaRPr lang="en-US" sz="89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90" dirty="0">
                          <a:solidFill>
                            <a:srgbClr val="0F17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0.866</a:t>
                      </a:r>
                      <a:endParaRPr lang="en-US" sz="89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90" dirty="0">
                          <a:solidFill>
                            <a:srgbClr val="0F17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0.869</a:t>
                      </a:r>
                      <a:endParaRPr lang="en-US" sz="89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90" dirty="0">
                          <a:solidFill>
                            <a:srgbClr val="0F17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+0.011</a:t>
                      </a:r>
                      <a:endParaRPr lang="en-US" sz="89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90" dirty="0">
                          <a:solidFill>
                            <a:srgbClr val="0F17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Winter triticale</a:t>
                      </a:r>
                      <a:endParaRPr lang="en-US" sz="89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90" dirty="0">
                          <a:solidFill>
                            <a:srgbClr val="0F17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0.368</a:t>
                      </a:r>
                      <a:endParaRPr lang="en-US" sz="89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90" dirty="0">
                          <a:solidFill>
                            <a:srgbClr val="0F17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0.323</a:t>
                      </a:r>
                      <a:endParaRPr lang="en-US" sz="89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90" dirty="0">
                          <a:solidFill>
                            <a:srgbClr val="0F17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0.383</a:t>
                      </a:r>
                      <a:endParaRPr lang="en-US" sz="89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90" dirty="0">
                          <a:solidFill>
                            <a:srgbClr val="0F17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0.335</a:t>
                      </a:r>
                      <a:endParaRPr lang="en-US" sz="89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90" dirty="0">
                          <a:solidFill>
                            <a:srgbClr val="0F17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−0.033</a:t>
                      </a:r>
                      <a:endParaRPr lang="en-US" sz="89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90" dirty="0">
                          <a:solidFill>
                            <a:srgbClr val="0F17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Winter durum wheat</a:t>
                      </a:r>
                      <a:endParaRPr lang="en-US" sz="89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90" dirty="0">
                          <a:solidFill>
                            <a:srgbClr val="0F17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0.592</a:t>
                      </a:r>
                      <a:endParaRPr lang="en-US" sz="89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90" dirty="0">
                          <a:solidFill>
                            <a:srgbClr val="0F17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0.603</a:t>
                      </a:r>
                      <a:endParaRPr lang="en-US" sz="89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90" dirty="0">
                          <a:solidFill>
                            <a:srgbClr val="0F17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0.607</a:t>
                      </a:r>
                      <a:endParaRPr lang="en-US" sz="89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90" dirty="0">
                          <a:solidFill>
                            <a:srgbClr val="0F17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0.619</a:t>
                      </a:r>
                      <a:endParaRPr lang="en-US" sz="89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90" dirty="0">
                          <a:solidFill>
                            <a:srgbClr val="0F17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+0.027</a:t>
                      </a:r>
                      <a:endParaRPr lang="en-US" sz="89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90" dirty="0">
                          <a:solidFill>
                            <a:srgbClr val="0F17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Fruits, vegetables, flowers</a:t>
                      </a:r>
                      <a:endParaRPr lang="en-US" sz="89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90" dirty="0">
                          <a:solidFill>
                            <a:srgbClr val="0F17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0.363</a:t>
                      </a:r>
                      <a:endParaRPr lang="en-US" sz="89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90" dirty="0">
                          <a:solidFill>
                            <a:srgbClr val="0F17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0.378</a:t>
                      </a:r>
                      <a:endParaRPr lang="en-US" sz="89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90" dirty="0">
                          <a:solidFill>
                            <a:srgbClr val="0F17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0.369</a:t>
                      </a:r>
                      <a:endParaRPr lang="en-US" sz="89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90" dirty="0">
                          <a:solidFill>
                            <a:srgbClr val="0F17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0.350</a:t>
                      </a:r>
                      <a:endParaRPr lang="en-US" sz="89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90" dirty="0">
                          <a:solidFill>
                            <a:srgbClr val="0F17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−0.013</a:t>
                      </a:r>
                      <a:endParaRPr lang="en-US" sz="89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457200" y="4814316"/>
            <a:ext cx="8229600" cy="18288"/>
          </a:xfrm>
          <a:prstGeom prst="rect">
            <a:avLst/>
          </a:prstGeom>
          <a:solidFill>
            <a:srgbClr val="E2E8F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457200" y="4869180"/>
            <a:ext cx="75803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Sources: [B0] [E7] [E9] [E10]</a:t>
            </a:r>
            <a:endParaRPr lang="en-US" sz="800" dirty="0"/>
          </a:p>
        </p:txBody>
      </p:sp>
      <p:sp>
        <p:nvSpPr>
          <p:cNvPr id="9" name="Text 6"/>
          <p:cNvSpPr txBox="1"/>
          <p:nvPr/>
        </p:nvSpPr>
        <p:spPr>
          <a:xfrm>
            <a:off x="8183880" y="4869180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4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16/20</a:t>
            </a:r>
            <a:endParaRPr lang="en-US" sz="840" dirty="0"/>
          </a:p>
        </p:txBody>
      </p:sp>
      <p:sp>
        <p:nvSpPr>
          <p:cNvPr id="10" name="Shape 7"/>
          <p:cNvSpPr/>
          <p:nvPr/>
        </p:nvSpPr>
        <p:spPr>
          <a:xfrm>
            <a:off x="457200" y="4338828"/>
            <a:ext cx="8229600" cy="402336"/>
          </a:xfrm>
          <a:prstGeom prst="rect">
            <a:avLst/>
          </a:prstGeom>
          <a:solidFill>
            <a:srgbClr val="FFFFFF"/>
          </a:solidFill>
          <a:ln w="6985">
            <a:solidFill>
              <a:srgbClr val="E2E8F0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457200" y="4338828"/>
            <a:ext cx="50292" cy="402336"/>
          </a:xfrm>
          <a:prstGeom prst="rect">
            <a:avLst/>
          </a:prstGeom>
          <a:solidFill>
            <a:srgbClr val="0EA5E9"/>
          </a:solidFill>
          <a:ln w="12700">
            <a:solidFill>
              <a:srgbClr val="0EA5E9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585216" y="4393692"/>
            <a:ext cx="79735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20" b="1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Grapevine 在 M1-only 下提升明显；多源组合后收益减弱，说明来源选择很重要。</a:t>
            </a:r>
            <a:endParaRPr lang="en-US" sz="92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979932"/>
            <a:ext cx="777240" cy="45720"/>
          </a:xfrm>
          <a:prstGeom prst="rect">
            <a:avLst/>
          </a:prstGeom>
          <a:solidFill>
            <a:srgbClr val="0EA5E9"/>
          </a:solidFill>
          <a:ln w="12700">
            <a:solidFill>
              <a:srgbClr val="0EA5E9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91440"/>
            <a:ext cx="8229600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19 类 IoU 对照（3/3）：困难与混合类别决定收益边界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32460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先验可能改善部分类别，也可能放大多源冲突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950976" y="1272540"/>
            <a:ext cx="7242048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50976" y="1382268"/>
          <a:ext cx="7242048" cy="2779776"/>
        </p:xfrm>
        <a:graphic>
          <a:graphicData uri="http://schemas.openxmlformats.org/drawingml/2006/table">
            <a:tbl>
              <a:tblPr/>
              <a:tblGrid>
                <a:gridCol w="2197587"/>
                <a:gridCol w="849068"/>
                <a:gridCol w="948958"/>
                <a:gridCol w="1148739"/>
                <a:gridCol w="1148739"/>
                <a:gridCol w="948958"/>
              </a:tblGrid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80" b="1" dirty="0">
                          <a:solidFill>
                            <a:srgbClr val="0F17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类别</a:t>
                      </a:r>
                      <a:endParaRPr lang="en-US" sz="9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80" b="1" dirty="0">
                          <a:solidFill>
                            <a:srgbClr val="0F17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B0</a:t>
                      </a:r>
                      <a:endParaRPr lang="en-US" sz="9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80" b="1" dirty="0">
                          <a:solidFill>
                            <a:srgbClr val="0F17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E7 M1</a:t>
                      </a:r>
                      <a:endParaRPr lang="en-US" sz="9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80" b="1" dirty="0">
                          <a:solidFill>
                            <a:srgbClr val="0F17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E9 M1234</a:t>
                      </a:r>
                      <a:endParaRPr lang="en-US" sz="9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80" b="1" dirty="0">
                          <a:solidFill>
                            <a:srgbClr val="0F17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E10 M1234</a:t>
                      </a:r>
                      <a:endParaRPr lang="en-US" sz="9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80" b="1" dirty="0">
                          <a:solidFill>
                            <a:srgbClr val="0F17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E10−B0</a:t>
                      </a:r>
                      <a:endParaRPr lang="en-US" sz="9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2E8F0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90" dirty="0">
                          <a:solidFill>
                            <a:srgbClr val="0F17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Potatoes</a:t>
                      </a:r>
                      <a:endParaRPr lang="en-US" sz="89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90" dirty="0">
                          <a:solidFill>
                            <a:srgbClr val="0F17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0.511</a:t>
                      </a:r>
                      <a:endParaRPr lang="en-US" sz="89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90" dirty="0">
                          <a:solidFill>
                            <a:srgbClr val="0F17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0.526</a:t>
                      </a:r>
                      <a:endParaRPr lang="en-US" sz="89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90" dirty="0">
                          <a:solidFill>
                            <a:srgbClr val="0F17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0.500</a:t>
                      </a:r>
                      <a:endParaRPr lang="en-US" sz="89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90" dirty="0">
                          <a:solidFill>
                            <a:srgbClr val="0F17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0.518</a:t>
                      </a:r>
                      <a:endParaRPr lang="en-US" sz="89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90" dirty="0">
                          <a:solidFill>
                            <a:srgbClr val="0F17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+0.007</a:t>
                      </a:r>
                      <a:endParaRPr lang="en-US" sz="89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90" dirty="0">
                          <a:solidFill>
                            <a:srgbClr val="0F17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Leguminous fodder</a:t>
                      </a:r>
                      <a:endParaRPr lang="en-US" sz="89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90" dirty="0">
                          <a:solidFill>
                            <a:srgbClr val="0F17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0.365</a:t>
                      </a:r>
                      <a:endParaRPr lang="en-US" sz="89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90" dirty="0">
                          <a:solidFill>
                            <a:srgbClr val="0F17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0.358</a:t>
                      </a:r>
                      <a:endParaRPr lang="en-US" sz="89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90" dirty="0">
                          <a:solidFill>
                            <a:srgbClr val="0F17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0.324</a:t>
                      </a:r>
                      <a:endParaRPr lang="en-US" sz="89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90" dirty="0">
                          <a:solidFill>
                            <a:srgbClr val="0F17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0.347</a:t>
                      </a:r>
                      <a:endParaRPr lang="en-US" sz="89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90" dirty="0">
                          <a:solidFill>
                            <a:srgbClr val="0F17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−0.018</a:t>
                      </a:r>
                      <a:endParaRPr lang="en-US" sz="89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90" dirty="0">
                          <a:solidFill>
                            <a:srgbClr val="0F17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Soybeans</a:t>
                      </a:r>
                      <a:endParaRPr lang="en-US" sz="89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90" dirty="0">
                          <a:solidFill>
                            <a:srgbClr val="0F17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0.812</a:t>
                      </a:r>
                      <a:endParaRPr lang="en-US" sz="89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90" dirty="0">
                          <a:solidFill>
                            <a:srgbClr val="0F17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0.816</a:t>
                      </a:r>
                      <a:endParaRPr lang="en-US" sz="89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90" dirty="0">
                          <a:solidFill>
                            <a:srgbClr val="0F17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0.772</a:t>
                      </a:r>
                      <a:endParaRPr lang="en-US" sz="89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90" dirty="0">
                          <a:solidFill>
                            <a:srgbClr val="0F17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0.798</a:t>
                      </a:r>
                      <a:endParaRPr lang="en-US" sz="89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90" dirty="0">
                          <a:solidFill>
                            <a:srgbClr val="0F17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−0.014</a:t>
                      </a:r>
                      <a:endParaRPr lang="en-US" sz="89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90" dirty="0">
                          <a:solidFill>
                            <a:srgbClr val="0F17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Orchard</a:t>
                      </a:r>
                      <a:endParaRPr lang="en-US" sz="89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90" dirty="0">
                          <a:solidFill>
                            <a:srgbClr val="0F17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0.408</a:t>
                      </a:r>
                      <a:endParaRPr lang="en-US" sz="89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90" dirty="0">
                          <a:solidFill>
                            <a:srgbClr val="0F17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0.415</a:t>
                      </a:r>
                      <a:endParaRPr lang="en-US" sz="89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90" dirty="0">
                          <a:solidFill>
                            <a:srgbClr val="0F17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0.449</a:t>
                      </a:r>
                      <a:endParaRPr lang="en-US" sz="89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90" dirty="0">
                          <a:solidFill>
                            <a:srgbClr val="0F17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0.442</a:t>
                      </a:r>
                      <a:endParaRPr lang="en-US" sz="89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90" dirty="0">
                          <a:solidFill>
                            <a:srgbClr val="0F17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+0.034</a:t>
                      </a:r>
                      <a:endParaRPr lang="en-US" sz="89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90" dirty="0">
                          <a:solidFill>
                            <a:srgbClr val="0F17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Mixed cereal</a:t>
                      </a:r>
                      <a:endParaRPr lang="en-US" sz="89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90" dirty="0">
                          <a:solidFill>
                            <a:srgbClr val="0F17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0.398</a:t>
                      </a:r>
                      <a:endParaRPr lang="en-US" sz="89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90" dirty="0">
                          <a:solidFill>
                            <a:srgbClr val="0F17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0.389</a:t>
                      </a:r>
                      <a:endParaRPr lang="en-US" sz="89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90" dirty="0">
                          <a:solidFill>
                            <a:srgbClr val="0F17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0.394</a:t>
                      </a:r>
                      <a:endParaRPr lang="en-US" sz="89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90" dirty="0">
                          <a:solidFill>
                            <a:srgbClr val="0F17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0.366</a:t>
                      </a:r>
                      <a:endParaRPr lang="en-US" sz="89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90" dirty="0">
                          <a:solidFill>
                            <a:srgbClr val="0F17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−0.032</a:t>
                      </a:r>
                      <a:endParaRPr lang="en-US" sz="89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90" dirty="0">
                          <a:solidFill>
                            <a:srgbClr val="0F17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Sorghum</a:t>
                      </a:r>
                      <a:endParaRPr lang="en-US" sz="89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90" dirty="0">
                          <a:solidFill>
                            <a:srgbClr val="0F17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0.312</a:t>
                      </a:r>
                      <a:endParaRPr lang="en-US" sz="89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90" dirty="0">
                          <a:solidFill>
                            <a:srgbClr val="0F17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0.342</a:t>
                      </a:r>
                      <a:endParaRPr lang="en-US" sz="89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90" dirty="0">
                          <a:solidFill>
                            <a:srgbClr val="0F17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0.219</a:t>
                      </a:r>
                      <a:endParaRPr lang="en-US" sz="89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90" dirty="0">
                          <a:solidFill>
                            <a:srgbClr val="0F17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0.281</a:t>
                      </a:r>
                      <a:endParaRPr lang="en-US" sz="89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90" dirty="0">
                          <a:solidFill>
                            <a:srgbClr val="0F17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−0.031</a:t>
                      </a:r>
                      <a:endParaRPr lang="en-US" sz="89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457200" y="4814316"/>
            <a:ext cx="8229600" cy="18288"/>
          </a:xfrm>
          <a:prstGeom prst="rect">
            <a:avLst/>
          </a:prstGeom>
          <a:solidFill>
            <a:srgbClr val="E2E8F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457200" y="4869180"/>
            <a:ext cx="75803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Sources: [B0] [E7] [E9] [E10]</a:t>
            </a:r>
            <a:endParaRPr lang="en-US" sz="800" dirty="0"/>
          </a:p>
        </p:txBody>
      </p:sp>
      <p:sp>
        <p:nvSpPr>
          <p:cNvPr id="9" name="Text 6"/>
          <p:cNvSpPr txBox="1"/>
          <p:nvPr/>
        </p:nvSpPr>
        <p:spPr>
          <a:xfrm>
            <a:off x="8183880" y="4869180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4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17/20</a:t>
            </a:r>
            <a:endParaRPr lang="en-US" sz="840" dirty="0"/>
          </a:p>
        </p:txBody>
      </p:sp>
      <p:sp>
        <p:nvSpPr>
          <p:cNvPr id="10" name="Shape 7"/>
          <p:cNvSpPr/>
          <p:nvPr/>
        </p:nvSpPr>
        <p:spPr>
          <a:xfrm>
            <a:off x="457200" y="4338828"/>
            <a:ext cx="8229600" cy="402336"/>
          </a:xfrm>
          <a:prstGeom prst="rect">
            <a:avLst/>
          </a:prstGeom>
          <a:solidFill>
            <a:srgbClr val="FFFFFF"/>
          </a:solidFill>
          <a:ln w="6985">
            <a:solidFill>
              <a:srgbClr val="E2E8F0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457200" y="4338828"/>
            <a:ext cx="50292" cy="402336"/>
          </a:xfrm>
          <a:prstGeom prst="rect">
            <a:avLst/>
          </a:prstGeom>
          <a:solidFill>
            <a:srgbClr val="0EA5E9"/>
          </a:solidFill>
          <a:ln w="12700">
            <a:solidFill>
              <a:srgbClr val="0EA5E9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585216" y="4393692"/>
            <a:ext cx="79735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20" b="1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逐类结果支持的不是“先验一定有效”，而是“先验作用具有类别选择性，并受融合架构约束”。</a:t>
            </a:r>
            <a:endParaRPr lang="en-US" sz="92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979932"/>
            <a:ext cx="777240" cy="45720"/>
          </a:xfrm>
          <a:prstGeom prst="rect">
            <a:avLst/>
          </a:prstGeom>
          <a:solidFill>
            <a:srgbClr val="0EA5E9"/>
          </a:solidFill>
          <a:ln w="12700">
            <a:solidFill>
              <a:srgbClr val="0EA5E9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91440"/>
            <a:ext cx="8229600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V3 SA-SFiLM：先选来源，再决定通道和空间位置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32460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针对四源 CA-HPI 退化，拆开来源内选择、来源间选择与特征调制</a:t>
            </a:r>
            <a:endParaRPr lang="en-US" sz="1300" dirty="0"/>
          </a:p>
        </p:txBody>
      </p:sp>
      <p:pic>
        <p:nvPicPr>
          <p:cNvPr id="5" name="Image 0" descr="D:\ycy\GISproject\PreSSL-CropSeg\final_presentation\deck_workspace\assets\diagrams\sa_sfilm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208532"/>
            <a:ext cx="5916168" cy="288340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6629400" y="1208532"/>
            <a:ext cx="36576" cy="887984"/>
          </a:xfrm>
          <a:prstGeom prst="rect">
            <a:avLst/>
          </a:prstGeom>
          <a:solidFill>
            <a:srgbClr val="0EA5E9"/>
          </a:solidFill>
          <a:ln w="12700">
            <a:solidFill>
              <a:srgbClr val="0EA5E9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6757416" y="1208532"/>
            <a:ext cx="192938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EA5E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来源内 attention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6757416" y="1491996"/>
            <a:ext cx="1929384" cy="5770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M1–M4 各自先压缩，避免 token 数量多的来源天然压过其他来源。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6629400" y="2206244"/>
            <a:ext cx="36576" cy="706020"/>
          </a:xfrm>
          <a:prstGeom prst="rect">
            <a:avLst/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757416" y="2206244"/>
            <a:ext cx="192938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341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Source Gate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6757416" y="2489708"/>
            <a:ext cx="1929384" cy="3951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根据当前视觉内容，比较四个来源的相对权重。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6629400" y="3021992"/>
            <a:ext cx="36576" cy="1069948"/>
          </a:xfrm>
          <a:prstGeom prst="rect">
            <a:avLst/>
          </a:prstGeom>
          <a:solidFill>
            <a:srgbClr val="0EA5E9"/>
          </a:solidFill>
          <a:ln w="12700">
            <a:solidFill>
              <a:srgbClr val="0EA5E9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6757416" y="3021992"/>
            <a:ext cx="192938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EA5E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FiLM + Spatial Gate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6757416" y="3305456"/>
            <a:ext cx="1929384" cy="7590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gamma/beta 控制通道；空间 gate 控制位置和月份；strength 控制残差幅度。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457200" y="4814316"/>
            <a:ext cx="8229600" cy="18288"/>
          </a:xfrm>
          <a:prstGeom prst="rect">
            <a:avLst/>
          </a:prstGeom>
          <a:solidFill>
            <a:srgbClr val="E2E8F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57200" y="4869180"/>
            <a:ext cx="75803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Sources: [SA-SFiLM] [E9] [E10]</a:t>
            </a:r>
            <a:endParaRPr lang="en-US" sz="800" dirty="0"/>
          </a:p>
        </p:txBody>
      </p:sp>
      <p:sp>
        <p:nvSpPr>
          <p:cNvPr id="17" name="Text 14"/>
          <p:cNvSpPr txBox="1"/>
          <p:nvPr/>
        </p:nvSpPr>
        <p:spPr>
          <a:xfrm>
            <a:off x="8183880" y="4869180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4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18/20</a:t>
            </a:r>
            <a:endParaRPr lang="en-US" sz="840" dirty="0"/>
          </a:p>
        </p:txBody>
      </p:sp>
      <p:sp>
        <p:nvSpPr>
          <p:cNvPr id="18" name="Shape 15"/>
          <p:cNvSpPr/>
          <p:nvPr/>
        </p:nvSpPr>
        <p:spPr>
          <a:xfrm>
            <a:off x="457200" y="4338828"/>
            <a:ext cx="8229600" cy="402336"/>
          </a:xfrm>
          <a:prstGeom prst="rect">
            <a:avLst/>
          </a:prstGeom>
          <a:solidFill>
            <a:srgbClr val="FFFFFF"/>
          </a:solidFill>
          <a:ln w="6985">
            <a:solidFill>
              <a:srgbClr val="E2E8F0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457200" y="4338828"/>
            <a:ext cx="50292" cy="402336"/>
          </a:xfrm>
          <a:prstGeom prst="rect">
            <a:avLst/>
          </a:prstGeom>
          <a:solidFill>
            <a:srgbClr val="0EA5E9"/>
          </a:solidFill>
          <a:ln w="12700">
            <a:solidFill>
              <a:srgbClr val="0EA5E9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585216" y="4393692"/>
            <a:ext cx="79735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20" b="1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E9 与 E10 使用同一 3D-Aware、同一 M1–M4、同一 decoder 前插入点，只改变融合架构。</a:t>
            </a:r>
            <a:endParaRPr lang="en-US" sz="92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979932"/>
            <a:ext cx="777240" cy="45720"/>
          </a:xfrm>
          <a:prstGeom prst="rect">
            <a:avLst/>
          </a:prstGeom>
          <a:solidFill>
            <a:srgbClr val="0EA5E9"/>
          </a:solidFill>
          <a:ln w="12700">
            <a:solidFill>
              <a:srgbClr val="0EA5E9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91440"/>
            <a:ext cx="8229600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E10：架构重设计缓解四源退化，但尚未形成大幅总体增益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32460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最严格的对照是 E9 vs E10：先验来源和视觉基线不变，只改融合方式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235964"/>
            <a:ext cx="40050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总体结果</a:t>
            </a:r>
            <a:endParaRPr lang="en-US" sz="105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519428"/>
          <a:ext cx="4005072" cy="2563368"/>
        </p:xfrm>
        <a:graphic>
          <a:graphicData uri="http://schemas.openxmlformats.org/drawingml/2006/table">
            <a:tbl>
              <a:tblPr/>
              <a:tblGrid>
                <a:gridCol w="667512"/>
                <a:gridCol w="667512"/>
                <a:gridCol w="667512"/>
                <a:gridCol w="667512"/>
                <a:gridCol w="667512"/>
                <a:gridCol w="667512"/>
              </a:tblGrid>
              <a:tr h="2560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实验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EA5E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Test loss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EA5E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Test mIoU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EA5E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相对 B0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EA5E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相对 E9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EA5E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Test F1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EA5E9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0F17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B0：无先验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0F17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1.03279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0F17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0.59945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0F17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—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0F17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—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0F17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0.73133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0F17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E9：CA-HPI M1–M4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0F17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1.06063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0F17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0.59395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0F17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−0.550 pp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0F17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—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0F17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0.72509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8FAFC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0F17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E10：SA-SFiLM M1–M4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0F17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1.22321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0F17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0.60073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0F17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+0.128 pp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0F17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+0.678 pp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0F17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0.73051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4681728" y="1235964"/>
            <a:ext cx="40050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结果边界</a:t>
            </a:r>
            <a:endParaRPr lang="en-US" sz="1050" dirty="0"/>
          </a:p>
        </p:txBody>
      </p:sp>
      <p:graphicFrame>
        <p:nvGraphicFramePr>
          <p:cNvPr id="3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681728" y="1519428"/>
          <a:ext cx="4005072" cy="2563368"/>
        </p:xfrm>
        <a:graphic>
          <a:graphicData uri="http://schemas.openxmlformats.org/drawingml/2006/table">
            <a:tbl>
              <a:tblPr/>
              <a:tblGrid>
                <a:gridCol w="1335024"/>
                <a:gridCol w="1335024"/>
                <a:gridCol w="1335024"/>
              </a:tblGrid>
              <a:tr h="2560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观察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EA5E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证据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EA5E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结论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EA5E9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0F17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相对 E9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0F17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E10 mIoU +0.678 pp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0F17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来源分层与调制缓解多源退化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0F17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相对 B0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0F17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E10 mIoU +0.128 pp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0F17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四源先验总体增益很小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8FAFC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0F17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相对 E7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0F17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E10 低 0.370 pp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0F17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M1-only 仍是当前更强的先验配置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hape 5"/>
          <p:cNvSpPr/>
          <p:nvPr/>
        </p:nvSpPr>
        <p:spPr>
          <a:xfrm>
            <a:off x="457200" y="4375404"/>
            <a:ext cx="8229600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566928" y="4457700"/>
            <a:ext cx="80101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更准确的结论是：融合架构会改变多源先验的边际收益，先验仍具有类别选择性；同时，表示—选择—调制—诊断的完整模式已经建立。</a:t>
            </a:r>
            <a:endParaRPr lang="en-US" sz="1200" dirty="0"/>
          </a:p>
        </p:txBody>
      </p:sp>
      <p:sp>
        <p:nvSpPr>
          <p:cNvPr id="11" name="Shape 7"/>
          <p:cNvSpPr/>
          <p:nvPr/>
        </p:nvSpPr>
        <p:spPr>
          <a:xfrm>
            <a:off x="457200" y="4814316"/>
            <a:ext cx="8229600" cy="18288"/>
          </a:xfrm>
          <a:prstGeom prst="rect">
            <a:avLst/>
          </a:prstGeom>
          <a:solidFill>
            <a:srgbClr val="E2E8F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457200" y="4869180"/>
            <a:ext cx="75803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Sources: [B0] [E7] [E9] [E10]</a:t>
            </a:r>
            <a:endParaRPr lang="en-US" sz="800" dirty="0"/>
          </a:p>
        </p:txBody>
      </p:sp>
      <p:sp>
        <p:nvSpPr>
          <p:cNvPr id="13" name="Text 9"/>
          <p:cNvSpPr txBox="1"/>
          <p:nvPr/>
        </p:nvSpPr>
        <p:spPr>
          <a:xfrm>
            <a:off x="8183880" y="4869180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4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19/20</a:t>
            </a:r>
            <a:endParaRPr lang="en-US" sz="84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979932"/>
            <a:ext cx="777240" cy="45720"/>
          </a:xfrm>
          <a:prstGeom prst="rect">
            <a:avLst/>
          </a:prstGeom>
          <a:solidFill>
            <a:srgbClr val="0EA5E9"/>
          </a:solidFill>
          <a:ln w="12700">
            <a:solidFill>
              <a:srgbClr val="0EA5E9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91440"/>
            <a:ext cx="8229600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性能成果与先验模式共同构成项目结果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32460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有结果时说明方法有效；即使总体提升有限，模式本身仍沉淀了可复用的研究资产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235964"/>
            <a:ext cx="40050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两条已完成成果主线</a:t>
            </a:r>
            <a:endParaRPr lang="en-US" sz="105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519428"/>
          <a:ext cx="4005072" cy="2563368"/>
        </p:xfrm>
        <a:graphic>
          <a:graphicData uri="http://schemas.openxmlformats.org/drawingml/2006/table">
            <a:tbl>
              <a:tblPr/>
              <a:tblGrid>
                <a:gridCol w="924247"/>
                <a:gridCol w="1608875"/>
                <a:gridCol w="1471950"/>
              </a:tblGrid>
              <a:tr h="2560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成果主线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EA5E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已完成内容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EA5E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当前认识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EA5E9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0F17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表征读取与时间融合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0F17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协议校正、空间 decoder、Temporal Readout、3D-Aware DPT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0F17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frozen Galileo 的价值取决于空间恢复和时间保留；3D-Aware 达到 0.59945 mIoU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0F17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异构先验注入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0F17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V1 反事实、PriorBatch、CA-HPI、SA-SFiLM、E7–E10 与逐类诊断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0F17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先验不是无条件增益；来源、类别和融合架构共同决定边界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4681728" y="1235964"/>
            <a:ext cx="40050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后续小尝试预留位（仅在有可靠结果时加入主汇报）</a:t>
            </a:r>
            <a:endParaRPr lang="en-US" sz="1050" dirty="0"/>
          </a:p>
        </p:txBody>
      </p:sp>
      <p:graphicFrame>
        <p:nvGraphicFramePr>
          <p:cNvPr id="4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681728" y="1519428"/>
          <a:ext cx="4005072" cy="2563368"/>
        </p:xfrm>
        <a:graphic>
          <a:graphicData uri="http://schemas.openxmlformats.org/drawingml/2006/table">
            <a:tbl>
              <a:tblPr/>
              <a:tblGrid>
                <a:gridCol w="1335024"/>
                <a:gridCol w="1335024"/>
                <a:gridCol w="1335024"/>
              </a:tblGrid>
              <a:tr h="2560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编号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EA5E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可能的尝试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EA5E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当前状态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EA5E9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0F17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F1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0F17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完善 M2 气候先验的空间分辨率与 tile 对齐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0F17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待决定 / 暂无结果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0F17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F2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0F17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增加分类层级 head 或 coarse-to-fine 路径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0F17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待决定 / 暂无结果</a:t>
                      </a:r>
                      <a:endParaRPr lang="en-US" sz="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9" name="Shape 5"/>
          <p:cNvSpPr/>
          <p:nvPr/>
        </p:nvSpPr>
        <p:spPr>
          <a:xfrm>
            <a:off x="457200" y="4375404"/>
            <a:ext cx="8229600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566928" y="4457700"/>
            <a:ext cx="80101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我们建立了从 frozen Galileo 时空表征到像素级分割的读取链路，也完成了从固定广播到来源感知调制的先验探索。模式可复用，适用边界也已明确。</a:t>
            </a:r>
            <a:endParaRPr lang="en-US" sz="1200" dirty="0"/>
          </a:p>
        </p:txBody>
      </p:sp>
      <p:sp>
        <p:nvSpPr>
          <p:cNvPr id="11" name="Shape 7"/>
          <p:cNvSpPr/>
          <p:nvPr/>
        </p:nvSpPr>
        <p:spPr>
          <a:xfrm>
            <a:off x="457200" y="4814316"/>
            <a:ext cx="8229600" cy="18288"/>
          </a:xfrm>
          <a:prstGeom prst="rect">
            <a:avLst/>
          </a:prstGeom>
          <a:solidFill>
            <a:srgbClr val="E2E8F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457200" y="4869180"/>
            <a:ext cx="75803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Sources: [FINAL_PRESENTATION_FULL_CONTENT] [DECODER_EXPERIMENTS]</a:t>
            </a:r>
            <a:endParaRPr lang="en-US" sz="800" dirty="0"/>
          </a:p>
        </p:txBody>
      </p:sp>
      <p:sp>
        <p:nvSpPr>
          <p:cNvPr id="13" name="Text 9"/>
          <p:cNvSpPr txBox="1"/>
          <p:nvPr/>
        </p:nvSpPr>
        <p:spPr>
          <a:xfrm>
            <a:off x="8183880" y="4869180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4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20/20</a:t>
            </a:r>
            <a:endParaRPr lang="en-US" sz="84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Microsoft YaHe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icrosoft YaHe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Microsoft YaHei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从遥感基础表征读取到异构先验注入</dc:title>
  <dc:subject>基于 frozen Galileo 的 PASTIS 作物时序分割研究 · 项目结项汇报</dc:subject>
  <dc:creator>PptxGenJS</dc:creator>
  <cp:lastModifiedBy>PptxGenJS</cp:lastModifiedBy>
  <cp:revision>1</cp:revision>
  <dcterms:created xsi:type="dcterms:W3CDTF">2026-07-21T17:45:05Z</dcterms:created>
  <dcterms:modified xsi:type="dcterms:W3CDTF">2026-07-21T17:45:05Z</dcterms:modified>
</cp:coreProperties>
</file>